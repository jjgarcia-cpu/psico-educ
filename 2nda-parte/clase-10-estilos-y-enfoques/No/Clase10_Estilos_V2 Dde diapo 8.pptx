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4A48FB-6AD5-453F-BAB2-BC475218493D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9DD857-5469-42A1-AB04-00B4EB17EDB3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5CB3B6-B594-4091-AB71-6F14D8E571C1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DE8972-712A-477E-92E2-50FD2D1204C8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033576-1710-4602-B05C-EC8F9A084D86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BA274D-F631-461E-93FC-171A54BC4463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135949-22A7-41C0-9033-1B729FFE844A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129B55-ACF5-4408-A88D-C049499AF7B3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D9A3A2-7DD8-41C0-B32C-374F9559B324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66412-D88C-4865-A7A0-8D6BC122CD84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63DD4F-534E-4935-9A0C-520A4DEF07AB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9630D5-3AF5-4AB8-9083-DF73ED72C52A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E6020D-EA08-425D-B1E2-243655F6139F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1371600" y="-1371600"/>
            <a:ext cx="3657240" cy="3657240"/>
          </a:xfrm>
          <a:prstGeom prst="ellipse">
            <a:avLst/>
          </a:prstGeom>
          <a:solidFill>
            <a:srgbClr val="3A6FA0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57200" y="1417320"/>
            <a:ext cx="1645560" cy="5436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600200"/>
            <a:ext cx="7314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Estilos y modelos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aprendizaje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0175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0" u="none" strike="noStrike">
                <a:solidFill>
                  <a:srgbClr val="E8EFF6"/>
                </a:solidFill>
                <a:effectLst/>
                <a:uFillTx/>
                <a:latin typeface="Calibri"/>
                <a:ea typeface="Calibri"/>
              </a:rPr>
              <a:t>Kolb, VAK y Honey-Alonso: distintas formas de aprender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384048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Psicología Educacional · Profesorado de Educación Inicial · 2° Año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4160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E8A838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APERTURA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La pregunta que abre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457200" y="1783080"/>
            <a:ext cx="8229240" cy="1188360"/>
          </a:xfrm>
          <a:prstGeom prst="roundRect">
            <a:avLst>
              <a:gd name="adj" fmla="val 7692"/>
            </a:avLst>
          </a:prstGeom>
          <a:solidFill>
            <a:srgbClr val="E8EFF6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640080" y="1874520"/>
            <a:ext cx="7863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s-AR" sz="1600" b="0" i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Si todos los sujetos construyen conocimiento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s-AR" sz="1600" b="0" i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activamente, ¿por qué no todos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s-AR" sz="1600" b="0" i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aprenden del mismo modo?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457200" y="3200400"/>
            <a:ext cx="2605680" cy="639720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594360" y="3246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¿Qué es un estilo de aprendizaje?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3291840" y="3200400"/>
            <a:ext cx="2605680" cy="639720"/>
          </a:xfrm>
          <a:prstGeom prst="roundRect">
            <a:avLst>
              <a:gd name="adj" fmla="val 14286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3429000" y="3246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¿Cuál creés que es el tuyo?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126480" y="3200400"/>
            <a:ext cx="2605680" cy="639720"/>
          </a:xfrm>
          <a:prstGeom prst="roundRect">
            <a:avLst>
              <a:gd name="adj" fmla="val 14286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6263640" y="324612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¿Viste alguna diferencia en tu observación?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457200" y="41605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Las tres preguntas del Do Now — respondé en tu cuaderno, sin conversar.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2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MARCO CONCEPTUAL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¿Qué es un estilo de aprendizaje?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457200" y="1691640"/>
            <a:ext cx="8229240" cy="914040"/>
          </a:xfrm>
          <a:prstGeom prst="roundRect">
            <a:avLst>
              <a:gd name="adj" fmla="val 10000"/>
            </a:avLst>
          </a:prstGeom>
          <a:solidFill>
            <a:srgbClr val="E8EFF6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640080" y="173736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500" b="0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Conjunto de preferencias, tendencias y disposiciones que caracterizan la forma en que una persona percibe, procesa, almacena y recupera información.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457200" y="2788920"/>
            <a:ext cx="3977280" cy="1096920"/>
          </a:xfrm>
          <a:prstGeom prst="roundRect">
            <a:avLst>
              <a:gd name="adj" fmla="val 8333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" y="283464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D4891C"/>
                </a:solidFill>
                <a:effectLst/>
                <a:uFillTx/>
                <a:latin typeface="Calibri"/>
                <a:ea typeface="Calibri"/>
              </a:rPr>
              <a:t>No es sinónimo de capacidad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640080" y="320040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Tener estilo visual no es ser más inteligente que tener estilo kinestésico.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Son modos de procesar, no niveles de rendimiento.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4709160" y="2788920"/>
            <a:ext cx="3977280" cy="1096920"/>
          </a:xfrm>
          <a:prstGeom prst="roundRect">
            <a:avLst>
              <a:gd name="adj" fmla="val 8333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4892040" y="283464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No es un rasgo fijo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4892040" y="3200400"/>
            <a:ext cx="361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Los estilos pueden cambiar con la experiencia, la educación y el contexto.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Son tendencias, no destinos.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457200" y="4297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Origen: Witkin (1954) · Kolb (1984) · Dunn y Dunn (1978) · Conexión: Gardner, Bruner, Vygotski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3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MODELO KOLB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El ciclo experiencial de Kolb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640080" y="1691640"/>
            <a:ext cx="3657240" cy="1188360"/>
          </a:xfrm>
          <a:prstGeom prst="roundRect">
            <a:avLst>
              <a:gd name="adj" fmla="val 7692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777240" y="17830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1. Experiencia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concreta (EC)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77240" y="224028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 involucra directamente.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sintiendo.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846320" y="1691640"/>
            <a:ext cx="3657240" cy="1188360"/>
          </a:xfrm>
          <a:prstGeom prst="roundRect">
            <a:avLst>
              <a:gd name="adj" fmla="val 7692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983480" y="17830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2. Observación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reflexiva (OR)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4983480" y="224028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Reflexiona desde distintas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perspectivas. Aprende mirando.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846320" y="3063240"/>
            <a:ext cx="3657240" cy="1188360"/>
          </a:xfrm>
          <a:prstGeom prst="roundRect">
            <a:avLst>
              <a:gd name="adj" fmla="val 7692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4983480" y="31546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3. Conceptualización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abstracta (CA)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983480" y="361188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Integra en teorías y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modelos. Aprende pensando.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640080" y="3063240"/>
            <a:ext cx="3657240" cy="1188360"/>
          </a:xfrm>
          <a:prstGeom prst="roundRect">
            <a:avLst>
              <a:gd name="adj" fmla="val 7692"/>
            </a:avLst>
          </a:prstGeom>
          <a:solidFill>
            <a:srgbClr val="D9D2E9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777240" y="315468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4. Experimentación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activa (EA)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777240" y="3611880"/>
            <a:ext cx="3382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Usa teorías para decidir.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haciendo.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389120" y="2194560"/>
            <a:ext cx="456840" cy="5436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4663440" y="20574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E8A838"/>
                </a:solidFill>
                <a:effectLst/>
                <a:uFillTx/>
                <a:latin typeface="Calibri"/>
              </a:rPr>
              <a:t>→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7"/>
          <p:cNvSpPr/>
          <p:nvPr/>
        </p:nvSpPr>
        <p:spPr>
          <a:xfrm>
            <a:off x="6583680" y="2926080"/>
            <a:ext cx="54360" cy="27396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6446520" y="310896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E8A838"/>
                </a:solidFill>
                <a:effectLst/>
                <a:uFillTx/>
                <a:latin typeface="Calibri"/>
              </a:rPr>
              <a:t>↓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4160520" y="3566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E8A838"/>
                </a:solidFill>
                <a:effectLst/>
                <a:uFillTx/>
                <a:latin typeface="Calibri"/>
              </a:rPr>
              <a:t>←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0"/>
          <p:cNvSpPr/>
          <p:nvPr/>
        </p:nvSpPr>
        <p:spPr>
          <a:xfrm>
            <a:off x="2331720" y="28803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E8A838"/>
                </a:solidFill>
                <a:effectLst/>
                <a:uFillTx/>
                <a:latin typeface="Calibri"/>
              </a:rPr>
              <a:t>↑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1"/>
          <p:cNvSpPr/>
          <p:nvPr/>
        </p:nvSpPr>
        <p:spPr>
          <a:xfrm>
            <a:off x="640080" y="4389120"/>
            <a:ext cx="7863480" cy="456840"/>
          </a:xfrm>
          <a:prstGeom prst="roundRect">
            <a:avLst>
              <a:gd name="adj" fmla="val 20000"/>
            </a:avLst>
          </a:prstGeom>
          <a:solidFill>
            <a:srgbClr val="E8EFF6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822960" y="4407480"/>
            <a:ext cx="7497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En el jardín: visita a granja (EC) → dibujo y registro (OR) → conversación sobre animales (CA) → libro para la biblioteca (EA).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3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4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4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MODELO KOLB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Los cuatro estilos de Kolb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457200" y="169164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594360" y="1801440"/>
            <a:ext cx="2011320" cy="292320"/>
          </a:xfrm>
          <a:prstGeom prst="roundRect">
            <a:avLst>
              <a:gd name="adj" fmla="val 37500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594360" y="180144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Divergente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2743200" y="18014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EC + OR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594360" y="21488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Imaginativo, orientado a las personas, generador de ideas.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bien en lluvia de ideas y discusión abierta.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709160" y="169164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D9D2E9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9"/>
          <p:cNvSpPr/>
          <p:nvPr/>
        </p:nvSpPr>
        <p:spPr>
          <a:xfrm>
            <a:off x="4846320" y="1801440"/>
            <a:ext cx="2011320" cy="292320"/>
          </a:xfrm>
          <a:prstGeom prst="roundRect">
            <a:avLst>
              <a:gd name="adj" fmla="val 37500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4846320" y="180144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Asimilador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6995160" y="18014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OR + CA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846320" y="21488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Razona inductivamente, crea modelos teóricos.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con lecturas, conferencias y tiempo para reflexionar.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457200" y="310896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594360" y="3218760"/>
            <a:ext cx="2011320" cy="292320"/>
          </a:xfrm>
          <a:prstGeom prst="roundRect">
            <a:avLst>
              <a:gd name="adj" fmla="val 37500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594360" y="32187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Convergente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2743200" y="32187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CA + EA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594360" y="356616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Resuelve problemas, toma decisiones, aplica ideas.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con tareas prácticas y experimentos.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4709160" y="310896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9"/>
          <p:cNvSpPr/>
          <p:nvPr/>
        </p:nvSpPr>
        <p:spPr>
          <a:xfrm>
            <a:off x="4846320" y="3218760"/>
            <a:ext cx="2011320" cy="292320"/>
          </a:xfrm>
          <a:prstGeom prst="roundRect">
            <a:avLst>
              <a:gd name="adj" fmla="val 37500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4846320" y="321876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Acomodador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6995160" y="321876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EA + EC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4846320" y="356616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Intuitivo, orientado a la acción, aprende de los errores.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con proyectos y trabajo de campo.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5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MODELO VAK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Visual · Auditivo · Kinestésico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457200" y="164592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457200" y="1645920"/>
            <a:ext cx="2514240" cy="685440"/>
          </a:xfrm>
          <a:prstGeom prst="roundRect">
            <a:avLst>
              <a:gd name="adj" fmla="val 13333"/>
            </a:avLst>
          </a:prstGeom>
          <a:solidFill>
            <a:srgbClr val="3A6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457200" y="1664280"/>
            <a:ext cx="2514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👁  VISUAL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594360" y="24231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Aprende mejor con...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594360" y="262440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Imágenes, diagramas, mapas, colores, gráficos, videos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94360" y="320040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En el jardín...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94360" y="34016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Dibuja para entender. Recuerda dónde estaba algo. Necesita ver para creer.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0"/>
          <p:cNvSpPr/>
          <p:nvPr/>
        </p:nvSpPr>
        <p:spPr>
          <a:xfrm>
            <a:off x="594360" y="39776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3A6FA0"/>
                </a:solidFill>
                <a:effectLst/>
                <a:uFillTx/>
                <a:latin typeface="Calibri"/>
                <a:ea typeface="Calibri"/>
              </a:rPr>
              <a:t>Propuestas afines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594360" y="417888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Organizadores visuales, código de colores, láminas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2"/>
          <p:cNvSpPr/>
          <p:nvPr/>
        </p:nvSpPr>
        <p:spPr>
          <a:xfrm>
            <a:off x="3246120" y="164592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3246120" y="1645920"/>
            <a:ext cx="2514240" cy="6854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3246120" y="1664280"/>
            <a:ext cx="2514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👂  AUDITIVO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3383280" y="24231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Aprende mejor con...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3383280" y="262440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Explicaciones orales, debates, canciones, ritmos, podcasts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3383280" y="320040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En el jardín...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3383280" y="34016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Repite en voz alta. Memoriza canciones. Habla mientras trabaja.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3383280" y="39776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Propuestas afines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3383280" y="417888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Canciones, cuentos orales, consignas claras, música de fondo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6035040" y="1645920"/>
            <a:ext cx="2514240" cy="3108600"/>
          </a:xfrm>
          <a:prstGeom prst="roundRect">
            <a:avLst>
              <a:gd name="adj" fmla="val 3636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6035040" y="1645920"/>
            <a:ext cx="2514240" cy="685440"/>
          </a:xfrm>
          <a:prstGeom prst="roundRect">
            <a:avLst>
              <a:gd name="adj" fmla="val 13333"/>
            </a:avLst>
          </a:prstGeom>
          <a:solidFill>
            <a:srgbClr val="D489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6035040" y="1664280"/>
            <a:ext cx="2514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🤸  KINESTÉSICO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6172200" y="242316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D4891C"/>
                </a:solidFill>
                <a:effectLst/>
                <a:uFillTx/>
                <a:latin typeface="Calibri"/>
                <a:ea typeface="Calibri"/>
              </a:rPr>
              <a:t>Aprende mejor con...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6172200" y="262440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Movimiento, manipulación, experimentos, juego dramático, construcción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6172200" y="320040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D4891C"/>
                </a:solidFill>
                <a:effectLst/>
                <a:uFillTx/>
                <a:latin typeface="Calibri"/>
                <a:ea typeface="Calibri"/>
              </a:rPr>
              <a:t>En el jardín...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6172200" y="340164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Necesita tocar. Aprende jugando. Se inquieta si está mucho tiempo quieto.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6172200" y="3977640"/>
            <a:ext cx="223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1" u="none" strike="noStrike">
                <a:solidFill>
                  <a:srgbClr val="D4891C"/>
                </a:solidFill>
                <a:effectLst/>
                <a:uFillTx/>
                <a:latin typeface="Calibri"/>
                <a:ea typeface="Calibri"/>
              </a:rPr>
              <a:t>Propuestas afines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6172200" y="4178880"/>
            <a:ext cx="2239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Rincones de exploración, juego libre, actividades manuales, salidas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6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MODELO CHAEA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Honey y Alonso: 4 perfiles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457200" y="1691640"/>
            <a:ext cx="3977280" cy="1325520"/>
          </a:xfrm>
          <a:prstGeom prst="roundRect">
            <a:avLst>
              <a:gd name="adj" fmla="val 6897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594360" y="1783080"/>
            <a:ext cx="1462680" cy="273960"/>
          </a:xfrm>
          <a:prstGeom prst="roundRect">
            <a:avLst>
              <a:gd name="adj" fmla="val 40000"/>
            </a:avLst>
          </a:prstGeom>
          <a:solidFill>
            <a:srgbClr val="D489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94360" y="17830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Activo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594360" y="21031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Actúa primero, piensa después.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Le gustan los desafíos, el trabajo en grupo, los juegos de rol.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594360" y="25876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Propuestas con movimiento, situaciones nuevas.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Le cuesta la teoría sin acción.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8"/>
          <p:cNvSpPr/>
          <p:nvPr/>
        </p:nvSpPr>
        <p:spPr>
          <a:xfrm>
            <a:off x="4709160" y="1691640"/>
            <a:ext cx="3977280" cy="1325520"/>
          </a:xfrm>
          <a:prstGeom prst="roundRect">
            <a:avLst>
              <a:gd name="adj" fmla="val 6897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4846320" y="1783080"/>
            <a:ext cx="1462680" cy="273960"/>
          </a:xfrm>
          <a:prstGeom prst="roundRect">
            <a:avLst>
              <a:gd name="adj" fmla="val 40000"/>
            </a:avLst>
          </a:prstGeom>
          <a:solidFill>
            <a:srgbClr val="3A6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4846320" y="17830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Reflexivo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4846320" y="21031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Observa y analiza antes de actuar.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Necesita tiempo para pensar.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4846320" y="25876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Momentos de silencio, registro, observación.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Le cuesta la improvisación.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457200" y="3108960"/>
            <a:ext cx="3977280" cy="1325520"/>
          </a:xfrm>
          <a:prstGeom prst="roundRect">
            <a:avLst>
              <a:gd name="adj" fmla="val 6897"/>
            </a:avLst>
          </a:prstGeom>
          <a:solidFill>
            <a:srgbClr val="D9D2E9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594360" y="3200400"/>
            <a:ext cx="1462680" cy="273960"/>
          </a:xfrm>
          <a:prstGeom prst="roundRect">
            <a:avLst>
              <a:gd name="adj" fmla="val 40000"/>
            </a:avLst>
          </a:prstGeom>
          <a:solidFill>
            <a:srgbClr val="5E35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594360" y="3200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Teórico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6"/>
          <p:cNvSpPr/>
          <p:nvPr/>
        </p:nvSpPr>
        <p:spPr>
          <a:xfrm>
            <a:off x="594360" y="35204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Busca la lógica y los principios.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con lecturas y marcos conceptuales.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7"/>
          <p:cNvSpPr/>
          <p:nvPr/>
        </p:nvSpPr>
        <p:spPr>
          <a:xfrm>
            <a:off x="594360" y="4005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Necesita el 'por qué' antes del 'hómo'.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Le cuesta la ambigüedad.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4709160" y="3108960"/>
            <a:ext cx="3977280" cy="1325520"/>
          </a:xfrm>
          <a:prstGeom prst="roundRect">
            <a:avLst>
              <a:gd name="adj" fmla="val 6897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4846320" y="3200400"/>
            <a:ext cx="1462680" cy="27396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0"/>
          <p:cNvSpPr/>
          <p:nvPr/>
        </p:nvSpPr>
        <p:spPr>
          <a:xfrm>
            <a:off x="4846320" y="32004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Pragmático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4846320" y="35204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Conecta teoría con práctica.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con aplicaciones concretas.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4846320" y="4005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Pregunta '¿para qué me sirve esto?'.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Necesita ver la aplicación.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3"/>
          <p:cNvSpPr/>
          <p:nvPr/>
        </p:nvSpPr>
        <p:spPr>
          <a:xfrm>
            <a:off x="457200" y="4572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Adaptación hispanohablante de Catalina Alonso (1992). CHAEA completo: 40 ítems.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4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7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3200400" y="1371600"/>
            <a:ext cx="2742840" cy="365400"/>
          </a:xfrm>
          <a:prstGeom prst="roundRect">
            <a:avLst>
              <a:gd name="adj" fmla="val 37500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3200400" y="13716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UNA MIRADA CRÍTICA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457200" y="192024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¿Estamos perdiendo el tiempo</a:t>
            </a:r>
            <a:endParaRPr lang="es-A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 los estilos?</a:t>
            </a:r>
            <a:endParaRPr lang="es-A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914400" y="34747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Pashler et al. (2008) · Meta-análisis sobre la validez de los estilos de aprendizaje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8 / 12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DEBATE CRÍTICO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Cuatro críticas fundamentales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457200" y="169164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594360" y="1828800"/>
            <a:ext cx="411120" cy="411120"/>
          </a:xfrm>
          <a:prstGeom prst="ellipse">
            <a:avLst/>
          </a:prstGeom>
          <a:solidFill>
            <a:srgbClr val="3A6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594360" y="1828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97280" y="182880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Evidencia empírica débil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594360" y="22860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Varios estudios meta-analíticos cuestionan que enseñar 'al estilo' de cada alumno mejore los resultados de aprendizaje.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>
            <a:off x="4709160" y="169164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4846320" y="1828800"/>
            <a:ext cx="411120" cy="411120"/>
          </a:xfrm>
          <a:prstGeom prst="ellipse">
            <a:avLst/>
          </a:prstGeom>
          <a:solidFill>
            <a:srgbClr val="D489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4846320" y="1828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5349240" y="182880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Riesgo de la etiqueta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846320" y="228600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Diagnosticar a un niño como 'kinestésico' puede limitar las expectativas sobre lo que puede aprender.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457200" y="310896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D9D2E9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594360" y="3246120"/>
            <a:ext cx="411120" cy="411120"/>
          </a:xfrm>
          <a:prstGeom prst="ellipse">
            <a:avLst/>
          </a:prstGeom>
          <a:solidFill>
            <a:srgbClr val="5E35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5"/>
          <p:cNvSpPr/>
          <p:nvPr/>
        </p:nvSpPr>
        <p:spPr>
          <a:xfrm>
            <a:off x="594360" y="3246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1097280" y="32461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Dependencia del contenido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7"/>
          <p:cNvSpPr/>
          <p:nvPr/>
        </p:nvSpPr>
        <p:spPr>
          <a:xfrm>
            <a:off x="594360" y="3703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Alguien puede aprender matemática de manera visual y literatura de manera auditiva. No existe un estilo universal.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4709160" y="3108960"/>
            <a:ext cx="3977280" cy="1234080"/>
          </a:xfrm>
          <a:prstGeom prst="roundRect">
            <a:avLst>
              <a:gd name="adj" fmla="val 7407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4846320" y="3246120"/>
            <a:ext cx="411120" cy="41112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0"/>
          <p:cNvSpPr/>
          <p:nvPr/>
        </p:nvSpPr>
        <p:spPr>
          <a:xfrm>
            <a:off x="4846320" y="32461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1"/>
          <p:cNvSpPr/>
          <p:nvPr/>
        </p:nvSpPr>
        <p:spPr>
          <a:xfrm>
            <a:off x="5349240" y="324612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Diversidad cultural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2"/>
          <p:cNvSpPr/>
          <p:nvPr/>
        </p:nvSpPr>
        <p:spPr>
          <a:xfrm>
            <a:off x="4846320" y="37033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1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Un estilo 'kinestésico' puede ser también un estilo asociado a contextos donde el aprendizaje ocurre en la práctica.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3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9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4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SÍNTESIS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¿Para qué sirven los estilos?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457200" y="1691640"/>
            <a:ext cx="3977280" cy="2285640"/>
          </a:xfrm>
          <a:prstGeom prst="roundRect">
            <a:avLst>
              <a:gd name="adj" fmla="val 4000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640080" y="173736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2E7D32"/>
                </a:solidFill>
                <a:effectLst/>
                <a:uFillTx/>
                <a:latin typeface="Calibri"/>
                <a:ea typeface="Calibri"/>
              </a:rPr>
              <a:t>✅  SIRVEN para...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40080" y="214884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Ampliar la mirada sobre los alumnos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640080" y="251460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Diversificar las propuestas de enseñanza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640080" y="288036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Reflexionar sobre el propio modo de aprender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640080" y="324612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Diseñar actividades que ofrezcan múltiples puntos de entrada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4709160" y="1691640"/>
            <a:ext cx="3977280" cy="2285640"/>
          </a:xfrm>
          <a:prstGeom prst="roundRect">
            <a:avLst>
              <a:gd name="adj" fmla="val 4000"/>
            </a:avLst>
          </a:prstGeom>
          <a:solidFill>
            <a:srgbClr val="F4CCC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4892040" y="1737360"/>
            <a:ext cx="361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C62828"/>
                </a:solidFill>
                <a:effectLst/>
                <a:uFillTx/>
                <a:latin typeface="Calibri"/>
                <a:ea typeface="Calibri"/>
              </a:rPr>
              <a:t>❌  NO sirven para...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4892040" y="214884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Etiquetar: "este niño es kinestésico, punto"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4892040" y="251460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Confundir estilo con capacidad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4892040" y="288036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Usarlos para limitar en lugar de ampliar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4892040" y="3246120"/>
            <a:ext cx="3611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• Diagnosticar o clasificar de forma rígida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457200" y="4160520"/>
            <a:ext cx="8229240" cy="456840"/>
          </a:xfrm>
          <a:prstGeom prst="roundRect">
            <a:avLst>
              <a:gd name="adj" fmla="val 20000"/>
            </a:avLst>
          </a:prstGeom>
          <a:solidFill>
            <a:srgbClr val="1B3A5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640080" y="41605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Los estilos son una herramienta de LECTURA pedagógica, no de clasificación.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10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457200" y="320040"/>
            <a:ext cx="1462680" cy="319680"/>
          </a:xfrm>
          <a:prstGeom prst="roundRect">
            <a:avLst>
              <a:gd name="adj" fmla="val 42857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457200" y="3200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ESTACIÓN VAK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457200" y="7772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30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Tarjetas de situaciones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457200" y="1371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4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Clasificá cada situación: ¿Visual, Auditivo o Kinestésico?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365760" y="192024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475560" y="1993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1 — Mateo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475560" y="22676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Cuando la docente le explica solo con palabras, se distrae. Pero cuando dibuja en el pizarrón o le muestra una imagen, presta atención.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7"/>
          <p:cNvSpPr/>
          <p:nvPr/>
        </p:nvSpPr>
        <p:spPr>
          <a:xfrm>
            <a:off x="3154680" y="192024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F4CCCC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3264480" y="1993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2 — Valentina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3264480" y="22676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No se queda quieta. Necesita tocar todo. Cuando el cuento incluye sonidos, aplausos y movimiento, participa entusiasmada.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0"/>
          <p:cNvSpPr/>
          <p:nvPr/>
        </p:nvSpPr>
        <p:spPr>
          <a:xfrm>
            <a:off x="5943600" y="192024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D5E8D4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6053400" y="1993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3 — Santiago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6053400" y="22676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Aprende todas las canciones de memoria. Repite en voz alta las consignas. Memoriza mejor cuando escucha una explicación.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365760" y="338328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D9D2E9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475560" y="34563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4 — Camila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475560" y="37306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Siempre recuerda dónde estaban las cosas. Cuando tiene que aprender algo nuevo, necesita ver un ejemplo gráfico.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3154680" y="338328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FDF0D5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3264480" y="34563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5 — Tomás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3264480" y="37306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Necesita manipular los objetos para entender. Cuando le da dos bloques para que los compare tocándolos, entiende al instante.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5943600" y="3383280"/>
            <a:ext cx="2514240" cy="1279800"/>
          </a:xfrm>
          <a:prstGeom prst="roundRect">
            <a:avLst>
              <a:gd name="adj" fmla="val 7143"/>
            </a:avLst>
          </a:prstGeom>
          <a:solidFill>
            <a:srgbClr val="CFE2F3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6053400" y="34563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1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6 — Lucía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6053400" y="373068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Participa cuando la docente cuenta una historia con diferentes tonos de voz. Pide que le repitan los cuentos una y otra vez.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11 / 12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3200400" y="548640"/>
            <a:ext cx="2742840" cy="365400"/>
          </a:xfrm>
          <a:prstGeom prst="roundRect">
            <a:avLst>
              <a:gd name="adj" fmla="val 37500"/>
            </a:avLst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3200400" y="548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PARA LA PRÓXIMA CLASE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457200" y="11887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¿Alguna vez sentiste que "no querías"</a:t>
            </a:r>
            <a:endParaRPr lang="es-A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s-AR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aprender algo aunque sabías que podías?</a:t>
            </a:r>
            <a:endParaRPr lang="es-A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457200" y="20116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600" b="0" u="none" strike="noStrike">
                <a:solidFill>
                  <a:srgbClr val="E8EFF6"/>
                </a:solidFill>
                <a:effectLst/>
                <a:uFillTx/>
                <a:latin typeface="Calibri"/>
                <a:ea typeface="Calibri"/>
              </a:rPr>
              <a:t>¿Qué influyó en esa falta de motivación?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"/>
          <p:cNvSpPr/>
          <p:nvPr/>
        </p:nvSpPr>
        <p:spPr>
          <a:xfrm>
            <a:off x="457200" y="2651760"/>
            <a:ext cx="8229240" cy="365400"/>
          </a:xfrm>
          <a:prstGeom prst="roundRect">
            <a:avLst>
              <a:gd name="adj" fmla="val 25000"/>
            </a:avLst>
          </a:prstGeom>
          <a:solidFill>
            <a:srgbClr val="3A6FA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640080" y="265176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Reflexión escrita · 1/2 carilla · Entrega: primera parte de la Clase 11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6"/>
          <p:cNvSpPr/>
          <p:nvPr/>
        </p:nvSpPr>
        <p:spPr>
          <a:xfrm>
            <a:off x="457200" y="3246120"/>
            <a:ext cx="2605680" cy="914040"/>
          </a:xfrm>
          <a:prstGeom prst="roundRect">
            <a:avLst>
              <a:gd name="adj" fmla="val 10000"/>
            </a:avLst>
          </a:prstGeom>
          <a:solidFill>
            <a:srgbClr val="12284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548640" y="3310200"/>
            <a:ext cx="319680" cy="3196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548640" y="331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9"/>
          <p:cNvSpPr/>
          <p:nvPr/>
        </p:nvSpPr>
        <p:spPr>
          <a:xfrm>
            <a:off x="914400" y="32918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Una situación concreta: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¿cuándo? ¿en qué contexto?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0"/>
          <p:cNvSpPr/>
          <p:nvPr/>
        </p:nvSpPr>
        <p:spPr>
          <a:xfrm>
            <a:off x="3291840" y="3246120"/>
            <a:ext cx="2605680" cy="914040"/>
          </a:xfrm>
          <a:prstGeom prst="roundRect">
            <a:avLst>
              <a:gd name="adj" fmla="val 10000"/>
            </a:avLst>
          </a:prstGeom>
          <a:solidFill>
            <a:srgbClr val="12284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3383280" y="3310200"/>
            <a:ext cx="319680" cy="3196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3383280" y="331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3"/>
          <p:cNvSpPr/>
          <p:nvPr/>
        </p:nvSpPr>
        <p:spPr>
          <a:xfrm>
            <a:off x="3749040" y="32918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¿Qué sentías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ese momento?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4"/>
          <p:cNvSpPr/>
          <p:nvPr/>
        </p:nvSpPr>
        <p:spPr>
          <a:xfrm>
            <a:off x="6126480" y="3246120"/>
            <a:ext cx="2605680" cy="914040"/>
          </a:xfrm>
          <a:prstGeom prst="roundRect">
            <a:avLst>
              <a:gd name="adj" fmla="val 10000"/>
            </a:avLst>
          </a:prstGeom>
          <a:solidFill>
            <a:srgbClr val="122840"/>
          </a:solidFill>
          <a:ln w="0">
            <a:noFill/>
          </a:ln>
          <a:effectLst>
            <a:outerShdw algn="bl" blurRad="50760" dir="16200000" dist="12600" kx="0" ky="0" rotWithShape="0" sx="100000" sy="100000">
              <a:srgbClr val="CCCCCC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6217920" y="3310200"/>
            <a:ext cx="319680" cy="3196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6217920" y="331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300" b="1" u="none" strike="noStrik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7"/>
          <p:cNvSpPr/>
          <p:nvPr/>
        </p:nvSpPr>
        <p:spPr>
          <a:xfrm>
            <a:off x="6583680" y="3291840"/>
            <a:ext cx="2057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¿Qué habría necesitado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s-AR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para que fuera diferente?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3657600" y="4754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12 / 12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7498080" y="475488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s-AR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Clase 10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2026-08-20T01:38:40Z</dcterms:created>
  <dc:creator>PptxGenJS</dc:creator>
  <dc:description/>
  <dc:language>es-AR</dc:language>
  <cp:lastModifiedBy/>
  <dcterms:modified xsi:type="dcterms:W3CDTF">2026-08-19T22:43:22Z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