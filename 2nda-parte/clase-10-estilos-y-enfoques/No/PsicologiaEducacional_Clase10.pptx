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200400"/>
            <a:ext cx="2560320" cy="1943100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137160"/>
            <a:ext cx="1828800" cy="1828800"/>
          </a:xfrm>
          <a:prstGeom prst="ellipse">
            <a:avLst/>
          </a:prstGeom>
          <a:solidFill>
            <a:srgbClr val="4A6FA5">
              <a:alpha val="15000"/>
            </a:srgbClr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PROFESORADO DE EDUCACIÓN INICIAL · 2° AÑO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Estilos y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modelos de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aprendizaje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27355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Kolb, VAK y Honey-Alonso: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distintas formas de aprender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Kolb (1984) · Dunn y Dunn (1978) · Honey y Alonso (1986)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017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un estilo de aprendizaje?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804672"/>
          </a:xfrm>
          <a:prstGeom prst="rect">
            <a:avLst/>
          </a:prstGeom>
          <a:solidFill>
            <a:srgbClr val="2C2416"/>
          </a:solidFill>
          <a:ln w="1905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1556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Conjunto de preferencias y tendencias que caracterizan la forma en que</a:t>
            </a:r>
            <a:endParaRPr lang="en-US" sz="13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persona percibe, procesa, almacena y recupera información.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8412480" cy="896112"/>
          </a:xfrm>
          <a:prstGeom prst="rect">
            <a:avLst/>
          </a:prstGeom>
          <a:solidFill>
            <a:srgbClr val="E4EBF5"/>
          </a:solidFill>
          <a:ln w="1016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029968"/>
            <a:ext cx="502920" cy="89611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29968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1031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 sinónimo de capacidad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4871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estilo visual no es ser más inteligente que tener estilo kinestésico. Son modos de procesar, no niveles de rendimiento.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8412480" cy="896112"/>
          </a:xfrm>
          <a:prstGeom prst="rect">
            <a:avLst/>
          </a:prstGeom>
          <a:solidFill>
            <a:srgbClr val="E4EBF5"/>
          </a:solidFill>
          <a:ln w="10160">
            <a:solidFill>
              <a:srgbClr val="2A5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17520"/>
            <a:ext cx="502920" cy="896112"/>
          </a:xfrm>
          <a:prstGeom prst="rect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1752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090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 un rasgo fijo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474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estilos pueden cambiar con la experiencia, la educación y el contexto. Son tendencias, no destinos. No etiquetan para siempre.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005072"/>
            <a:ext cx="8412480" cy="896112"/>
          </a:xfrm>
          <a:prstGeom prst="rect">
            <a:avLst/>
          </a:prstGeom>
          <a:solidFill>
            <a:srgbClr val="E4EBF5"/>
          </a:solidFill>
          <a:ln w="10160">
            <a:solidFill>
              <a:srgbClr val="3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4005072"/>
            <a:ext cx="502920" cy="896112"/>
          </a:xfrm>
          <a:prstGeom prst="rect">
            <a:avLst/>
          </a:prstGeom>
          <a:solidFill>
            <a:srgbClr val="3A6B8A"/>
          </a:solidFill>
          <a:ln w="12700">
            <a:solidFill>
              <a:srgbClr val="3A6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05072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407822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conecta con lo que ya vimos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46227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IM de Gardner, los modelos de Bruner (enactivo/icónico/simbólico) y la ZDP de Vygotski ya anticipaban esta diversidad.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017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Kolb: el ciclo de aprendizaje experiencial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aprendizaje es un proceso cíclico de cuatro etapas. Cada persona privilegia algunas por sobre otras.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4206240" cy="1600200"/>
          </a:xfrm>
          <a:prstGeom prst="rect">
            <a:avLst/>
          </a:prstGeom>
          <a:solidFill>
            <a:srgbClr val="E4EBF5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4206240" cy="4114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EC — Experiencia concreta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2075688"/>
            <a:ext cx="3986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Involucrarse directamente en la situación. Aprende sintiendo y estando presente.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600200"/>
            <a:ext cx="4206240" cy="1600200"/>
          </a:xfrm>
          <a:prstGeom prst="rect">
            <a:avLst/>
          </a:prstGeom>
          <a:solidFill>
            <a:srgbClr val="E4EBF5"/>
          </a:solidFill>
          <a:ln w="12700">
            <a:solidFill>
              <a:srgbClr val="3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600200"/>
            <a:ext cx="4206240" cy="411480"/>
          </a:xfrm>
          <a:prstGeom prst="rect">
            <a:avLst/>
          </a:prstGeom>
          <a:solidFill>
            <a:srgbClr val="3A6B8A"/>
          </a:solidFill>
          <a:ln w="12700">
            <a:solidFill>
              <a:srgbClr val="3A6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600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OR — Observación reflexiva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10328" y="2075688"/>
            <a:ext cx="3986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Reflexionar desde diferentes perspectivas. Aprende observando, escuchando y registrando.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4206240" cy="1600200"/>
          </a:xfrm>
          <a:prstGeom prst="rect">
            <a:avLst/>
          </a:prstGeom>
          <a:solidFill>
            <a:srgbClr val="E4EBF5"/>
          </a:solidFill>
          <a:ln w="12700">
            <a:solidFill>
              <a:srgbClr val="2A5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91840"/>
            <a:ext cx="4206240" cy="411480"/>
          </a:xfrm>
          <a:prstGeom prst="rect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91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 — Conceptualización abstracta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" y="3767328"/>
            <a:ext cx="3986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observaciones en teorías o principios. Aprende pensando y analizando.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291840"/>
            <a:ext cx="4206240" cy="1600200"/>
          </a:xfrm>
          <a:prstGeom prst="rect">
            <a:avLst/>
          </a:prstGeom>
          <a:solidFill>
            <a:srgbClr val="E4EBF5"/>
          </a:solidFill>
          <a:ln w="12700">
            <a:solidFill>
              <a:srgbClr val="1A3A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291840"/>
            <a:ext cx="4206240" cy="411480"/>
          </a:xfrm>
          <a:prstGeom prst="rect">
            <a:avLst/>
          </a:prstGeom>
          <a:solidFill>
            <a:srgbClr val="1A3A60"/>
          </a:solidFill>
          <a:ln w="12700">
            <a:solidFill>
              <a:srgbClr val="1A3A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291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EA — Experimentación activa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10328" y="3767328"/>
            <a:ext cx="3986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las teorías para actuar y resolver problemas. Aprende haciendo e influyendo.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017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cuatro estilos resultantes (Kolb)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qué etapas del ciclo se priorizan, emergen cuatro perfiles de aprendizaje: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4206240" cy="1691640"/>
          </a:xfrm>
          <a:prstGeom prst="rect">
            <a:avLst/>
          </a:prstGeom>
          <a:solidFill>
            <a:srgbClr val="E4EBF5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72768"/>
            <a:ext cx="640080" cy="16916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72768"/>
            <a:ext cx="640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6642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97280" y="20299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 + 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2322576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Imaginativo, orientado a las personas, generador de ideas. Aprende bien en lluvia de ideas y situaciones abiertas.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1572768"/>
            <a:ext cx="4206240" cy="1691640"/>
          </a:xfrm>
          <a:prstGeom prst="rect">
            <a:avLst/>
          </a:prstGeom>
          <a:solidFill>
            <a:srgbClr val="E4EBF5"/>
          </a:solidFill>
          <a:ln w="12700">
            <a:solidFill>
              <a:srgbClr val="3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572768"/>
            <a:ext cx="640080" cy="1691640"/>
          </a:xfrm>
          <a:prstGeom prst="rect">
            <a:avLst/>
          </a:prstGeom>
          <a:solidFill>
            <a:srgbClr val="3A6B8A"/>
          </a:solidFill>
          <a:ln w="12700">
            <a:solidFill>
              <a:srgbClr val="3A6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72768"/>
            <a:ext cx="640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32120" y="16642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ASIMILADOR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532120" y="20299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+ CA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32120" y="2322576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 inductivo, construye modelos teóricos. Aprende bien con lecturas y tiempo para reflexionar.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355848"/>
            <a:ext cx="4206240" cy="1691640"/>
          </a:xfrm>
          <a:prstGeom prst="rect">
            <a:avLst/>
          </a:prstGeom>
          <a:solidFill>
            <a:srgbClr val="E4EBF5"/>
          </a:solidFill>
          <a:ln w="12700">
            <a:solidFill>
              <a:srgbClr val="2A5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355848"/>
            <a:ext cx="640080" cy="1691640"/>
          </a:xfrm>
          <a:prstGeom prst="rect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55848"/>
            <a:ext cx="640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4472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97280" y="38130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+ EA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" y="4105656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problemas, aplica ideas. Aprende bien con tareas prácticas y bien definidas.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355848"/>
            <a:ext cx="4206240" cy="1691640"/>
          </a:xfrm>
          <a:prstGeom prst="rect">
            <a:avLst/>
          </a:prstGeom>
          <a:solidFill>
            <a:srgbClr val="E4EBF5"/>
          </a:solidFill>
          <a:ln w="12700">
            <a:solidFill>
              <a:srgbClr val="1A3A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355848"/>
            <a:ext cx="640080" cy="1691640"/>
          </a:xfrm>
          <a:prstGeom prst="rect">
            <a:avLst/>
          </a:prstGeom>
          <a:solidFill>
            <a:srgbClr val="1A3A60"/>
          </a:solidFill>
          <a:ln w="12700">
            <a:solidFill>
              <a:srgbClr val="1A3A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355848"/>
            <a:ext cx="640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32120" y="34472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ACOMODADOR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532120" y="38130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+ EC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32120" y="4105656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Intuitivo, orientado a la acción. Aprende bien con proyectos y situaciones cambiantes.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017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VAK: visual, auditivo, kinestésico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canal sensorial procesás mejor la información?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2651760" cy="3383280"/>
          </a:xfrm>
          <a:prstGeom prst="rect">
            <a:avLst/>
          </a:prstGeom>
          <a:solidFill>
            <a:srgbClr val="E4EBF5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08760"/>
            <a:ext cx="2651760" cy="4114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08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993392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con imágenes, diagramas, mapas, colores, gráficos, videos.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255264"/>
            <a:ext cx="2377440" cy="0"/>
          </a:xfrm>
          <a:prstGeom prst="line">
            <a:avLst/>
          </a:prstGeom>
          <a:noFill/>
          <a:ln w="8890">
            <a:solidFill>
              <a:srgbClr val="4A6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3192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jardín: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35661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 dónde estaba algo. Dibuja para entender. Necesita ver para creer.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1508760"/>
            <a:ext cx="2651760" cy="3383280"/>
          </a:xfrm>
          <a:prstGeom prst="rect">
            <a:avLst/>
          </a:prstGeom>
          <a:solidFill>
            <a:srgbClr val="DCE8F2"/>
          </a:solidFill>
          <a:ln w="12700">
            <a:solidFill>
              <a:srgbClr val="3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508760"/>
            <a:ext cx="2651760" cy="411480"/>
          </a:xfrm>
          <a:prstGeom prst="rect">
            <a:avLst/>
          </a:prstGeom>
          <a:solidFill>
            <a:srgbClr val="3A6B8A"/>
          </a:solidFill>
          <a:ln w="12700">
            <a:solidFill>
              <a:srgbClr val="3A6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508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AUDITIVO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1993392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con explicaciones orales, debates, canciones, ritmos.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7560" y="3255264"/>
            <a:ext cx="2377440" cy="0"/>
          </a:xfrm>
          <a:prstGeom prst="line">
            <a:avLst/>
          </a:prstGeom>
          <a:noFill/>
          <a:ln w="8890">
            <a:solidFill>
              <a:srgbClr val="3A6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33192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jardín: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10128" y="35661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 en voz alta. Memoriza canciones. Habla mientras trabaja.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1508760"/>
            <a:ext cx="2651760" cy="3383280"/>
          </a:xfrm>
          <a:prstGeom prst="rect">
            <a:avLst/>
          </a:prstGeom>
          <a:solidFill>
            <a:srgbClr val="E8EED8"/>
          </a:solidFill>
          <a:ln w="12700">
            <a:solidFill>
              <a:srgbClr val="5B6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508760"/>
            <a:ext cx="2651760" cy="411480"/>
          </a:xfrm>
          <a:prstGeom prst="rect">
            <a:avLst/>
          </a:prstGeom>
          <a:solidFill>
            <a:srgbClr val="5B6A3A"/>
          </a:solidFill>
          <a:ln w="12700">
            <a:solidFill>
              <a:srgbClr val="5B6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1508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KINESTÉSICO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44768" y="1993392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con movimiento, manipulación, experimentos, juego dramático.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3255264"/>
            <a:ext cx="2377440" cy="0"/>
          </a:xfrm>
          <a:prstGeom prst="line">
            <a:avLst/>
          </a:prstGeom>
          <a:noFill/>
          <a:ln w="8890">
            <a:solidFill>
              <a:srgbClr val="5B6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33192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jardín: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44768" y="35661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tocar. Aprende jugando. Se inquieta si está mucho tiempo quieto.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956048"/>
            <a:ext cx="8412480" cy="256032"/>
          </a:xfrm>
          <a:prstGeom prst="rect">
            <a:avLst/>
          </a:prstGeom>
          <a:solidFill>
            <a:srgbClr val="E4EB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974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propuesta que contempla los tres canales ofrece puntos de entrada para todos los estilos.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017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Honey y Alonso: el CHAEA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estilos basados en el ciclo de Kolb, adaptados al contexto hispanohablante (Alonso, 1992).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4206240" cy="1664208"/>
          </a:xfrm>
          <a:prstGeom prst="rect">
            <a:avLst/>
          </a:prstGeom>
          <a:solidFill>
            <a:srgbClr val="E4EBF5"/>
          </a:solidFill>
          <a:ln w="1016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36192"/>
            <a:ext cx="4206240" cy="38404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536192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5488" y="1993392"/>
            <a:ext cx="4005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Actúa primero, piensa después. Le gustan los desafíos nuevos y el trabajo en grupo. Le cuesta la teoría sin acción.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536192"/>
            <a:ext cx="4206240" cy="1664208"/>
          </a:xfrm>
          <a:prstGeom prst="rect">
            <a:avLst/>
          </a:prstGeom>
          <a:solidFill>
            <a:srgbClr val="E4EBF5"/>
          </a:solidFill>
          <a:ln w="10160">
            <a:solidFill>
              <a:srgbClr val="3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536192"/>
            <a:ext cx="4206240" cy="384048"/>
          </a:xfrm>
          <a:prstGeom prst="rect">
            <a:avLst/>
          </a:prstGeom>
          <a:solidFill>
            <a:srgbClr val="3A6B8A"/>
          </a:solidFill>
          <a:ln w="12700">
            <a:solidFill>
              <a:srgbClr val="3A6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536192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REFLEXIVO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10328" y="1993392"/>
            <a:ext cx="4005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 y analiza antes de actuar. Necesita tiempo para pensar. Le cuesta hablar sin preparación.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4206240" cy="1664208"/>
          </a:xfrm>
          <a:prstGeom prst="rect">
            <a:avLst/>
          </a:prstGeom>
          <a:solidFill>
            <a:srgbClr val="E4EBF5"/>
          </a:solidFill>
          <a:ln w="10160">
            <a:solidFill>
              <a:srgbClr val="2A5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91840"/>
            <a:ext cx="4206240" cy="384048"/>
          </a:xfrm>
          <a:prstGeom prst="rect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29184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TEÓRICO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5488" y="3749040"/>
            <a:ext cx="4005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la lógica y los principios. Aprende con lecturas y marcos conceptuales. Le cuesta la ambigüedad.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291840"/>
            <a:ext cx="4206240" cy="1664208"/>
          </a:xfrm>
          <a:prstGeom prst="rect">
            <a:avLst/>
          </a:prstGeom>
          <a:solidFill>
            <a:srgbClr val="E4EBF5"/>
          </a:solidFill>
          <a:ln w="10160">
            <a:solidFill>
              <a:srgbClr val="1A3A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291840"/>
            <a:ext cx="4206240" cy="384048"/>
          </a:xfrm>
          <a:prstGeom prst="rect">
            <a:avLst/>
          </a:prstGeom>
          <a:solidFill>
            <a:srgbClr val="1A3A60"/>
          </a:solidFill>
          <a:ln w="12700">
            <a:solidFill>
              <a:srgbClr val="1A3A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329184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PRAGMÁTICO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10328" y="3749040"/>
            <a:ext cx="4005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teoría con práctica. Aprende con aplicaciones concretas. Le cuesta lo que no tiene uso evidente.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017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mirada crítica: los límites del enfoque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160520" cy="3840480"/>
          </a:xfrm>
          <a:prstGeom prst="rect">
            <a:avLst/>
          </a:prstGeom>
          <a:solidFill>
            <a:srgbClr val="E4EBF5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4160520" cy="4114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PRODUCTIVO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Ampliar la mirada sobre los alumnos.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5856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Diversificar las propuestas de enseñanza.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1693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Reflexionar sobre el propio modo de aprender.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575304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Diseñar secuencias que contemplen múltiples entradas.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78992"/>
            <a:ext cx="4160520" cy="3840480"/>
          </a:xfrm>
          <a:prstGeom prst="rect">
            <a:avLst/>
          </a:prstGeom>
          <a:solidFill>
            <a:srgbClr val="FBF0EE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78992"/>
            <a:ext cx="4160520" cy="411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0789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A EVITAR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160020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Etiquetar: 'este niño es kinestésico, punto'.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25856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Confundir estilo con capacidad.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91693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Ignorar que los estilos cambian con el contexto.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575304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Usarlo para limitar en lugar de ampliar.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956048"/>
            <a:ext cx="8412480" cy="256032"/>
          </a:xfrm>
          <a:prstGeom prst="rect">
            <a:avLst/>
          </a:prstGeom>
          <a:solidFill>
            <a:srgbClr val="E4EB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974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estilos son una herramienta de lectura pedagógica, no un sistema de clasificación de personas.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· CLASE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Ideas para llevarse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4813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estilo de aprendizaje es una tendencia en cómo procesamos la experiencia. No es fija ni define capacidades.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9397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09397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Kolb: ciclo de 4 etapas (EC → OR → CA → EA) y 4 estilos (divergente, asimilador, convergente, acomodador).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70662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70662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VAK: el canal sensorial predominante (visual, auditivo, kinestésico) orienta cómo llegamos mejor a la información.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31927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31927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Honey-Alonso (CHAEA): activo, reflexivo, teórico, pragmático. Adaptación hispanohablante del modelo de Kolb.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estilos son para ampliar la mirada y diversificar propuestas, nunca para etiquetar ni clasificar.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próxima: ¿alguna vez sentiste que 'no querías' aprender algo aunque podías? ¿Qué influyó? Media carilla — apertura al tema de motivación.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2026-08-08T22:08:36Z</dcterms:created>
  <dcterms:modified xsi:type="dcterms:W3CDTF">2026-08-08T22:08:36Z</dcterms:modified>
</cp:coreProperties>
</file>