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Estilos y modelos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aprendizaje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Kolb, VAK y Honey-Alonso: distintas formas de aprender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5303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Psicología Educacional · Profesorado de Educación Inicial · 2° Año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5760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10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377440" cy="411480"/>
          </a:xfrm>
          <a:prstGeom prst="roundRect">
            <a:avLst>
              <a:gd name="adj" fmla="val 22222"/>
            </a:avLst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APERTURA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pregunta que abre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914400" y="1463040"/>
            <a:ext cx="7315200" cy="1828800"/>
          </a:xfrm>
          <a:prstGeom prst="roundRect">
            <a:avLst>
              <a:gd name="adj" fmla="val 10000"/>
            </a:avLst>
          </a:prstGeom>
          <a:solidFill>
            <a:srgbClr val="D6E8F5"/>
          </a:solidFill>
          <a:ln/>
          <a:effectLst>
            <a:outerShdw sx="100000" sy="100000" kx="0" ky="0" algn="bl" rotWithShape="0" blurRad="101600" dist="38100" dir="16200000">
              <a:srgbClr val="BBBBBB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1554480"/>
            <a:ext cx="6766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todos los sujetos construyen conocimiento</a:t>
            </a:r>
            <a:endParaRPr lang="en-US" sz="2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activamente, ¿por qué no todos</a:t>
            </a:r>
            <a:endParaRPr lang="en-US" sz="2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aprenden del mismo modo?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365760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¿Qué es un estilo de aprendizaje?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¿Cuál creés que es el tuyo?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¿Viste alguna diferencia en tu observación?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5486400"/>
            <a:ext cx="8229600" cy="731520"/>
          </a:xfrm>
          <a:prstGeom prst="roundRect">
            <a:avLst>
              <a:gd name="adj" fmla="val 18750"/>
            </a:avLst>
          </a:prstGeom>
          <a:solidFill>
            <a:srgbClr val="FDF0D5"/>
          </a:solidFill>
          <a:ln/>
          <a:effectLst>
            <a:outerShdw sx="100000" sy="100000" kx="0" ky="0" algn="bl" rotWithShape="0" blurRad="76200" dist="25400" dir="16200000">
              <a:srgbClr val="CCCCCC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54864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tres preguntas del Do Now — respondé en tu cuaderno, sin conversar.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2 / 12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589520" y="640080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Clase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377440" cy="411480"/>
          </a:xfrm>
          <a:prstGeom prst="roundRect">
            <a:avLst>
              <a:gd name="adj" fmla="val 22222"/>
            </a:avLst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MARCO CONCEPTUAL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un estilo de aprendizaje?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1188720"/>
          </a:xfrm>
          <a:prstGeom prst="roundRect">
            <a:avLst>
              <a:gd name="adj" fmla="val 11538"/>
            </a:avLst>
          </a:prstGeom>
          <a:solidFill>
            <a:srgbClr val="D6E8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Conjunto de preferencias, tendencias y disposiciones que caracterizan la forma en que una persona percibe, procesa, almacena y recupera información.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3931920" cy="2103120"/>
          </a:xfrm>
          <a:prstGeom prst="roundRect">
            <a:avLst>
              <a:gd name="adj" fmla="val 5217"/>
            </a:avLst>
          </a:prstGeom>
          <a:solidFill>
            <a:srgbClr val="FDF0D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00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No es sinónimo de capacidad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Tener estilo visual no es ser más inteligente que tener estilo kinestésico.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modos de procesar, no niveles de rendimiento.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3108960"/>
            <a:ext cx="3931920" cy="2103120"/>
          </a:xfrm>
          <a:prstGeom prst="roundRect">
            <a:avLst>
              <a:gd name="adj" fmla="val 5217"/>
            </a:avLst>
          </a:prstGeom>
          <a:solidFill>
            <a:srgbClr val="D6E8F5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3200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No es un rasgo fijo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374904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estilos pueden cambiar con la experiencia, la educación y el contexto.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tendencias, no destinos.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Origen: Witkin (1954) · Kolb (1984) · Dunn y Dunn (1978) · Conexión: Gardner, Bruner, Vygotski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3 / 12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89520" y="640080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Clase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377440" cy="411480"/>
          </a:xfrm>
          <a:prstGeom prst="roundRect">
            <a:avLst>
              <a:gd name="adj" fmla="val 22222"/>
            </a:avLst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MODELO KOLB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experiencial de Kolb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2926080" y="1371600"/>
            <a:ext cx="2743200" cy="2011680"/>
          </a:xfrm>
          <a:prstGeom prst="roundRect">
            <a:avLst>
              <a:gd name="adj" fmla="val 6818"/>
            </a:avLst>
          </a:prstGeom>
          <a:solidFill>
            <a:srgbClr val="D6E8F5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063240" y="14630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Experiencia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concreta (EC)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63240" y="22402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involucra directamente.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 sintiendo.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1371600"/>
            <a:ext cx="2743200" cy="2011680"/>
          </a:xfrm>
          <a:prstGeom prst="roundRect">
            <a:avLst>
              <a:gd name="adj" fmla="val 6818"/>
            </a:avLst>
          </a:prstGeom>
          <a:solidFill>
            <a:srgbClr val="D6E8F5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06440" y="14630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Observación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reflexiva (OR)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06440" y="22402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Reflexiona desde distintas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perspectivas. Aprende mirando.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0" y="3840480"/>
            <a:ext cx="2743200" cy="2011680"/>
          </a:xfrm>
          <a:prstGeom prst="roundRect">
            <a:avLst>
              <a:gd name="adj" fmla="val 6818"/>
            </a:avLst>
          </a:prstGeom>
          <a:solidFill>
            <a:srgbClr val="D6E8F5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06440" y="3931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Conceptualización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abstracta (CA)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06440" y="47091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 en teorías y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modelos. Aprende pensando.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26080" y="3840480"/>
            <a:ext cx="2743200" cy="2011680"/>
          </a:xfrm>
          <a:prstGeom prst="roundRect">
            <a:avLst>
              <a:gd name="adj" fmla="val 6818"/>
            </a:avLst>
          </a:prstGeom>
          <a:solidFill>
            <a:srgbClr val="D6E8F5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63240" y="3931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Experimentación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 (EA)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63240" y="47091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teorías para decidir.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 haciendo.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77840" y="2011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838"/>
                </a:solidFill>
              </a:rPr>
              <a:t>→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58000" y="33832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838"/>
                </a:solidFill>
              </a:rPr>
              <a:t>↓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394960" y="4846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838"/>
                </a:solidFill>
              </a:rPr>
              <a:t>←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206240" y="33832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838"/>
                </a:solidFill>
              </a:rPr>
              <a:t>↑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457200" y="5943600"/>
            <a:ext cx="8229600" cy="640080"/>
          </a:xfrm>
          <a:prstGeom prst="roundRect">
            <a:avLst>
              <a:gd name="adj" fmla="val 21429"/>
            </a:avLst>
          </a:prstGeom>
          <a:solidFill>
            <a:srgbClr val="FDF0D5"/>
          </a:solidFill>
          <a:ln/>
          <a:effectLst>
            <a:outerShdw sx="100000" sy="100000" kx="0" ky="0" algn="bl" rotWithShape="0" blurRad="76200" dist="25400" dir="16200000">
              <a:srgbClr val="CCCCCC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5943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jardín: visita a granja (EC) → dibujo y registro (OR) → conversación sobre animales (CA) → libro para la biblioteca (EA).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4 / 12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89520" y="640080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Clase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377440" cy="411480"/>
          </a:xfrm>
          <a:prstGeom prst="roundRect">
            <a:avLst>
              <a:gd name="adj" fmla="val 22222"/>
            </a:avLst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MODELO KOLB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cuatro estilos de Kolb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D6E8F5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109728" cy="2103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Divergente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 + 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Imaginativo, orientado a las personas, generador de ideas. Aprende bien en lluvia de ideas y discusión abierta.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D6E8F5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63040"/>
            <a:ext cx="109728" cy="210312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600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Asimilador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0" y="2057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+ CA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24231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Razona inductivamente, crea modelos teóricos. Aprende con lecturas, conferencias y tiempo para reflexionar.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D6E8F5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840480"/>
            <a:ext cx="109728" cy="21031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77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4434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+ EA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8006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Resuelve problemas, toma decisiones, aplica ideas. Aprende con tareas prácticas y experimentos.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384048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D6E8F5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840480"/>
            <a:ext cx="109728" cy="2103120"/>
          </a:xfrm>
          <a:prstGeom prst="rect">
            <a:avLst/>
          </a:prstGeom>
          <a:solidFill>
            <a:srgbClr val="EF6C00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3977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Acomodador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29200" y="4434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 + EC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48006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Intuitivo, orientado a la acción, aprende de los errores. Aprende con proyectos y trabajo de campo.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5 / 12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589520" y="640080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758952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Clase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377440" cy="411480"/>
          </a:xfrm>
          <a:prstGeom prst="roundRect">
            <a:avLst>
              <a:gd name="adj" fmla="val 22222"/>
            </a:avLst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MODELO VAK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· Auditivo · Kinestésico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743200" cy="4846320"/>
          </a:xfrm>
          <a:prstGeom prst="roundRect">
            <a:avLst>
              <a:gd name="adj" fmla="val 4000"/>
            </a:avLst>
          </a:prstGeom>
          <a:solidFill>
            <a:srgbClr val="D6E8F5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2743200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463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  VISUAL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 mejor con...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Imágenes, diagramas, mapas, colores, gráficos, videos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383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jardín...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703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Dibuja para entender. Recuerda dónde estaba algo. Necesita ver para creer.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4572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Propuestas afines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48920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Organizadores visuales, código de colores, láminas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1463040"/>
            <a:ext cx="2743200" cy="4846320"/>
          </a:xfrm>
          <a:prstGeom prst="roundRect">
            <a:avLst>
              <a:gd name="adj" fmla="val 4000"/>
            </a:avLst>
          </a:prstGeom>
          <a:solidFill>
            <a:srgbClr val="D6E8F5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463040"/>
            <a:ext cx="2743200" cy="64008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1463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👂  AUDITIVO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37560" y="2194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 mejor con...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25146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Explicaciones orales, debates, canciones, ritmos, podcasts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3383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jardín...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3703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Repite en voz alta. Memoriza canciones. Habla mientras trabaja.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37560" y="4572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Propuestas afines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48920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Canciones, cuentos orales, consignas claras, música de fondo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1463040"/>
            <a:ext cx="2743200" cy="4846320"/>
          </a:xfrm>
          <a:prstGeom prst="roundRect">
            <a:avLst>
              <a:gd name="adj" fmla="val 4000"/>
            </a:avLst>
          </a:prstGeom>
          <a:solidFill>
            <a:srgbClr val="D6E8F5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463040"/>
            <a:ext cx="2743200" cy="640080"/>
          </a:xfrm>
          <a:prstGeom prst="rect">
            <a:avLst/>
          </a:prstGeom>
          <a:solidFill>
            <a:srgbClr val="EF6C00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463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🤸  KINESTÉSICO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63640" y="2194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 mejor con...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25146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Movimiento, manipulación, experimentos, juego dramático, construcción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3383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jardín...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3703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Necesita tocar. Aprende jugando. Se inquieta si está mucho tiempo quieto.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63640" y="4572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Propuestas afines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48920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Rincones de exploración, juego libre, actividades manuales, salidas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148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6 / 12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589520" y="640080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1B3A5C"/>
          </a:solidFill>
          <a:ln/>
        </p:spPr>
      </p:sp>
      <p:sp>
        <p:nvSpPr>
          <p:cNvPr id="34" name="Text 32"/>
          <p:cNvSpPr/>
          <p:nvPr/>
        </p:nvSpPr>
        <p:spPr>
          <a:xfrm>
            <a:off x="758952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Clase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377440" cy="411480"/>
          </a:xfrm>
          <a:prstGeom prst="roundRect">
            <a:avLst>
              <a:gd name="adj" fmla="val 22222"/>
            </a:avLst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MODELO CHAEA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Honey y Alonso: 4 perfiles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D6E8F5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109728" cy="2103120"/>
          </a:xfrm>
          <a:prstGeom prst="rect">
            <a:avLst/>
          </a:prstGeom>
          <a:solidFill>
            <a:srgbClr val="EF6C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Actúa primero, piensa después. Le gustan los desafíos, el trabajo en grupo, los juegos de rol.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jardín: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Propuestas con movimiento, situaciones nuevas. Le cuesta la teoría sin acción.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D6E8F5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463040"/>
            <a:ext cx="109728" cy="210312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5544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Reflexivo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19659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 y analiza antes de actuar. Necesita tiempo para pensar.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697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jardín: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9718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Momentos de silencio, registro, observación. Le cuesta la improvisación.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D6E8F5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840480"/>
            <a:ext cx="109728" cy="21031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931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Teórico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43434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la lógica y los principios. Aprende con lecturas y marcos conceptuales.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5074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jardín: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3492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Necesita el 'por qué' antes del 'hómo'. Le cuesta la ambigüedad.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384048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D6E8F5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840480"/>
            <a:ext cx="109728" cy="21031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3931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Pragmático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029200" y="43434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teoría con práctica. Aprende con aplicaciones concretas.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5074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jardín: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53492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'¿para qué me sirve esto?'. Necesita ver la aplicación.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943600"/>
            <a:ext cx="8229600" cy="548640"/>
          </a:xfrm>
          <a:prstGeom prst="roundRect">
            <a:avLst>
              <a:gd name="adj" fmla="val 25000"/>
            </a:avLst>
          </a:prstGeom>
          <a:solidFill>
            <a:srgbClr val="FDF0D5"/>
          </a:solidFill>
          <a:ln/>
          <a:effectLst>
            <a:outerShdw sx="100000" sy="100000" kx="0" ky="0" algn="bl" rotWithShape="0" blurRad="76200" dist="25400" dir="16200000">
              <a:srgbClr val="CCCCCC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5943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Adaptación hispanohablante de Catalina Alonso (1992). CHAEA completo: 40 ítems.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1148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7 / 12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589520" y="640080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1B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758952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Clase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MIRADA CRÍTICA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¿Estamos perdiendo el tiempo</a:t>
            </a:r>
            <a:endParaRPr lang="en-US" sz="3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los estilos?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Pashler et al. (2008) · Meta-análisis sobre la validez de los estilos de aprendizaje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377440" cy="411480"/>
          </a:xfrm>
          <a:prstGeom prst="roundRect">
            <a:avLst>
              <a:gd name="adj" fmla="val 22222"/>
            </a:avLst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DEBATE CRÍTICO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críticas fundamentales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FFF5F5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empírica débil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Varios estudios meta-analíticos cuestionan que enseñar 'al estilo' de cada alumno mejore los resultados de aprendizaje.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FFF5F5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600200"/>
            <a:ext cx="457200" cy="457200"/>
          </a:xfrm>
          <a:prstGeom prst="ellipse">
            <a:avLst/>
          </a:prstGeom>
          <a:solidFill>
            <a:srgbClr val="EF6C00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0" y="1600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de la etiqueta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219456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Diagnosticar a un niño como 'kinestésico' puede limitar las expectativas sobre lo que puede aprender.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FFF5F5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977640"/>
            <a:ext cx="457200" cy="45720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977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 del contenido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57200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Alguien puede aprender matemática de manera visual y literatura de manera auditiva. No existe un estilo universal.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384048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FFF5F5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977640"/>
            <a:ext cx="457200" cy="457200"/>
          </a:xfrm>
          <a:prstGeom prst="ellipse">
            <a:avLst/>
          </a:prstGeom>
          <a:solidFill>
            <a:srgbClr val="00796B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0" y="3977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Diversidad cultural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0" y="457200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estilo 'kinestésico' puede ser también un estilo asociado a contextos donde el aprendizaje ocurre en la práctica.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9 / 12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589520" y="640080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758952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Clase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377440" cy="411480"/>
          </a:xfrm>
          <a:prstGeom prst="roundRect">
            <a:avLst>
              <a:gd name="adj" fmla="val 22222"/>
            </a:avLst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SÍNTESIS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¿Para qué sirven los estilos?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4114800"/>
          </a:xfrm>
          <a:prstGeom prst="roundRect">
            <a:avLst>
              <a:gd name="adj" fmla="val 3488"/>
            </a:avLst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SIRVEN para...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Ampliar la mirada sobre los alumnos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Diversificar las propuestas de enseñanza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Reflexionar sobre el propio modo de aprender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Diseñar actividades que ofrezcan múltiples puntos de entrada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931920" cy="4114800"/>
          </a:xfrm>
          <a:prstGeom prst="roundRect">
            <a:avLst>
              <a:gd name="adj" fmla="val 3488"/>
            </a:avLst>
          </a:prstGeom>
          <a:solidFill>
            <a:srgbClr val="FFEBEE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5544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NO sirven para...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219456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Etiquetar: "este niño es kinestésico, punto"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Confundir estilo con capacidad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Usarlos para limitar en lugar de ampliar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Diagnosticar o clasificar de forma rígida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5760720"/>
            <a:ext cx="8229600" cy="731520"/>
          </a:xfrm>
          <a:prstGeom prst="roundRect">
            <a:avLst>
              <a:gd name="adj" fmla="val 18750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25400" dir="16200000">
              <a:srgbClr val="CCCCCC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57607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estilos son una herramienta de LECTURA pedagógica, no de clasificación.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1148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10 / 12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589520" y="640080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Clase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377440" cy="411480"/>
          </a:xfrm>
          <a:prstGeom prst="roundRect">
            <a:avLst>
              <a:gd name="adj" fmla="val 22222"/>
            </a:avLst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ESTACIÓN VAK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Tarjetas de situaciones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Clasificá cada situación: ¿Visual, Auditivo o Kinestésico?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2743200" cy="2194560"/>
          </a:xfrm>
          <a:prstGeom prst="roundRect">
            <a:avLst>
              <a:gd name="adj" fmla="val 5000"/>
            </a:avLst>
          </a:prstGeom>
          <a:solidFill>
            <a:srgbClr val="D6E8F5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— Mateo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la docente le explica solo con palabras, se distrae. Pero cuando dibuja en el pizarrón o le muestra una imagen, presta atención al instante.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828800"/>
            <a:ext cx="2743200" cy="2194560"/>
          </a:xfrm>
          <a:prstGeom prst="roundRect">
            <a:avLst>
              <a:gd name="adj" fmla="val 5000"/>
            </a:avLst>
          </a:prstGeom>
          <a:solidFill>
            <a:srgbClr val="D6E8F5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— Valentina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233172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queda quieta. Necesita tocar todo. Cuando el cuento incluye sonidos, aplausos y movimiento, participa entusiasmada.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2743200" cy="2194560"/>
          </a:xfrm>
          <a:prstGeom prst="roundRect">
            <a:avLst>
              <a:gd name="adj" fmla="val 5000"/>
            </a:avLst>
          </a:prstGeom>
          <a:solidFill>
            <a:srgbClr val="D6E8F5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— Santiago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233172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 todas las canciones de memoria. Repite en voz alta las consignas. Memoriza mejor cuando escucha una explicación.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297680"/>
            <a:ext cx="2743200" cy="2194560"/>
          </a:xfrm>
          <a:prstGeom prst="roundRect">
            <a:avLst>
              <a:gd name="adj" fmla="val 5000"/>
            </a:avLst>
          </a:prstGeom>
          <a:solidFill>
            <a:srgbClr val="D6E8F5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4389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— Camila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" y="480060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 recuerda dónde estaban las cosas. Cuando tiene que aprender algo nuevo, necesita ver un ejemplo gráfico o un diagrama.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0" y="4297680"/>
            <a:ext cx="2743200" cy="2194560"/>
          </a:xfrm>
          <a:prstGeom prst="roundRect">
            <a:avLst>
              <a:gd name="adj" fmla="val 5000"/>
            </a:avLst>
          </a:prstGeom>
          <a:solidFill>
            <a:srgbClr val="D6E8F5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37560" y="4389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— Tomás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37560" y="480060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Necesita manipular los objetos para entender. Cuando le da dos bloques para que los compare tocándolos, entiende al instante.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4297680"/>
            <a:ext cx="2743200" cy="2194560"/>
          </a:xfrm>
          <a:prstGeom prst="roundRect">
            <a:avLst>
              <a:gd name="adj" fmla="val 5000"/>
            </a:avLst>
          </a:prstGeom>
          <a:solidFill>
            <a:srgbClr val="D6E8F5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63640" y="4389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— Lucía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63640" y="480060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 cuando la docente cuenta una historia con diferentes tonos de voz. Pide que le repitan los cuentos una y otra vez.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11 / 12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89520" y="640080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758952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Clase 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la próxima clase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371600" y="1828800"/>
            <a:ext cx="6400800" cy="2286000"/>
          </a:xfrm>
          <a:prstGeom prst="roundRect">
            <a:avLst>
              <a:gd name="adj" fmla="val 8000"/>
            </a:avLst>
          </a:prstGeom>
          <a:solidFill>
            <a:srgbClr val="244466"/>
          </a:solidFill>
          <a:ln/>
          <a:effectLst>
            <a:outerShdw sx="100000" sy="100000" kx="0" ky="0" algn="bl" rotWithShape="0" blurRad="101600" dist="38100" dir="16200000">
              <a:srgbClr val="111111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645920" y="1920240"/>
            <a:ext cx="5852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¿Alguna vez sentiste que "no querías"</a:t>
            </a:r>
            <a:endParaRPr lang="en-US" sz="2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aprender algo aunque sabías que podías?</a:t>
            </a:r>
            <a:endParaRPr lang="en-US" sz="2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influyó en esa falta de motivación?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Reflexión escrita · 1/2 carilla · Entrega: primera parte de la Clase 11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493776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24446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49834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53035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situación concreta: ¿cuándo? ¿en qué contexto?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493776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244466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49834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49040" y="53035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sentías en ese momento?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493776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244466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49834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53035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habría necesitado para que fuera diferente?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Estilos y modelos de aprendizaje</dc:title>
  <dc:subject>Psicología Educacional — Clase 10</dc:subject>
  <dc:creator>Prof. Juan José García</dc:creator>
  <cp:lastModifiedBy>Prof. Juan José García</cp:lastModifiedBy>
  <cp:revision>1</cp:revision>
  <dcterms:created xsi:type="dcterms:W3CDTF">2026-08-19T22:56:04Z</dcterms:created>
  <dcterms:modified xsi:type="dcterms:W3CDTF">2026-08-19T22:56:04Z</dcterms:modified>
</cp:coreProperties>
</file>