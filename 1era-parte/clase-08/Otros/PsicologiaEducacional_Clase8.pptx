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desplazar la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diapositiva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las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94FE408-5C34-45AF-9587-A1AC9FC55B74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1B3B34-E8EC-42EF-8D2C-E1C9083C64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9C09C-89E6-418D-BB2E-B57573EAC7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AD4E90-FAA6-48D3-AA78-6C548AAE06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08311E-B98F-4E5D-B183-90D86752DC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34D369-0A20-4B5D-B0EA-8589BFE6DB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BB182-E23A-4942-AD92-38454D0E3E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B7448D-6E2D-4811-BDFE-84CC885182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900D1-B51D-42DC-B7EB-BE2D233380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500BFD-D143-4305-B04C-0885C00EAA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8FFACC-67AA-44F7-AA80-9DD6ADB905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formato del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de título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943600" y="-914400"/>
            <a:ext cx="4571640" cy="457164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914400" y="3200400"/>
            <a:ext cx="3657240" cy="3657240"/>
          </a:xfrm>
          <a:prstGeom prst="ellipse">
            <a:avLst/>
          </a:prstGeom>
          <a:solidFill>
            <a:srgbClr val="C8793A">
              <a:alpha val="13000"/>
            </a:srgbClr>
          </a:solidFill>
          <a:ln w="12700">
            <a:solidFill>
              <a:srgbClr val="C8793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772400" y="3474720"/>
            <a:ext cx="2285640" cy="2285640"/>
          </a:xfrm>
          <a:prstGeom prst="ellipse">
            <a:avLst/>
          </a:prstGeom>
          <a:solidFill>
            <a:srgbClr val="8BAF95">
              <a:alpha val="16000"/>
            </a:srgbClr>
          </a:solidFill>
          <a:ln w="12700">
            <a:solidFill>
              <a:srgbClr val="8BAF95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4572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PROFESORADO DE </a:t>
            </a:r>
            <a:r>
              <a:rPr lang="en-US" sz="1100" b="1" u="none" spc="201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EDUCACIÓN </a:t>
            </a:r>
            <a:r>
              <a:rPr lang="en-US" sz="1100" b="1" u="none" spc="201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INICIAL · 2° AÑO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48640" y="914400"/>
            <a:ext cx="1096920" cy="34704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914400"/>
            <a:ext cx="1096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CLASE 8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1371600"/>
            <a:ext cx="7314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Intel</a:t>
            </a: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igen</a:t>
            </a: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cias</a:t>
            </a:r>
            <a:endParaRPr lang="es-A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múlt</a:t>
            </a: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iples</a:t>
            </a:r>
            <a:endParaRPr lang="es-A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3063240"/>
            <a:ext cx="7314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y cierre de </a:t>
            </a:r>
            <a:r>
              <a:rPr lang="en-US" sz="24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la Unidad </a:t>
            </a:r>
            <a:r>
              <a:rPr lang="en-US" sz="24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II</a:t>
            </a:r>
            <a:endParaRPr lang="es-A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8640" y="3611880"/>
            <a:ext cx="685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CBBAA"/>
                </a:solidFill>
                <a:effectLst/>
                <a:uFillTx/>
                <a:latin typeface="Calibri"/>
                <a:ea typeface="Calibri"/>
              </a:rPr>
              <a:t>¿Todos </a:t>
            </a:r>
            <a:r>
              <a:rPr lang="en-US" sz="1400" b="0" u="none" strike="noStrike">
                <a:solidFill>
                  <a:srgbClr val="CCBBAA"/>
                </a:solidFill>
                <a:effectLst/>
                <a:uFillTx/>
                <a:latin typeface="Calibri"/>
                <a:ea typeface="Calibri"/>
              </a:rPr>
              <a:t>aprendemos </a:t>
            </a:r>
            <a:r>
              <a:rPr lang="en-US" sz="1400" b="0" u="none" strike="noStrike">
                <a:solidFill>
                  <a:srgbClr val="CCBBAA"/>
                </a:solidFill>
                <a:effectLst/>
                <a:uFillTx/>
                <a:latin typeface="Calibri"/>
                <a:ea typeface="Calibri"/>
              </a:rPr>
              <a:t>igual? Gardner y </a:t>
            </a:r>
            <a:r>
              <a:rPr lang="en-US" sz="1400" b="0" u="none" strike="noStrike">
                <a:solidFill>
                  <a:srgbClr val="CCBBAA"/>
                </a:solidFill>
                <a:effectLst/>
                <a:uFillTx/>
                <a:latin typeface="Calibri"/>
                <a:ea typeface="Calibri"/>
              </a:rPr>
              <a:t>la revisión del </a:t>
            </a:r>
            <a:r>
              <a:rPr lang="en-US" sz="1400" b="0" u="none" strike="noStrike">
                <a:solidFill>
                  <a:srgbClr val="CCBBAA"/>
                </a:solidFill>
                <a:effectLst/>
                <a:uFillTx/>
                <a:latin typeface="Calibri"/>
                <a:ea typeface="Calibri"/>
              </a:rPr>
              <a:t>concepto de </a:t>
            </a:r>
            <a:r>
              <a:rPr lang="en-US" sz="1400" b="0" u="none" strike="noStrike">
                <a:solidFill>
                  <a:srgbClr val="CCBBAA"/>
                </a:solidFill>
                <a:effectLst/>
                <a:uFillTx/>
                <a:latin typeface="Calibri"/>
                <a:ea typeface="Calibri"/>
              </a:rPr>
              <a:t>inteligencia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48640" y="4754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77777"/>
                </a:solidFill>
                <a:effectLst/>
                <a:uFillTx/>
                <a:latin typeface="Calibri"/>
                <a:ea typeface="Calibri"/>
              </a:rPr>
              <a:t>Gardner (1983, 1993)  ·  </a:t>
            </a:r>
            <a:r>
              <a:rPr lang="en-US" sz="1000" b="0" u="none" strike="noStrike">
                <a:solidFill>
                  <a:srgbClr val="777777"/>
                </a:solidFill>
                <a:effectLst/>
                <a:uFillTx/>
                <a:latin typeface="Calibri"/>
                <a:ea typeface="Calibri"/>
              </a:rPr>
              <a:t>Armstrong (2006)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CLASE 8 · </a:t>
            </a: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INTELIGENCIAS </a:t>
            </a: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MÚLTIPLES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822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¿Qué es la inteligencia?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65760" y="1463040"/>
            <a:ext cx="3931560" cy="320004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365760" y="1463040"/>
            <a:ext cx="3931560" cy="50256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457200" y="149040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visión clásica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30280" y="2084760"/>
            <a:ext cx="365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— Una sola inteligencia, medible con tests.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30280" y="2560320"/>
            <a:ext cx="365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— El CI determina el potencial del sujeto.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30280" y="3035880"/>
            <a:ext cx="365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— Hay personas más inteligentes que otras.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30280" y="3511440"/>
            <a:ext cx="365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— Solo se valoran lo lingüístico y lo lógico.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30280" y="3986640"/>
            <a:ext cx="3657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— Consecuencia: niños etiquetados y limitados.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4389480" y="2880000"/>
            <a:ext cx="456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4846320" y="1463040"/>
            <a:ext cx="3931560" cy="3200040"/>
          </a:xfrm>
          <a:prstGeom prst="rect">
            <a:avLst/>
          </a:prstGeom>
          <a:solidFill>
            <a:srgbClr val="F5F4F0"/>
          </a:solidFill>
          <a:ln w="127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4846320" y="1463040"/>
            <a:ext cx="3931560" cy="502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4937760" y="149040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propuesta de Gardner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4956120" y="2084760"/>
            <a:ext cx="373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No existe una inteligencia única.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4956120" y="2560320"/>
            <a:ext cx="373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Hay al menos 8 capacidades relativamente independientes.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4956120" y="3035880"/>
            <a:ext cx="373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Cada una tiene su base neurológica propia.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4956120" y="3511440"/>
            <a:ext cx="373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Todos las tenemos en distintos grados y combinaciones.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4956120" y="3986640"/>
            <a:ext cx="3730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✓ Consecuencia: diversificar las propuestas de enseñanza.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6400800" y="-731520"/>
            <a:ext cx="4114440" cy="4114440"/>
          </a:xfrm>
          <a:prstGeom prst="ellipse">
            <a:avLst/>
          </a:prstGeom>
          <a:solidFill>
            <a:srgbClr val="C8793A">
              <a:alpha val="20000"/>
            </a:srgbClr>
          </a:solidFill>
          <a:ln w="12700">
            <a:solidFill>
              <a:srgbClr val="C8793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-1097280" y="2743200"/>
            <a:ext cx="3657240" cy="3657240"/>
          </a:xfrm>
          <a:prstGeom prst="ellipse">
            <a:avLst/>
          </a:prstGeom>
          <a:solidFill>
            <a:srgbClr val="8C3A2E">
              <a:alpha val="18000"/>
            </a:srgbClr>
          </a:solidFill>
          <a:ln w="12700">
            <a:solidFill>
              <a:srgbClr val="8C3A2E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48640" y="8229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HOWARD GARDNER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548640" y="1234440"/>
            <a:ext cx="73148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Las ocho</a:t>
            </a:r>
            <a:endParaRPr lang="es-A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inteligencias</a:t>
            </a:r>
            <a:endParaRPr lang="es-A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548640" y="292608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Frames of Mind, 1983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548640" y="33375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EDDCC"/>
                </a:solidFill>
                <a:effectLst/>
                <a:uFillTx/>
                <a:latin typeface="Calibri"/>
                <a:ea typeface="Calibri"/>
              </a:rPr>
              <a:t>1943 · Psicólogo y educador · Universidad de Harvard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457200" y="3886200"/>
            <a:ext cx="8229240" cy="804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94360" y="3959280"/>
            <a:ext cx="7954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"La pregunta no es cuán inteligente sos, sino de qué maneras sos inteligente."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GARDNER · LAS OCHO INTELIGENCIAS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457200" y="804600"/>
            <a:ext cx="8229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Ocho capacidades relativamente independientes.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320040" y="135324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320040" y="1353240"/>
            <a:ext cx="2102760" cy="72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1115640" y="1481400"/>
            <a:ext cx="511560" cy="5115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1115640" y="14814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Lg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411480" y="205740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Lingüística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411480" y="245052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Narra, juega con palabras, recuerda canciones.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2496240" y="135324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2496240" y="1353240"/>
            <a:ext cx="2102760" cy="72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3291840" y="1481400"/>
            <a:ext cx="511560" cy="511560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3291840" y="14814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Lm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2587680" y="205740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Lógico-matemática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2587680" y="245052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Ordena, cuenta, anticipa secuencias.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5"/>
          <p:cNvSpPr/>
          <p:nvPr/>
        </p:nvSpPr>
        <p:spPr>
          <a:xfrm>
            <a:off x="4672440" y="135324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5C8A7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4672440" y="1353240"/>
            <a:ext cx="2102760" cy="72720"/>
          </a:xfrm>
          <a:prstGeom prst="rect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5468040" y="1481400"/>
            <a:ext cx="511560" cy="511560"/>
          </a:xfrm>
          <a:prstGeom prst="ellipse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5468040" y="14814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4763880" y="205740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Espacial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4763880" y="245052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Arma puzzles, dibuja, se orienta en el espacio.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1"/>
          <p:cNvSpPr/>
          <p:nvPr/>
        </p:nvSpPr>
        <p:spPr>
          <a:xfrm>
            <a:off x="6849000" y="135324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8C3A2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6849000" y="1353240"/>
            <a:ext cx="2102760" cy="72720"/>
          </a:xfrm>
          <a:prstGeom prst="rect">
            <a:avLst/>
          </a:prstGeom>
          <a:solidFill>
            <a:srgbClr val="8C3A2E"/>
          </a:solidFill>
          <a:ln w="12700">
            <a:solidFill>
              <a:srgbClr val="8C3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3"/>
          <p:cNvSpPr/>
          <p:nvPr/>
        </p:nvSpPr>
        <p:spPr>
          <a:xfrm>
            <a:off x="7644240" y="1481400"/>
            <a:ext cx="511560" cy="511560"/>
          </a:xfrm>
          <a:prstGeom prst="ellipse">
            <a:avLst/>
          </a:prstGeom>
          <a:solidFill>
            <a:srgbClr val="8C3A2E"/>
          </a:solidFill>
          <a:ln w="12700">
            <a:solidFill>
              <a:srgbClr val="8C3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7644240" y="14814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940440" y="205740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Musical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6"/>
          <p:cNvSpPr/>
          <p:nvPr/>
        </p:nvSpPr>
        <p:spPr>
          <a:xfrm>
            <a:off x="6940440" y="245052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Imita ritmos, distingue melodías, se mueve al ritmo.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7"/>
          <p:cNvSpPr/>
          <p:nvPr/>
        </p:nvSpPr>
        <p:spPr>
          <a:xfrm>
            <a:off x="320040" y="320940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8"/>
          <p:cNvSpPr/>
          <p:nvPr/>
        </p:nvSpPr>
        <p:spPr>
          <a:xfrm>
            <a:off x="320040" y="3209400"/>
            <a:ext cx="2102760" cy="72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9"/>
          <p:cNvSpPr/>
          <p:nvPr/>
        </p:nvSpPr>
        <p:spPr>
          <a:xfrm>
            <a:off x="1115640" y="3337560"/>
            <a:ext cx="511560" cy="5115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0"/>
          <p:cNvSpPr/>
          <p:nvPr/>
        </p:nvSpPr>
        <p:spPr>
          <a:xfrm>
            <a:off x="1115640" y="33375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Ck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1"/>
          <p:cNvSpPr/>
          <p:nvPr/>
        </p:nvSpPr>
        <p:spPr>
          <a:xfrm>
            <a:off x="411480" y="39135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Corporal-kinestésica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2"/>
          <p:cNvSpPr/>
          <p:nvPr/>
        </p:nvSpPr>
        <p:spPr>
          <a:xfrm>
            <a:off x="411480" y="430668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Aprende haciendo, gran coordinación motriz.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3"/>
          <p:cNvSpPr/>
          <p:nvPr/>
        </p:nvSpPr>
        <p:spPr>
          <a:xfrm>
            <a:off x="2496240" y="320940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8BAF9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4"/>
          <p:cNvSpPr/>
          <p:nvPr/>
        </p:nvSpPr>
        <p:spPr>
          <a:xfrm>
            <a:off x="2496240" y="3209400"/>
            <a:ext cx="2102760" cy="72720"/>
          </a:xfrm>
          <a:prstGeom prst="rect">
            <a:avLst/>
          </a:prstGeom>
          <a:solidFill>
            <a:srgbClr val="8BAF95"/>
          </a:solidFill>
          <a:ln w="12700">
            <a:solidFill>
              <a:srgbClr val="8BAF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5"/>
          <p:cNvSpPr/>
          <p:nvPr/>
        </p:nvSpPr>
        <p:spPr>
          <a:xfrm>
            <a:off x="3291840" y="3337560"/>
            <a:ext cx="511560" cy="511560"/>
          </a:xfrm>
          <a:prstGeom prst="ellipse">
            <a:avLst/>
          </a:prstGeom>
          <a:solidFill>
            <a:srgbClr val="8BAF95"/>
          </a:solidFill>
          <a:ln w="12700">
            <a:solidFill>
              <a:srgbClr val="8BAF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6"/>
          <p:cNvSpPr/>
          <p:nvPr/>
        </p:nvSpPr>
        <p:spPr>
          <a:xfrm>
            <a:off x="3291840" y="33375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7"/>
          <p:cNvSpPr/>
          <p:nvPr/>
        </p:nvSpPr>
        <p:spPr>
          <a:xfrm>
            <a:off x="2587680" y="39135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Naturalista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8"/>
          <p:cNvSpPr/>
          <p:nvPr/>
        </p:nvSpPr>
        <p:spPr>
          <a:xfrm>
            <a:off x="2587680" y="430668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Nombra bichos, clasifica plantas, observa el cielo.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9"/>
          <p:cNvSpPr/>
          <p:nvPr/>
        </p:nvSpPr>
        <p:spPr>
          <a:xfrm>
            <a:off x="4672440" y="320940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C8793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0"/>
          <p:cNvSpPr/>
          <p:nvPr/>
        </p:nvSpPr>
        <p:spPr>
          <a:xfrm>
            <a:off x="4672440" y="3209400"/>
            <a:ext cx="2102760" cy="727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1"/>
          <p:cNvSpPr/>
          <p:nvPr/>
        </p:nvSpPr>
        <p:spPr>
          <a:xfrm>
            <a:off x="5468040" y="3337560"/>
            <a:ext cx="511560" cy="511560"/>
          </a:xfrm>
          <a:prstGeom prst="ellipse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2"/>
          <p:cNvSpPr/>
          <p:nvPr/>
        </p:nvSpPr>
        <p:spPr>
          <a:xfrm>
            <a:off x="5468040" y="33375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Ir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3"/>
          <p:cNvSpPr/>
          <p:nvPr/>
        </p:nvSpPr>
        <p:spPr>
          <a:xfrm>
            <a:off x="4763880" y="39135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Interpersonal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4"/>
          <p:cNvSpPr/>
          <p:nvPr/>
        </p:nvSpPr>
        <p:spPr>
          <a:xfrm>
            <a:off x="4763880" y="430668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Percibe emociones, organiza al grupo, media conflictos.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5"/>
          <p:cNvSpPr/>
          <p:nvPr/>
        </p:nvSpPr>
        <p:spPr>
          <a:xfrm>
            <a:off x="6849000" y="3209400"/>
            <a:ext cx="2102760" cy="1782720"/>
          </a:xfrm>
          <a:prstGeom prst="rect">
            <a:avLst/>
          </a:prstGeom>
          <a:solidFill>
            <a:srgbClr val="F5F4F0"/>
          </a:solidFill>
          <a:ln w="19050">
            <a:solidFill>
              <a:srgbClr val="5C8A7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6"/>
          <p:cNvSpPr/>
          <p:nvPr/>
        </p:nvSpPr>
        <p:spPr>
          <a:xfrm>
            <a:off x="6849000" y="3209400"/>
            <a:ext cx="2102760" cy="72720"/>
          </a:xfrm>
          <a:prstGeom prst="rect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7"/>
          <p:cNvSpPr/>
          <p:nvPr/>
        </p:nvSpPr>
        <p:spPr>
          <a:xfrm>
            <a:off x="7644240" y="3337560"/>
            <a:ext cx="511560" cy="511560"/>
          </a:xfrm>
          <a:prstGeom prst="ellipse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8"/>
          <p:cNvSpPr/>
          <p:nvPr/>
        </p:nvSpPr>
        <p:spPr>
          <a:xfrm>
            <a:off x="7644240" y="33375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9"/>
          <p:cNvSpPr/>
          <p:nvPr/>
        </p:nvSpPr>
        <p:spPr>
          <a:xfrm>
            <a:off x="6940440" y="39135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Intrapersonal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0"/>
          <p:cNvSpPr/>
          <p:nvPr/>
        </p:nvSpPr>
        <p:spPr>
          <a:xfrm>
            <a:off x="6940440" y="4306680"/>
            <a:ext cx="1938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Dice 'tengo miedo', regula emociones, se conoce.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1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2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GARDNER · ACLARACIONES NECESARIAS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7200" y="80460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Lo que Gardner no dice.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365760" y="1444680"/>
            <a:ext cx="8412120" cy="74952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530280" y="1481400"/>
            <a:ext cx="39315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❌  Cada persona tiene 'su' inteligencia y solo esa.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4572000" y="1609200"/>
            <a:ext cx="360" cy="420480"/>
          </a:xfrm>
          <a:prstGeom prst="line">
            <a:avLst/>
          </a:prstGeom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4645080" y="1481400"/>
            <a:ext cx="4023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Todos tenemos las ocho en distintos grados y combinaciones.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365760" y="2267640"/>
            <a:ext cx="8412120" cy="74952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530280" y="2304360"/>
            <a:ext cx="39315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❌  Las inteligencias son fijas e innatas.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4572000" y="2432160"/>
            <a:ext cx="360" cy="420480"/>
          </a:xfrm>
          <a:prstGeom prst="line">
            <a:avLst/>
          </a:prstGeom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4645080" y="2304360"/>
            <a:ext cx="4023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Se desarrollan con la experiencia, la enseñanza y el contexto.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365760" y="3090600"/>
            <a:ext cx="8412120" cy="74952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530280" y="3127320"/>
            <a:ext cx="39315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❌  Hay que clasificar a los niños en 'tipos' y darles solo actividades de su tipo.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4572000" y="3255120"/>
            <a:ext cx="360" cy="420480"/>
          </a:xfrm>
          <a:prstGeom prst="line">
            <a:avLst/>
          </a:prstGeom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4645080" y="3127320"/>
            <a:ext cx="4023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Hay que diversificar las propuestas para que todos accedan al contenido.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365760" y="3913560"/>
            <a:ext cx="8412120" cy="749520"/>
          </a:xfrm>
          <a:prstGeom prst="rect">
            <a:avLst/>
          </a:prstGeom>
          <a:solidFill>
            <a:srgbClr val="F5F4F0"/>
          </a:solidFill>
          <a:ln w="12700">
            <a:solidFill>
              <a:srgbClr val="DD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530280" y="3950280"/>
            <a:ext cx="393156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❌  Gardner reemplaza a Piaget o Vygotski.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4572000" y="4078080"/>
            <a:ext cx="360" cy="420480"/>
          </a:xfrm>
          <a:prstGeom prst="line">
            <a:avLst/>
          </a:prstGeom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4645080" y="3950280"/>
            <a:ext cx="402300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✓  Describe la diversidad de perfiles, no los mecanismos del aprendizaje.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87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6858000" y="2743200"/>
            <a:ext cx="3657240" cy="365724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-731520" y="-731520"/>
            <a:ext cx="2742840" cy="27428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548640" y="457200"/>
            <a:ext cx="4571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LA SALA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548640" y="822960"/>
            <a:ext cx="7314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Puntos de entrada múltiples: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548640" y="128016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una misma unidad, muchos caminos de acceso</a:t>
            </a: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548640" y="181044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Ejemplo: Unidad sobre los animales del mar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457200" y="2249280"/>
            <a:ext cx="4023000" cy="731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548640" y="22950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Naturalista:  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548640" y="25786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Observar fotos, clasificar por características, explorar un acuario.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457200" y="3072240"/>
            <a:ext cx="4023000" cy="731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548640" y="31179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Musical:  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548640" y="34016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Cantar canciones sobre el mar, escuchar sonidos del océano.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457200" y="3895200"/>
            <a:ext cx="4023000" cy="731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548640" y="3940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Corporal:  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548640" y="4224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Moverse como peces, imitar nados, juego dramático de animales marinos.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4754880" y="2249280"/>
            <a:ext cx="4023000" cy="731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4846320" y="22950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Espacial:  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4846320" y="25786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Dibujar el fondo del mar, armar maquetas, ver documentales.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4754880" y="3072240"/>
            <a:ext cx="4023000" cy="731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4846320" y="31179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Interpersonal:  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4846320" y="34016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Trabajo en grupos para investigar distintos animales y compartir.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1"/>
          <p:cNvSpPr/>
          <p:nvPr/>
        </p:nvSpPr>
        <p:spPr>
          <a:xfrm>
            <a:off x="4754880" y="3895200"/>
            <a:ext cx="4023000" cy="731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4846320" y="39409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Lingüística:  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4846320" y="4224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E8D1"/>
                </a:solidFill>
                <a:effectLst/>
                <a:uFillTx/>
                <a:latin typeface="Calibri"/>
                <a:ea typeface="Calibri"/>
              </a:rPr>
              <a:t>Escuchar cuentos, aprender nombres, inventar historias de animales.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GARDNER · DIÁLOGO CON LAS TEORÍAS DE LA UNIDAD II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457200" y="804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Las inteligencias múltiples no están solas.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320040" y="1417320"/>
            <a:ext cx="4114440" cy="1535760"/>
          </a:xfrm>
          <a:prstGeom prst="rect">
            <a:avLst/>
          </a:prstGeom>
          <a:solidFill>
            <a:srgbClr val="F5F4F0"/>
          </a:solidFill>
          <a:ln w="254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320040" y="1417320"/>
            <a:ext cx="4114440" cy="5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457200" y="152712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BRUNER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457200" y="1911240"/>
            <a:ext cx="3840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Los modos de representación (enactivo, icónico, simbólico) son vías privilegiadas para distintas inteligencias. La corporal opera en el enactivo; la espacial, en el icónico.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320040" y="3081600"/>
            <a:ext cx="4114440" cy="1535760"/>
          </a:xfrm>
          <a:prstGeom prst="rect">
            <a:avLst/>
          </a:prstGeom>
          <a:solidFill>
            <a:srgbClr val="F5F4F0"/>
          </a:solidFill>
          <a:ln w="25400">
            <a:solidFill>
              <a:srgbClr val="C8793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320040" y="3081600"/>
            <a:ext cx="4114440" cy="5436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457200" y="3191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VYGOTSKI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457200" y="3575160"/>
            <a:ext cx="3840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Las inteligencias se desarrollan en interacción social y con mediadores culturales. No emergen en el vacío: dependen del contexto y las personas disponibles.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4663440" y="1417320"/>
            <a:ext cx="4114440" cy="1535760"/>
          </a:xfrm>
          <a:prstGeom prst="rect">
            <a:avLst/>
          </a:prstGeom>
          <a:solidFill>
            <a:srgbClr val="F5F4F0"/>
          </a:solidFill>
          <a:ln w="25400">
            <a:solidFill>
              <a:srgbClr val="5C8A7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2"/>
          <p:cNvSpPr/>
          <p:nvPr/>
        </p:nvSpPr>
        <p:spPr>
          <a:xfrm>
            <a:off x="4663440" y="1417320"/>
            <a:ext cx="4114440" cy="54360"/>
          </a:xfrm>
          <a:prstGeom prst="rect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4800600" y="152712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5C8A70"/>
                </a:solidFill>
                <a:effectLst/>
                <a:uFillTx/>
                <a:latin typeface="Calibri"/>
                <a:ea typeface="Calibri"/>
              </a:rPr>
              <a:t>AUSUBEL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4800600" y="1911240"/>
            <a:ext cx="3840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Anclar contenidos nuevos en la inteligencia dominante del niño aumenta la probabilidad de aprendizaje significativo. Usar la música para aprender matemática, por ejemplo.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4663440" y="3081600"/>
            <a:ext cx="4114440" cy="1535760"/>
          </a:xfrm>
          <a:prstGeom prst="rect">
            <a:avLst/>
          </a:prstGeom>
          <a:solidFill>
            <a:srgbClr val="F5F4F0"/>
          </a:solidFill>
          <a:ln w="25400">
            <a:solidFill>
              <a:srgbClr val="8C3A2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4663440" y="3081600"/>
            <a:ext cx="4114440" cy="54360"/>
          </a:xfrm>
          <a:prstGeom prst="rect">
            <a:avLst/>
          </a:prstGeom>
          <a:solidFill>
            <a:srgbClr val="8C3A2E"/>
          </a:solidFill>
          <a:ln w="12700">
            <a:solidFill>
              <a:srgbClr val="8C3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4800600" y="3191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99" strike="noStrike">
                <a:solidFill>
                  <a:srgbClr val="8C3A2E"/>
                </a:solidFill>
                <a:effectLst/>
                <a:uFillTx/>
                <a:latin typeface="Calibri"/>
                <a:ea typeface="Calibri"/>
              </a:rPr>
              <a:t>NEUROCIENCIAS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4800600" y="3575160"/>
            <a:ext cx="384012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La plasticidad neuronal implica que los perfiles de inteligencia son moldeables. Las ventanas de oportunidad son relevantes para todas las inteligencias.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365760" y="48463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99999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5F4F0"/>
          </a:solidFill>
          <a:ln w="12700">
            <a:solidFill>
              <a:srgbClr val="F5F4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5720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50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CIERRE · INTEGRACIÓN DE LA UNIDAD II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457200" y="7772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Seis enfoques, una pregunta: ¿cómo aprenden los niños?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320040" y="1353240"/>
            <a:ext cx="1919880" cy="4201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393120" y="1389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Teoría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2295000" y="1353240"/>
            <a:ext cx="1919880" cy="42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2368440" y="1389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Motor del aprendizaje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4270320" y="1353240"/>
            <a:ext cx="1919880" cy="4201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4343400" y="13899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 del docente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6245280" y="1353240"/>
            <a:ext cx="1828440" cy="420120"/>
          </a:xfrm>
          <a:prstGeom prst="rect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6318360" y="138996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Concepto clave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320040" y="181044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393120" y="184716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AAAAA"/>
                </a:solidFill>
                <a:effectLst/>
                <a:uFillTx/>
                <a:latin typeface="Calibri"/>
                <a:ea typeface="Calibri"/>
              </a:rPr>
              <a:t>Conductismo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2295000" y="181044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2368440" y="184716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Refuerzo y castigo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5"/>
          <p:cNvSpPr/>
          <p:nvPr/>
        </p:nvSpPr>
        <p:spPr>
          <a:xfrm>
            <a:off x="4270320" y="181044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4343400" y="184716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Moldea la conducta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6245280" y="1810440"/>
            <a:ext cx="182844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6318360" y="184716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Condicionamiento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9"/>
          <p:cNvSpPr/>
          <p:nvPr/>
        </p:nvSpPr>
        <p:spPr>
          <a:xfrm>
            <a:off x="320040" y="234072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393120" y="23774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Cognitivismo / Ausubel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1"/>
          <p:cNvSpPr/>
          <p:nvPr/>
        </p:nvSpPr>
        <p:spPr>
          <a:xfrm>
            <a:off x="2295000" y="234072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2"/>
          <p:cNvSpPr/>
          <p:nvPr/>
        </p:nvSpPr>
        <p:spPr>
          <a:xfrm>
            <a:off x="2368440" y="23774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Conocimiento previo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3"/>
          <p:cNvSpPr/>
          <p:nvPr/>
        </p:nvSpPr>
        <p:spPr>
          <a:xfrm>
            <a:off x="4270320" y="234072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4"/>
          <p:cNvSpPr/>
          <p:nvPr/>
        </p:nvSpPr>
        <p:spPr>
          <a:xfrm>
            <a:off x="4343400" y="23774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Activa saberes, conecta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5"/>
          <p:cNvSpPr/>
          <p:nvPr/>
        </p:nvSpPr>
        <p:spPr>
          <a:xfrm>
            <a:off x="6245280" y="2340720"/>
            <a:ext cx="182844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6"/>
          <p:cNvSpPr/>
          <p:nvPr/>
        </p:nvSpPr>
        <p:spPr>
          <a:xfrm>
            <a:off x="6318360" y="237744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Aprendizaje significativo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7"/>
          <p:cNvSpPr/>
          <p:nvPr/>
        </p:nvSpPr>
        <p:spPr>
          <a:xfrm>
            <a:off x="320040" y="287136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8"/>
          <p:cNvSpPr/>
          <p:nvPr/>
        </p:nvSpPr>
        <p:spPr>
          <a:xfrm>
            <a:off x="393120" y="29077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Piaget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9"/>
          <p:cNvSpPr/>
          <p:nvPr/>
        </p:nvSpPr>
        <p:spPr>
          <a:xfrm>
            <a:off x="2295000" y="287136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0"/>
          <p:cNvSpPr/>
          <p:nvPr/>
        </p:nvSpPr>
        <p:spPr>
          <a:xfrm>
            <a:off x="2368440" y="29077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Conflicto cognitivo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1"/>
          <p:cNvSpPr/>
          <p:nvPr/>
        </p:nvSpPr>
        <p:spPr>
          <a:xfrm>
            <a:off x="4270320" y="287136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2"/>
          <p:cNvSpPr/>
          <p:nvPr/>
        </p:nvSpPr>
        <p:spPr>
          <a:xfrm>
            <a:off x="4343400" y="29077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Provoca desequilibrio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3"/>
          <p:cNvSpPr/>
          <p:nvPr/>
        </p:nvSpPr>
        <p:spPr>
          <a:xfrm>
            <a:off x="6245280" y="2871360"/>
            <a:ext cx="182844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4"/>
          <p:cNvSpPr/>
          <p:nvPr/>
        </p:nvSpPr>
        <p:spPr>
          <a:xfrm>
            <a:off x="6318360" y="290772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Asimil. / Acom.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5"/>
          <p:cNvSpPr/>
          <p:nvPr/>
        </p:nvSpPr>
        <p:spPr>
          <a:xfrm>
            <a:off x="320040" y="340164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6"/>
          <p:cNvSpPr/>
          <p:nvPr/>
        </p:nvSpPr>
        <p:spPr>
          <a:xfrm>
            <a:off x="393120" y="343800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C8A70"/>
                </a:solidFill>
                <a:effectLst/>
                <a:uFillTx/>
                <a:latin typeface="Calibri"/>
                <a:ea typeface="Calibri"/>
              </a:rPr>
              <a:t>Vygotski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7"/>
          <p:cNvSpPr/>
          <p:nvPr/>
        </p:nvSpPr>
        <p:spPr>
          <a:xfrm>
            <a:off x="2295000" y="340164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8"/>
          <p:cNvSpPr/>
          <p:nvPr/>
        </p:nvSpPr>
        <p:spPr>
          <a:xfrm>
            <a:off x="2368440" y="343800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Interacción social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9"/>
          <p:cNvSpPr/>
          <p:nvPr/>
        </p:nvSpPr>
        <p:spPr>
          <a:xfrm>
            <a:off x="4270320" y="340164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0"/>
          <p:cNvSpPr/>
          <p:nvPr/>
        </p:nvSpPr>
        <p:spPr>
          <a:xfrm>
            <a:off x="4343400" y="343800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Andamia en la ZDP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1"/>
          <p:cNvSpPr/>
          <p:nvPr/>
        </p:nvSpPr>
        <p:spPr>
          <a:xfrm>
            <a:off x="6245280" y="3401640"/>
            <a:ext cx="182844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2"/>
          <p:cNvSpPr/>
          <p:nvPr/>
        </p:nvSpPr>
        <p:spPr>
          <a:xfrm>
            <a:off x="6318360" y="343800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ZDP / Andamiaje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3"/>
          <p:cNvSpPr/>
          <p:nvPr/>
        </p:nvSpPr>
        <p:spPr>
          <a:xfrm>
            <a:off x="320040" y="393192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4"/>
          <p:cNvSpPr/>
          <p:nvPr/>
        </p:nvSpPr>
        <p:spPr>
          <a:xfrm>
            <a:off x="393120" y="39686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C3A2E"/>
                </a:solidFill>
                <a:effectLst/>
                <a:uFillTx/>
                <a:latin typeface="Calibri"/>
                <a:ea typeface="Calibri"/>
              </a:rPr>
              <a:t>Bruner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5"/>
          <p:cNvSpPr/>
          <p:nvPr/>
        </p:nvSpPr>
        <p:spPr>
          <a:xfrm>
            <a:off x="2295000" y="393192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6"/>
          <p:cNvSpPr/>
          <p:nvPr/>
        </p:nvSpPr>
        <p:spPr>
          <a:xfrm>
            <a:off x="2368440" y="39686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Descubrimiento activo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7"/>
          <p:cNvSpPr/>
          <p:nvPr/>
        </p:nvSpPr>
        <p:spPr>
          <a:xfrm>
            <a:off x="4270320" y="3931920"/>
            <a:ext cx="191988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8"/>
          <p:cNvSpPr/>
          <p:nvPr/>
        </p:nvSpPr>
        <p:spPr>
          <a:xfrm>
            <a:off x="4343400" y="396864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Facilita, no da respuesta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9"/>
          <p:cNvSpPr/>
          <p:nvPr/>
        </p:nvSpPr>
        <p:spPr>
          <a:xfrm>
            <a:off x="6245280" y="3931920"/>
            <a:ext cx="1828440" cy="493560"/>
          </a:xfrm>
          <a:prstGeom prst="rect">
            <a:avLst/>
          </a:prstGeom>
          <a:solidFill>
            <a:srgbClr val="F5F4F0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0"/>
          <p:cNvSpPr/>
          <p:nvPr/>
        </p:nvSpPr>
        <p:spPr>
          <a:xfrm>
            <a:off x="6318360" y="396864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Aprendizaje por desc.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51"/>
          <p:cNvSpPr/>
          <p:nvPr/>
        </p:nvSpPr>
        <p:spPr>
          <a:xfrm>
            <a:off x="320040" y="446220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2"/>
          <p:cNvSpPr/>
          <p:nvPr/>
        </p:nvSpPr>
        <p:spPr>
          <a:xfrm>
            <a:off x="393120" y="44989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Gardner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53"/>
          <p:cNvSpPr/>
          <p:nvPr/>
        </p:nvSpPr>
        <p:spPr>
          <a:xfrm>
            <a:off x="2295000" y="446220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4"/>
          <p:cNvSpPr/>
          <p:nvPr/>
        </p:nvSpPr>
        <p:spPr>
          <a:xfrm>
            <a:off x="2368440" y="44989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Diversidad de perfiles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5"/>
          <p:cNvSpPr/>
          <p:nvPr/>
        </p:nvSpPr>
        <p:spPr>
          <a:xfrm>
            <a:off x="4270320" y="4462200"/>
            <a:ext cx="191988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6"/>
          <p:cNvSpPr/>
          <p:nvPr/>
        </p:nvSpPr>
        <p:spPr>
          <a:xfrm>
            <a:off x="4343400" y="449892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Diversifica propuestas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7"/>
          <p:cNvSpPr/>
          <p:nvPr/>
        </p:nvSpPr>
        <p:spPr>
          <a:xfrm>
            <a:off x="6245280" y="4462200"/>
            <a:ext cx="182844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8"/>
          <p:cNvSpPr/>
          <p:nvPr/>
        </p:nvSpPr>
        <p:spPr>
          <a:xfrm>
            <a:off x="6318360" y="4498920"/>
            <a:ext cx="1737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Inteligencias múltiples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9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57200" y="3200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C5C5C"/>
                </a:solidFill>
                <a:effectLst/>
                <a:uFillTx/>
                <a:latin typeface="Calibri"/>
                <a:ea typeface="Calibri"/>
              </a:rPr>
              <a:t>PRIMER PARCIAL ESCRITO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57200" y="7131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¿Qué evalúa y cómo prepararse?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365760" y="1334880"/>
            <a:ext cx="8412120" cy="8956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365760" y="1334880"/>
            <a:ext cx="63720" cy="895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567000" y="138996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85042"/>
                </a:solidFill>
                <a:effectLst/>
                <a:uFillTx/>
                <a:latin typeface="Calibri"/>
                <a:ea typeface="Calibri"/>
              </a:rPr>
              <a:t>Comprensión conceptual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567000" y="173736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Explicar con tus palabras qué propone cada teoría, sus conceptos clave, en qué se diferencia de las demás.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365760" y="2322720"/>
            <a:ext cx="8412120" cy="895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A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365760" y="2322720"/>
            <a:ext cx="63720" cy="89568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567000" y="237744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Articulación teoría–práctica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567000" y="272484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Analizar una situación de sala desde al menos dos marcos teóricos. Leer la práctica con las herramientas de las teorías.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365760" y="3310200"/>
            <a:ext cx="8412120" cy="895680"/>
          </a:xfrm>
          <a:prstGeom prst="rect">
            <a:avLst/>
          </a:prstGeom>
          <a:solidFill>
            <a:srgbClr val="FFFFFF"/>
          </a:solidFill>
          <a:ln w="25400">
            <a:solidFill>
              <a:srgbClr val="5C8A70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365760" y="3310200"/>
            <a:ext cx="63720" cy="895680"/>
          </a:xfrm>
          <a:prstGeom prst="rect">
            <a:avLst/>
          </a:prstGeom>
          <a:solidFill>
            <a:srgbClr val="5C8A70"/>
          </a:solidFill>
          <a:ln w="12700">
            <a:solidFill>
              <a:srgbClr val="5C8A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567000" y="336492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C8A70"/>
                </a:solidFill>
                <a:effectLst/>
                <a:uFillTx/>
                <a:latin typeface="Calibri"/>
                <a:ea typeface="Calibri"/>
              </a:rPr>
              <a:t>Reflexión docente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567000" y="371232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C2C2C"/>
                </a:solidFill>
                <a:effectLst/>
                <a:uFillTx/>
                <a:latin typeface="Calibri"/>
                <a:ea typeface="Calibri"/>
              </a:rPr>
              <a:t>Tomar posición fundamentada sobre qué implica cada enfoque para la práctica del nivel inicial.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4"/>
          <p:cNvSpPr/>
          <p:nvPr/>
        </p:nvSpPr>
        <p:spPr>
          <a:xfrm>
            <a:off x="365760" y="4297680"/>
            <a:ext cx="8412120" cy="594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502920" y="43617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No se evalúa la reproducción de definiciones: se evalúa la comprensión, la articulación y la reflexión.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8595360" y="484632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-731520" y="-731520"/>
            <a:ext cx="3657240" cy="3657240"/>
          </a:xfrm>
          <a:prstGeom prst="ellipse">
            <a:avLst/>
          </a:prstGeom>
          <a:solidFill>
            <a:srgbClr val="B85042">
              <a:alpha val="16000"/>
            </a:srgbClr>
          </a:solidFill>
          <a:ln w="12700">
            <a:solidFill>
              <a:srgbClr val="B85042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6858000" y="2743200"/>
            <a:ext cx="3200040" cy="3200040"/>
          </a:xfrm>
          <a:prstGeom prst="ellipse">
            <a:avLst/>
          </a:prstGeom>
          <a:solidFill>
            <a:srgbClr val="C8793A">
              <a:alpha val="16000"/>
            </a:srgbClr>
          </a:solidFill>
          <a:ln w="12700">
            <a:solidFill>
              <a:srgbClr val="C8793A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7772400" y="182880"/>
            <a:ext cx="1828440" cy="1828440"/>
          </a:xfrm>
          <a:prstGeom prst="ellipse">
            <a:avLst/>
          </a:prstGeom>
          <a:solidFill>
            <a:srgbClr val="8BAF95">
              <a:alpha val="14000"/>
            </a:srgbClr>
          </a:solidFill>
          <a:ln w="12700">
            <a:solidFill>
              <a:srgbClr val="8BAF95">
                <a:alpha val="1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548640" y="32004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8793A"/>
                </a:solidFill>
                <a:effectLst/>
                <a:uFillTx/>
                <a:latin typeface="Calibri"/>
                <a:ea typeface="Calibri"/>
              </a:rPr>
              <a:t>SÍNTESIS · CLASE 8 · CIERRE UNIDAD II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548640" y="658440"/>
            <a:ext cx="7314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Ideas para llevarse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457200" y="1243440"/>
            <a:ext cx="54360" cy="42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658440" y="12434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Gardner: no hay una inteligencia única. Hay al menos ocho capacidades relativamente independientes.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457200" y="1920240"/>
            <a:ext cx="54360" cy="4201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658440" y="19202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Todos los niños tienen las ocho inteligencias en distintos grados: los perfiles son singulares, no tipos.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9"/>
          <p:cNvSpPr/>
          <p:nvPr/>
        </p:nvSpPr>
        <p:spPr>
          <a:xfrm>
            <a:off x="457200" y="2597040"/>
            <a:ext cx="54360" cy="42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658440" y="25970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 respuesta pedagógica es diversificar las propuestas: ofrecer puntos de entrada múltiples.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457200" y="3273480"/>
            <a:ext cx="54360" cy="420120"/>
          </a:xfrm>
          <a:prstGeom prst="rect">
            <a:avLst/>
          </a:prstGeom>
          <a:solidFill>
            <a:srgbClr val="C8793A"/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658440" y="32734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Gardner dialoga con Bruner (modos), Vygotski (mediación), Ausubel (significado) y las neurociencias (plasticidad).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3"/>
          <p:cNvSpPr/>
          <p:nvPr/>
        </p:nvSpPr>
        <p:spPr>
          <a:xfrm>
            <a:off x="457200" y="3950280"/>
            <a:ext cx="54360" cy="42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658440" y="3950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aprendizaje es siempre activo, siempre situado, siempre singular. Ninguna teoría lo agota sola.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365760" y="4617720"/>
            <a:ext cx="8412120" cy="402120"/>
          </a:xfrm>
          <a:prstGeom prst="rect">
            <a:avLst/>
          </a:prstGeom>
          <a:solidFill>
            <a:srgbClr val="C8793A">
              <a:alpha val="80000"/>
            </a:srgbClr>
          </a:solidFill>
          <a:ln w="12700">
            <a:solidFill>
              <a:srgbClr val="C879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502920" y="4654440"/>
            <a:ext cx="8229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Próxima unidad: motivación, autoestima, resiliencia y vínculo pedagógico.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2026-05-02T13:08:05Z</dcterms:created>
  <dc:creator>PptxGenJS</dc:creator>
  <dc:description/>
  <dc:language>es-AR</dc:language>
  <cp:lastModifiedBy/>
  <dcterms:modified xsi:type="dcterms:W3CDTF">2026-05-29T09:39:56Z</dcterms:modified>
  <cp:revision>2</cp:revision>
  <dc:subject>PptxGenJS Presentation</dc:subject>
  <dc:title>Psicología Educacional · Clase 8 · Inteligencias múltiples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