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484B77C-9BD2-4355-A84A-9BAE87DA55E6}" type="slidenum"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82326D-A8D8-45A2-A0C5-1260273740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71D0F-8FC6-4F24-97F4-C243ECF6F5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A6747F-99F3-4C45-8C2F-62166FE978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F5337E-B2C1-40EF-9C85-988141F665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E84946-EE60-4215-AE20-20B4874F3A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1A884B-D2A3-4473-AB8C-15DEE38558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40B449-6B49-4FEF-BF5B-7C1F633D7C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AFB085-0935-4788-9B88-87676B4361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583680" y="3200400"/>
            <a:ext cx="2559960" cy="194292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223760" y="137160"/>
            <a:ext cx="1828440" cy="1828440"/>
          </a:xfrm>
          <a:prstGeom prst="ellipse">
            <a:avLst/>
          </a:prstGeom>
          <a:solidFill>
            <a:srgbClr val="4A7B6F">
              <a:alpha val="15000"/>
            </a:srgbClr>
          </a:solidFill>
          <a:ln w="1905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32004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300" strike="noStrike">
                <a:solidFill>
                  <a:srgbClr val="4A7B6F"/>
                </a:solidFill>
                <a:effectLst/>
                <a:uFillTx/>
                <a:latin typeface="Calibri"/>
                <a:ea typeface="Calibri"/>
              </a:rPr>
              <a:t>PROFESORADO DE EDUCACIÓN INICIAL · 2° AÑO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77724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Clase 6</a:t>
            </a: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1234440"/>
            <a:ext cx="6217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Neurociencias,</a:t>
            </a:r>
            <a:endParaRPr lang="es-A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integración</a:t>
            </a:r>
            <a:endParaRPr lang="es-A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y cierre</a:t>
            </a:r>
            <a:endParaRPr lang="es-A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333756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¿Qué nos dice el cerebro sobre cómo aprendemos?</a:t>
            </a:r>
            <a:endParaRPr lang="es-A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466344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Mora (2013) · Immordino-Yang (2016)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457200" y="730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201" strike="noStrike">
                <a:solidFill>
                  <a:srgbClr val="4A7B6F"/>
                </a:solidFill>
                <a:effectLst/>
                <a:uFillTx/>
                <a:latin typeface="Calibri"/>
                <a:ea typeface="Calibri"/>
              </a:rPr>
              <a:t>ACTIVACIÓN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¿Verdadero o falso?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457200" y="10515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Marcá V o F antes de debatir en plenario: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365760" y="1463040"/>
            <a:ext cx="4205880" cy="1078560"/>
          </a:xfrm>
          <a:prstGeom prst="rect">
            <a:avLst/>
          </a:prstGeom>
          <a:solidFill>
            <a:srgbClr val="FFFFFF"/>
          </a:solidFill>
          <a:ln w="7620">
            <a:solidFill>
              <a:srgbClr val="4A7B6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3931920" y="1463040"/>
            <a:ext cx="639720" cy="1078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3931920" y="1463040"/>
            <a:ext cx="6397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F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475560" y="1536120"/>
            <a:ext cx="63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6B5744"/>
                </a:solidFill>
                <a:effectLst/>
                <a:uFillTx/>
                <a:latin typeface="Georgia"/>
                <a:ea typeface="Georgia"/>
              </a:rPr>
              <a:t>V / F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1170360" y="1554480"/>
            <a:ext cx="26971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Solo usamos el 10% del cerebro.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0"/>
          <p:cNvSpPr/>
          <p:nvPr/>
        </p:nvSpPr>
        <p:spPr>
          <a:xfrm>
            <a:off x="4800600" y="1463040"/>
            <a:ext cx="4205880" cy="1078560"/>
          </a:xfrm>
          <a:prstGeom prst="rect">
            <a:avLst/>
          </a:prstGeom>
          <a:solidFill>
            <a:srgbClr val="FFFFFF"/>
          </a:solidFill>
          <a:ln w="7620">
            <a:solidFill>
              <a:srgbClr val="4A7B6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8366760" y="1463040"/>
            <a:ext cx="639720" cy="107856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8366760" y="1463040"/>
            <a:ext cx="6397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V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4910400" y="1536120"/>
            <a:ext cx="63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6B5744"/>
                </a:solidFill>
                <a:effectLst/>
                <a:uFillTx/>
                <a:latin typeface="Georgia"/>
                <a:ea typeface="Georgia"/>
              </a:rPr>
              <a:t>V / F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5605200" y="1554480"/>
            <a:ext cx="26971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El cerebro infantil es más plástico que el adulto.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365760" y="2633400"/>
            <a:ext cx="4205880" cy="1078560"/>
          </a:xfrm>
          <a:prstGeom prst="rect">
            <a:avLst/>
          </a:prstGeom>
          <a:solidFill>
            <a:srgbClr val="FFFFFF"/>
          </a:solidFill>
          <a:ln w="7620">
            <a:solidFill>
              <a:srgbClr val="4A7B6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6"/>
          <p:cNvSpPr/>
          <p:nvPr/>
        </p:nvSpPr>
        <p:spPr>
          <a:xfrm>
            <a:off x="3931920" y="2633400"/>
            <a:ext cx="639720" cy="1078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3931920" y="2633400"/>
            <a:ext cx="6397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F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475560" y="2706480"/>
            <a:ext cx="63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6B5744"/>
                </a:solidFill>
                <a:effectLst/>
                <a:uFillTx/>
                <a:latin typeface="Georgia"/>
                <a:ea typeface="Georgia"/>
              </a:rPr>
              <a:t>V / F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1170360" y="2724840"/>
            <a:ext cx="26971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El juego no genera aprendizajes cognitivos reales.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0"/>
          <p:cNvSpPr/>
          <p:nvPr/>
        </p:nvSpPr>
        <p:spPr>
          <a:xfrm>
            <a:off x="4800600" y="2633400"/>
            <a:ext cx="4205880" cy="1078560"/>
          </a:xfrm>
          <a:prstGeom prst="rect">
            <a:avLst/>
          </a:prstGeom>
          <a:solidFill>
            <a:srgbClr val="FFFFFF"/>
          </a:solidFill>
          <a:ln w="7620">
            <a:solidFill>
              <a:srgbClr val="4A7B6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1"/>
          <p:cNvSpPr/>
          <p:nvPr/>
        </p:nvSpPr>
        <p:spPr>
          <a:xfrm>
            <a:off x="8366760" y="2633400"/>
            <a:ext cx="639720" cy="1078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2"/>
          <p:cNvSpPr/>
          <p:nvPr/>
        </p:nvSpPr>
        <p:spPr>
          <a:xfrm>
            <a:off x="8366760" y="2633400"/>
            <a:ext cx="6397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F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3"/>
          <p:cNvSpPr/>
          <p:nvPr/>
        </p:nvSpPr>
        <p:spPr>
          <a:xfrm>
            <a:off x="4910400" y="2706480"/>
            <a:ext cx="63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6B5744"/>
                </a:solidFill>
                <a:effectLst/>
                <a:uFillTx/>
                <a:latin typeface="Georgia"/>
                <a:ea typeface="Georgia"/>
              </a:rPr>
              <a:t>V / F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4"/>
          <p:cNvSpPr/>
          <p:nvPr/>
        </p:nvSpPr>
        <p:spPr>
          <a:xfrm>
            <a:off x="5605200" y="2724840"/>
            <a:ext cx="26971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Las emociones interfieren con el aprendizaje.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5"/>
          <p:cNvSpPr/>
          <p:nvPr/>
        </p:nvSpPr>
        <p:spPr>
          <a:xfrm>
            <a:off x="365760" y="3803760"/>
            <a:ext cx="4205880" cy="1078560"/>
          </a:xfrm>
          <a:prstGeom prst="rect">
            <a:avLst/>
          </a:prstGeom>
          <a:solidFill>
            <a:srgbClr val="FFFFFF"/>
          </a:solidFill>
          <a:ln w="7620">
            <a:solidFill>
              <a:srgbClr val="4A7B6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6"/>
          <p:cNvSpPr/>
          <p:nvPr/>
        </p:nvSpPr>
        <p:spPr>
          <a:xfrm>
            <a:off x="3931920" y="3803760"/>
            <a:ext cx="639720" cy="107856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7"/>
          <p:cNvSpPr/>
          <p:nvPr/>
        </p:nvSpPr>
        <p:spPr>
          <a:xfrm>
            <a:off x="3931920" y="3803760"/>
            <a:ext cx="6397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V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8"/>
          <p:cNvSpPr/>
          <p:nvPr/>
        </p:nvSpPr>
        <p:spPr>
          <a:xfrm>
            <a:off x="475560" y="3877200"/>
            <a:ext cx="63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6B5744"/>
                </a:solidFill>
                <a:effectLst/>
                <a:uFillTx/>
                <a:latin typeface="Georgia"/>
                <a:ea typeface="Georgia"/>
              </a:rPr>
              <a:t>V / F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9"/>
          <p:cNvSpPr/>
          <p:nvPr/>
        </p:nvSpPr>
        <p:spPr>
          <a:xfrm>
            <a:off x="1170360" y="3895200"/>
            <a:ext cx="26971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Dormir bien consolida lo aprendido durante el día.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0"/>
          <p:cNvSpPr/>
          <p:nvPr/>
        </p:nvSpPr>
        <p:spPr>
          <a:xfrm>
            <a:off x="4800600" y="3803760"/>
            <a:ext cx="4205880" cy="1078560"/>
          </a:xfrm>
          <a:prstGeom prst="rect">
            <a:avLst/>
          </a:prstGeom>
          <a:solidFill>
            <a:srgbClr val="FFFFFF"/>
          </a:solidFill>
          <a:ln w="7620">
            <a:solidFill>
              <a:srgbClr val="4A7B6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1"/>
          <p:cNvSpPr/>
          <p:nvPr/>
        </p:nvSpPr>
        <p:spPr>
          <a:xfrm>
            <a:off x="8366760" y="3803760"/>
            <a:ext cx="639720" cy="1078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2"/>
          <p:cNvSpPr/>
          <p:nvPr/>
        </p:nvSpPr>
        <p:spPr>
          <a:xfrm>
            <a:off x="8366760" y="3803760"/>
            <a:ext cx="6397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F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3"/>
          <p:cNvSpPr/>
          <p:nvPr/>
        </p:nvSpPr>
        <p:spPr>
          <a:xfrm>
            <a:off x="4910400" y="3877200"/>
            <a:ext cx="63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6B5744"/>
                </a:solidFill>
                <a:effectLst/>
                <a:uFillTx/>
                <a:latin typeface="Georgia"/>
                <a:ea typeface="Georgia"/>
              </a:rPr>
              <a:t>V / F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4"/>
          <p:cNvSpPr/>
          <p:nvPr/>
        </p:nvSpPr>
        <p:spPr>
          <a:xfrm>
            <a:off x="5605200" y="3895200"/>
            <a:ext cx="26971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 inteligencia es fija: se nace inteligente o no.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201" strike="noStrike">
                <a:solidFill>
                  <a:srgbClr val="4A7B6F"/>
                </a:solidFill>
                <a:effectLst/>
                <a:uFillTx/>
                <a:latin typeface="Calibri"/>
                <a:ea typeface="Calibri"/>
              </a:rPr>
              <a:t>CLASE 6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Neurociencias y educación: un diálogo necesario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457200" y="1078920"/>
            <a:ext cx="8229240" cy="868320"/>
          </a:xfrm>
          <a:prstGeom prst="rect">
            <a:avLst/>
          </a:prstGeom>
          <a:solidFill>
            <a:srgbClr val="2C2416"/>
          </a:solidFill>
          <a:ln w="19050">
            <a:solidFill>
              <a:srgbClr val="4A7B6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640080" y="1115640"/>
            <a:ext cx="786348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Neuroeducación: zona de encuentro entre neurociencia, psicología y educación.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(Mora, 2013)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365760" y="2084760"/>
            <a:ext cx="8412120" cy="895680"/>
          </a:xfrm>
          <a:prstGeom prst="rect">
            <a:avLst/>
          </a:prstGeom>
          <a:solidFill>
            <a:srgbClr val="E2EEEB"/>
          </a:solidFill>
          <a:ln w="10160">
            <a:solidFill>
              <a:srgbClr val="4A7B6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365760" y="2084760"/>
            <a:ext cx="502560" cy="89568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365760" y="2084760"/>
            <a:ext cx="50256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1005840" y="215784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¿Qué aportan las neurociencias?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1005840" y="2523600"/>
            <a:ext cx="7634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Conocimiento sobre cómo el cerebro aprende: plasticidad, emoción, memoria, sueño, movimiento.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365760" y="3072240"/>
            <a:ext cx="8412120" cy="895680"/>
          </a:xfrm>
          <a:prstGeom prst="rect">
            <a:avLst/>
          </a:prstGeom>
          <a:solidFill>
            <a:srgbClr val="E2EEEB"/>
          </a:solidFill>
          <a:ln w="10160">
            <a:solidFill>
              <a:srgbClr val="2A6B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2"/>
          <p:cNvSpPr/>
          <p:nvPr/>
        </p:nvSpPr>
        <p:spPr>
          <a:xfrm>
            <a:off x="365760" y="3072240"/>
            <a:ext cx="502560" cy="895680"/>
          </a:xfrm>
          <a:prstGeom prst="rect">
            <a:avLst/>
          </a:prstGeom>
          <a:solidFill>
            <a:srgbClr val="2A6B5F"/>
          </a:solidFill>
          <a:ln w="12700">
            <a:solidFill>
              <a:srgbClr val="2A6B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365760" y="3072240"/>
            <a:ext cx="50256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1005840" y="314568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¿Reemplazan a las teorías psicológicas?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1005840" y="3511440"/>
            <a:ext cx="7634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No. Las complementan. En muchos casos las confirman desde otro nivel de análisis.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365760" y="4060080"/>
            <a:ext cx="8412120" cy="895680"/>
          </a:xfrm>
          <a:prstGeom prst="rect">
            <a:avLst/>
          </a:prstGeom>
          <a:solidFill>
            <a:srgbClr val="E2EEEB"/>
          </a:solidFill>
          <a:ln w="10160">
            <a:solidFill>
              <a:srgbClr val="1A504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7"/>
          <p:cNvSpPr/>
          <p:nvPr/>
        </p:nvSpPr>
        <p:spPr>
          <a:xfrm>
            <a:off x="365760" y="4060080"/>
            <a:ext cx="502560" cy="895680"/>
          </a:xfrm>
          <a:prstGeom prst="rect">
            <a:avLst/>
          </a:prstGeom>
          <a:solidFill>
            <a:srgbClr val="1A5048"/>
          </a:solidFill>
          <a:ln w="12700">
            <a:solidFill>
              <a:srgbClr val="1A50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365760" y="4060080"/>
            <a:ext cx="50256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1005840" y="413316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¿Determinan qué hacer en el aula?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1005840" y="4498920"/>
            <a:ext cx="7634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No como prescripción técnica, sino como marco de comprensión que enriquece la reflexión pedagógica.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201" strike="noStrike">
                <a:solidFill>
                  <a:srgbClr val="4A7B6F"/>
                </a:solidFill>
                <a:effectLst/>
                <a:uFillTx/>
                <a:latin typeface="Calibri"/>
                <a:ea typeface="Calibri"/>
              </a:rPr>
              <a:t>CLASE 6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Plasticidad neuronal y ventanas de oportunidad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457200" y="10972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El cerebro no es una estructura fija: se modifica estructuralmente en función de la experiencia.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365760" y="1572840"/>
            <a:ext cx="8412120" cy="365400"/>
          </a:xfrm>
          <a:prstGeom prst="rect">
            <a:avLst/>
          </a:prstGeom>
          <a:solidFill>
            <a:srgbClr val="E2EEEB"/>
          </a:solidFill>
          <a:ln w="635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365760" y="157284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4A7B6F"/>
                </a:solidFill>
                <a:effectLst/>
                <a:uFillTx/>
                <a:latin typeface="Calibri"/>
                <a:ea typeface="Calibri"/>
              </a:rPr>
              <a:t>PLASTICIDAD CEREBRAL A LO LARGO DE LA VIDA</a:t>
            </a:r>
            <a:endParaRPr lang="es-A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731520" y="2331720"/>
            <a:ext cx="1462680" cy="164556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731520" y="400500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0-3 años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9"/>
          <p:cNvSpPr/>
          <p:nvPr/>
        </p:nvSpPr>
        <p:spPr>
          <a:xfrm>
            <a:off x="2304360" y="2606040"/>
            <a:ext cx="1462680" cy="1371240"/>
          </a:xfrm>
          <a:prstGeom prst="rect">
            <a:avLst/>
          </a:prstGeom>
          <a:solidFill>
            <a:srgbClr val="5A9B8A"/>
          </a:solidFill>
          <a:ln w="12700">
            <a:solidFill>
              <a:srgbClr val="5A9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2304360" y="400500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3-6 años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3877200" y="2990160"/>
            <a:ext cx="1462680" cy="987120"/>
          </a:xfrm>
          <a:prstGeom prst="rect">
            <a:avLst/>
          </a:prstGeom>
          <a:solidFill>
            <a:srgbClr val="6AABA0"/>
          </a:solidFill>
          <a:ln w="12700">
            <a:solidFill>
              <a:srgbClr val="6AAB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3877200" y="400500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6-12 años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3"/>
          <p:cNvSpPr/>
          <p:nvPr/>
        </p:nvSpPr>
        <p:spPr>
          <a:xfrm>
            <a:off x="5449680" y="3264480"/>
            <a:ext cx="1462680" cy="712800"/>
          </a:xfrm>
          <a:prstGeom prst="rect">
            <a:avLst/>
          </a:prstGeom>
          <a:solidFill>
            <a:srgbClr val="6B5744"/>
          </a:solidFill>
          <a:ln w="12700">
            <a:solidFill>
              <a:srgbClr val="6B5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5449680" y="400500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Adolescencia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7022520" y="3483720"/>
            <a:ext cx="1462680" cy="493560"/>
          </a:xfrm>
          <a:prstGeom prst="rect">
            <a:avLst/>
          </a:prstGeom>
          <a:solidFill>
            <a:srgbClr val="9AABA8"/>
          </a:solidFill>
          <a:ln w="12700">
            <a:solidFill>
              <a:srgbClr val="9AA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7022520" y="400500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Adultez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7"/>
          <p:cNvSpPr/>
          <p:nvPr/>
        </p:nvSpPr>
        <p:spPr>
          <a:xfrm>
            <a:off x="548640" y="3977640"/>
            <a:ext cx="8229600" cy="360"/>
          </a:xfrm>
          <a:prstGeom prst="line">
            <a:avLst/>
          </a:prstGeom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8"/>
          <p:cNvSpPr/>
          <p:nvPr/>
        </p:nvSpPr>
        <p:spPr>
          <a:xfrm>
            <a:off x="365760" y="4480560"/>
            <a:ext cx="8412120" cy="566640"/>
          </a:xfrm>
          <a:prstGeom prst="rect">
            <a:avLst/>
          </a:prstGeom>
          <a:solidFill>
            <a:srgbClr val="E2EEEB"/>
          </a:solidFill>
          <a:ln w="1016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9"/>
          <p:cNvSpPr/>
          <p:nvPr/>
        </p:nvSpPr>
        <p:spPr>
          <a:xfrm>
            <a:off x="548640" y="451728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El nivel inicial (0-6 años) es el período de mayor plasticidad de toda la vida. Las experiencias en el jardín tienen consecuencias neuronales duraderas.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201" strike="noStrike">
                <a:solidFill>
                  <a:srgbClr val="4A7B6F"/>
                </a:solidFill>
                <a:effectLst/>
                <a:uFillTx/>
                <a:latin typeface="Calibri"/>
                <a:ea typeface="Calibri"/>
              </a:rPr>
              <a:t>CLASE 6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Emoción y aprendizaje (Immordino-Yang, 2016)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457200" y="1078920"/>
            <a:ext cx="8229240" cy="804240"/>
          </a:xfrm>
          <a:prstGeom prst="rect">
            <a:avLst/>
          </a:prstGeom>
          <a:solidFill>
            <a:srgbClr val="2C2416"/>
          </a:solidFill>
          <a:ln w="15240">
            <a:solidFill>
              <a:srgbClr val="4A7B6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640080" y="111564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"Las emociones son condición necesaria del aprendizaje: sin el marcador emocional que indica que algo importa, el cerebro no consolida la información."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6492240" y="192024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Immordino-Yang, 2016</a:t>
            </a:r>
            <a:endParaRPr lang="es-A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365760" y="2286000"/>
            <a:ext cx="8412120" cy="840960"/>
          </a:xfrm>
          <a:prstGeom prst="rect">
            <a:avLst/>
          </a:prstGeom>
          <a:solidFill>
            <a:srgbClr val="E2EEEB"/>
          </a:solidFill>
          <a:ln w="10160">
            <a:solidFill>
              <a:srgbClr val="4A7B6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365760" y="2286000"/>
            <a:ext cx="502560" cy="84096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365760" y="2286000"/>
            <a:ext cx="5025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◆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1005840" y="235008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Emoción positiva — aprendemos lo que nos importa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1005840" y="272484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El interés, la curiosidad, la sorpresa y el placer del descubrimiento no son condimentos: son parte del mecanismo del aprendizaje.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2"/>
          <p:cNvSpPr/>
          <p:nvPr/>
        </p:nvSpPr>
        <p:spPr>
          <a:xfrm>
            <a:off x="365760" y="3218760"/>
            <a:ext cx="8412120" cy="840960"/>
          </a:xfrm>
          <a:prstGeom prst="rect">
            <a:avLst/>
          </a:prstGeom>
          <a:solidFill>
            <a:srgbClr val="FBF0EE"/>
          </a:solidFill>
          <a:ln w="10160">
            <a:solidFill>
              <a:srgbClr val="B8504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365760" y="3218760"/>
            <a:ext cx="502560" cy="840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4"/>
          <p:cNvSpPr/>
          <p:nvPr/>
        </p:nvSpPr>
        <p:spPr>
          <a:xfrm>
            <a:off x="365760" y="3218760"/>
            <a:ext cx="5025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◆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1005840" y="328284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Estrés crónico — enemigo del aprendizaje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1005840" y="365760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El cortisol sostenido daña el hipocampo, estructura clave para la formación de memorias. Un niño con miedo tiene comprometida su capacidad de aprender.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7"/>
          <p:cNvSpPr/>
          <p:nvPr/>
        </p:nvSpPr>
        <p:spPr>
          <a:xfrm>
            <a:off x="365760" y="4151520"/>
            <a:ext cx="8412120" cy="840960"/>
          </a:xfrm>
          <a:prstGeom prst="rect">
            <a:avLst/>
          </a:prstGeom>
          <a:solidFill>
            <a:srgbClr val="E2EEEB"/>
          </a:solidFill>
          <a:ln w="10160">
            <a:solidFill>
              <a:srgbClr val="2A6B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8"/>
          <p:cNvSpPr/>
          <p:nvPr/>
        </p:nvSpPr>
        <p:spPr>
          <a:xfrm>
            <a:off x="365760" y="4151520"/>
            <a:ext cx="502560" cy="840960"/>
          </a:xfrm>
          <a:prstGeom prst="rect">
            <a:avLst/>
          </a:prstGeom>
          <a:solidFill>
            <a:srgbClr val="2A6B5F"/>
          </a:solidFill>
          <a:ln w="12700">
            <a:solidFill>
              <a:srgbClr val="2A6B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365760" y="4151520"/>
            <a:ext cx="5025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◆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1005840" y="421524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El clima emocional del aula no es secundario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1"/>
          <p:cNvSpPr/>
          <p:nvPr/>
        </p:nvSpPr>
        <p:spPr>
          <a:xfrm>
            <a:off x="1005840" y="459036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Una sala donde el error es seguro, el vínculo es predecible y el niño se siente aceptado es una sala con condiciones neurológicas para aprender.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201" strike="noStrike">
                <a:solidFill>
                  <a:srgbClr val="4A7B6F"/>
                </a:solidFill>
                <a:effectLst/>
                <a:uFillTx/>
                <a:latin typeface="Calibri"/>
                <a:ea typeface="Calibri"/>
              </a:rPr>
              <a:t>CLASE 6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Sueño, movimiento y aprendizaje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365760" y="1078920"/>
            <a:ext cx="4160160" cy="3840120"/>
          </a:xfrm>
          <a:prstGeom prst="rect">
            <a:avLst/>
          </a:prstGeom>
          <a:solidFill>
            <a:srgbClr val="E2EEEB"/>
          </a:solidFill>
          <a:ln w="12700">
            <a:solidFill>
              <a:srgbClr val="4A7B6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5"/>
          <p:cNvSpPr/>
          <p:nvPr/>
        </p:nvSpPr>
        <p:spPr>
          <a:xfrm>
            <a:off x="365760" y="1078920"/>
            <a:ext cx="4160160" cy="43848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502920" y="1078920"/>
            <a:ext cx="3885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 SUEÑO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502920" y="1591200"/>
            <a:ext cx="3885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Durante el sueño, el cerebro consolida lo aprendido durante la vigilia: las conexiones sinápticas formadas durante el día se estabilizan y organizan.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8"/>
          <p:cNvSpPr/>
          <p:nvPr/>
        </p:nvSpPr>
        <p:spPr>
          <a:xfrm>
            <a:off x="548640" y="2880360"/>
            <a:ext cx="3749040" cy="360"/>
          </a:xfrm>
          <a:prstGeom prst="line">
            <a:avLst/>
          </a:prstGeom>
          <a:ln w="1016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502920" y="2953440"/>
            <a:ext cx="38858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Un niño que duerme poco no solo está cansado: su cerebro no terminó el proceso de consolidación del aprendizaje. Las rutinas de sueño en la infancia tienen consecuencias cognitivas directas.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0"/>
          <p:cNvSpPr/>
          <p:nvPr/>
        </p:nvSpPr>
        <p:spPr>
          <a:xfrm>
            <a:off x="4754880" y="1078920"/>
            <a:ext cx="4160160" cy="3840120"/>
          </a:xfrm>
          <a:prstGeom prst="rect">
            <a:avLst/>
          </a:prstGeom>
          <a:solidFill>
            <a:srgbClr val="E4EFE8"/>
          </a:solidFill>
          <a:ln w="1270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1"/>
          <p:cNvSpPr/>
          <p:nvPr/>
        </p:nvSpPr>
        <p:spPr>
          <a:xfrm>
            <a:off x="4754880" y="1078920"/>
            <a:ext cx="4160160" cy="43848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4892040" y="1078920"/>
            <a:ext cx="3885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 MOVIMIENTO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4892040" y="1591200"/>
            <a:ext cx="3885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El movimiento activa el cerebelo y mejora el flujo sanguíneo cerebral, con efectos positivos sobre la atención y el aprendizaje.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4937760" y="2880360"/>
            <a:ext cx="3749040" cy="360"/>
          </a:xfrm>
          <a:prstGeom prst="line">
            <a:avLst/>
          </a:prstGeom>
          <a:ln w="1016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5"/>
          <p:cNvSpPr/>
          <p:nvPr/>
        </p:nvSpPr>
        <p:spPr>
          <a:xfrm>
            <a:off x="4892040" y="2953440"/>
            <a:ext cx="38858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Mantener niños quietos y sentados para 'concentrarse mejor' contradice lo que sabemos sobre el cerebro en desarrollo. El juego motor no es tiempo perdido: es aprendizaje con base neurológica.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457200" y="730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201" strike="noStrike">
                <a:solidFill>
                  <a:srgbClr val="4A7B6F"/>
                </a:solidFill>
                <a:effectLst/>
                <a:uFillTx/>
                <a:latin typeface="Calibri"/>
                <a:ea typeface="Calibri"/>
              </a:rPr>
              <a:t>CLASE 6 — INTEGRACIÓN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Las teorías y las neurociencias: puntos de encuentro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457200" y="107892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Las neurociencias no reemplazan a las teorías psicológicas: en muchos casos las confirman desde otro nivel de análisis.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365760" y="1572840"/>
            <a:ext cx="2285640" cy="34704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2697480" y="1572840"/>
            <a:ext cx="3200040" cy="34704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5943600" y="1572840"/>
            <a:ext cx="2834280" cy="34704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365760" y="15728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Teoría</a:t>
            </a:r>
            <a:endParaRPr lang="es-A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2697480" y="157284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Punto de contacto con neurociencias</a:t>
            </a:r>
            <a:endParaRPr lang="es-A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5943600" y="157284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Tensión o límite</a:t>
            </a:r>
            <a:endParaRPr lang="es-A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1"/>
          <p:cNvSpPr/>
          <p:nvPr/>
        </p:nvSpPr>
        <p:spPr>
          <a:xfrm>
            <a:off x="365760" y="1993320"/>
            <a:ext cx="2285640" cy="658080"/>
          </a:xfrm>
          <a:prstGeom prst="rect">
            <a:avLst/>
          </a:prstGeom>
          <a:solidFill>
            <a:srgbClr val="F5EDD8"/>
          </a:solidFill>
          <a:ln w="635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2"/>
          <p:cNvSpPr/>
          <p:nvPr/>
        </p:nvSpPr>
        <p:spPr>
          <a:xfrm>
            <a:off x="2697480" y="1993320"/>
            <a:ext cx="3200040" cy="658080"/>
          </a:xfrm>
          <a:prstGeom prst="rect">
            <a:avLst/>
          </a:prstGeom>
          <a:solidFill>
            <a:srgbClr val="FAF7F2"/>
          </a:solidFill>
          <a:ln w="381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5943600" y="1993320"/>
            <a:ext cx="2834280" cy="658080"/>
          </a:xfrm>
          <a:prstGeom prst="rect">
            <a:avLst/>
          </a:prstGeom>
          <a:solidFill>
            <a:srgbClr val="FAF7F2"/>
          </a:solidFill>
          <a:ln w="381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475560" y="2039040"/>
            <a:ext cx="2057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8860B"/>
                </a:solidFill>
                <a:effectLst/>
                <a:uFillTx/>
                <a:latin typeface="Georgia"/>
                <a:ea typeface="Georgia"/>
              </a:rPr>
              <a:t>Conductismo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2807280" y="2039040"/>
            <a:ext cx="2971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Los mecanismos de refuerzo tienen correlatos en los circuitos de recompensa (dopamina).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6053400" y="2039040"/>
            <a:ext cx="2605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No explica comprensión ni procesos mentales complejos.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365760" y="2724840"/>
            <a:ext cx="2285640" cy="658080"/>
          </a:xfrm>
          <a:prstGeom prst="rect">
            <a:avLst/>
          </a:prstGeom>
          <a:solidFill>
            <a:srgbClr val="E8F0F8"/>
          </a:solidFill>
          <a:ln w="6350">
            <a:solidFill>
              <a:srgbClr val="5B8D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2697480" y="2724840"/>
            <a:ext cx="3200040" cy="658080"/>
          </a:xfrm>
          <a:prstGeom prst="rect">
            <a:avLst/>
          </a:prstGeom>
          <a:solidFill>
            <a:srgbClr val="FFFFFF"/>
          </a:solidFill>
          <a:ln w="3810">
            <a:solidFill>
              <a:srgbClr val="5B8D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9"/>
          <p:cNvSpPr/>
          <p:nvPr/>
        </p:nvSpPr>
        <p:spPr>
          <a:xfrm>
            <a:off x="5943600" y="2724840"/>
            <a:ext cx="2834280" cy="658080"/>
          </a:xfrm>
          <a:prstGeom prst="rect">
            <a:avLst/>
          </a:prstGeom>
          <a:solidFill>
            <a:srgbClr val="FFFFFF"/>
          </a:solidFill>
          <a:ln w="3810">
            <a:solidFill>
              <a:srgbClr val="5B8D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475560" y="2770560"/>
            <a:ext cx="2057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B8DB8"/>
                </a:solidFill>
                <a:effectLst/>
                <a:uFillTx/>
                <a:latin typeface="Georgia"/>
                <a:ea typeface="Georgia"/>
              </a:rPr>
              <a:t>Cognitivismo (Ausubel)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2807280" y="2770560"/>
            <a:ext cx="2971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Activar conocimientos previos reduce la carga en la memoria de trabajo y facilita la consolidación.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2"/>
          <p:cNvSpPr/>
          <p:nvPr/>
        </p:nvSpPr>
        <p:spPr>
          <a:xfrm>
            <a:off x="6053400" y="2770560"/>
            <a:ext cx="2605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La metáfora computacional subestima el rol de las emociones.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3"/>
          <p:cNvSpPr/>
          <p:nvPr/>
        </p:nvSpPr>
        <p:spPr>
          <a:xfrm>
            <a:off x="365760" y="3456360"/>
            <a:ext cx="2285640" cy="658080"/>
          </a:xfrm>
          <a:prstGeom prst="rect">
            <a:avLst/>
          </a:prstGeom>
          <a:solidFill>
            <a:srgbClr val="DCE8F2"/>
          </a:solidFill>
          <a:ln w="6350">
            <a:solidFill>
              <a:srgbClr val="3A6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4"/>
          <p:cNvSpPr/>
          <p:nvPr/>
        </p:nvSpPr>
        <p:spPr>
          <a:xfrm>
            <a:off x="2697480" y="3456360"/>
            <a:ext cx="3200040" cy="658080"/>
          </a:xfrm>
          <a:prstGeom prst="rect">
            <a:avLst/>
          </a:prstGeom>
          <a:solidFill>
            <a:srgbClr val="FAF7F2"/>
          </a:solidFill>
          <a:ln w="3810">
            <a:solidFill>
              <a:srgbClr val="3A6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5"/>
          <p:cNvSpPr/>
          <p:nvPr/>
        </p:nvSpPr>
        <p:spPr>
          <a:xfrm>
            <a:off x="5943600" y="3456360"/>
            <a:ext cx="2834280" cy="658080"/>
          </a:xfrm>
          <a:prstGeom prst="rect">
            <a:avLst/>
          </a:prstGeom>
          <a:solidFill>
            <a:srgbClr val="FAF7F2"/>
          </a:solidFill>
          <a:ln w="3810">
            <a:solidFill>
              <a:srgbClr val="3A6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6"/>
          <p:cNvSpPr/>
          <p:nvPr/>
        </p:nvSpPr>
        <p:spPr>
          <a:xfrm>
            <a:off x="475560" y="3502080"/>
            <a:ext cx="2057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A6B8A"/>
                </a:solidFill>
                <a:effectLst/>
                <a:uFillTx/>
                <a:latin typeface="Georgia"/>
                <a:ea typeface="Georgia"/>
              </a:rPr>
              <a:t>Piaget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7"/>
          <p:cNvSpPr/>
          <p:nvPr/>
        </p:nvSpPr>
        <p:spPr>
          <a:xfrm>
            <a:off x="2807280" y="3502080"/>
            <a:ext cx="2971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 plasticidad neuronal es la base biológica del constructivismo. El conflicto cognitivo activa nuevas conexiones.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8"/>
          <p:cNvSpPr/>
          <p:nvPr/>
        </p:nvSpPr>
        <p:spPr>
          <a:xfrm>
            <a:off x="6053400" y="3502080"/>
            <a:ext cx="2605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Los estadios no son tan fijos ni universales como propuso.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9"/>
          <p:cNvSpPr/>
          <p:nvPr/>
        </p:nvSpPr>
        <p:spPr>
          <a:xfrm>
            <a:off x="365760" y="4187880"/>
            <a:ext cx="2285640" cy="658080"/>
          </a:xfrm>
          <a:prstGeom prst="rect">
            <a:avLst/>
          </a:prstGeom>
          <a:solidFill>
            <a:srgbClr val="E2EEEB"/>
          </a:solidFill>
          <a:ln w="635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0"/>
          <p:cNvSpPr/>
          <p:nvPr/>
        </p:nvSpPr>
        <p:spPr>
          <a:xfrm>
            <a:off x="2697480" y="4187880"/>
            <a:ext cx="3200040" cy="658080"/>
          </a:xfrm>
          <a:prstGeom prst="rect">
            <a:avLst/>
          </a:prstGeom>
          <a:solidFill>
            <a:srgbClr val="FFFFFF"/>
          </a:solidFill>
          <a:ln w="381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1"/>
          <p:cNvSpPr/>
          <p:nvPr/>
        </p:nvSpPr>
        <p:spPr>
          <a:xfrm>
            <a:off x="5943600" y="4187880"/>
            <a:ext cx="2834280" cy="658080"/>
          </a:xfrm>
          <a:prstGeom prst="rect">
            <a:avLst/>
          </a:prstGeom>
          <a:solidFill>
            <a:srgbClr val="FFFFFF"/>
          </a:solidFill>
          <a:ln w="381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2"/>
          <p:cNvSpPr/>
          <p:nvPr/>
        </p:nvSpPr>
        <p:spPr>
          <a:xfrm>
            <a:off x="475560" y="4233600"/>
            <a:ext cx="2057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A7B6F"/>
                </a:solidFill>
                <a:effectLst/>
                <a:uFillTx/>
                <a:latin typeface="Georgia"/>
                <a:ea typeface="Georgia"/>
              </a:rPr>
              <a:t>Vygotski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3"/>
          <p:cNvSpPr/>
          <p:nvPr/>
        </p:nvSpPr>
        <p:spPr>
          <a:xfrm>
            <a:off x="2807280" y="4233600"/>
            <a:ext cx="2971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 interacción social activa sistemas cerebrales de aprendizaje vicario. El lenguaje estructura redes neurales.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4"/>
          <p:cNvSpPr/>
          <p:nvPr/>
        </p:nvSpPr>
        <p:spPr>
          <a:xfrm>
            <a:off x="6053400" y="4233600"/>
            <a:ext cx="2605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Las interacciones sociales varían según cultura y contexto.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0" y="0"/>
            <a:ext cx="9143640" cy="20088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457200" y="38412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400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SÍNTESIS · CLASE 6 Y CIERRE DE UNIDAD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"/>
          <p:cNvSpPr/>
          <p:nvPr/>
        </p:nvSpPr>
        <p:spPr>
          <a:xfrm>
            <a:off x="457200" y="80460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Ideas para llevarse</a:t>
            </a:r>
            <a:endParaRPr lang="es-A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457200" y="148140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7B6F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822960" y="148140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La plasticidad neuronal es mayor en los primeros años: el nivel inicial es el período más relevante desde la neurociencia.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457200" y="20941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7B6F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822960" y="209412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Las emociones no interfieren con el aprendizaje: son condición necesaria del mismo (Immordino-Yang).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457200" y="270648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7B6F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9"/>
          <p:cNvSpPr/>
          <p:nvPr/>
        </p:nvSpPr>
        <p:spPr>
          <a:xfrm>
            <a:off x="822960" y="270648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El sueño consolida el aprendizaje. El movimiento mejora la atención. Ambos son pedagógicamente relevantes.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0"/>
          <p:cNvSpPr/>
          <p:nvPr/>
        </p:nvSpPr>
        <p:spPr>
          <a:xfrm>
            <a:off x="457200" y="331920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1"/>
          <p:cNvSpPr/>
          <p:nvPr/>
        </p:nvSpPr>
        <p:spPr>
          <a:xfrm>
            <a:off x="822960" y="331920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Las neurociencias complementan y en muchos casos confirman las teorías psicológicas estudiadas.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457200" y="39319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822960" y="393192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No hay teoría que agote la complejidad del aprendizaje. El desafío docente es desarrollar una mirada integradora.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457200" y="46177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Para la siguiente unidad: ¿alguna vez sentiste que 'no podías' aprender algo? Reflexión escrita de media carilla.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2026-04-01T02:14:32Z</dcterms:created>
  <dc:creator>PptxGenJS</dc:creator>
  <dc:description/>
  <dc:language>es-AR</dc:language>
  <cp:lastModifiedBy/>
  <cp:lastPrinted>2026-05-15T13:59:02Z</cp:lastPrinted>
  <dcterms:modified xsi:type="dcterms:W3CDTF">2026-05-15T13:59:10Z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