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24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C8A96E"/>
          </a:solidFill>
          <a:ln w="12700">
            <a:solidFill>
              <a:srgbClr val="C8A9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3474720"/>
            <a:ext cx="2286000" cy="1668780"/>
          </a:xfrm>
          <a:prstGeom prst="rect">
            <a:avLst/>
          </a:prstGeom>
          <a:solidFill>
            <a:srgbClr val="4A3728"/>
          </a:solidFill>
          <a:ln w="12700">
            <a:solidFill>
              <a:srgbClr val="4A372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274320"/>
            <a:ext cx="1463040" cy="1463040"/>
          </a:xfrm>
          <a:prstGeom prst="ellipse">
            <a:avLst/>
          </a:prstGeom>
          <a:solidFill>
            <a:srgbClr val="C8A96E">
              <a:alpha val="15000"/>
            </a:srgbClr>
          </a:solidFill>
          <a:ln w="19050">
            <a:solidFill>
              <a:srgbClr val="C8A9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20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PROFESORADO DE EDUCACIÓN INICIAL · 2° AÑO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6858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Psicología</a:t>
            </a:r>
            <a:endParaRPr lang="en-US" sz="5200" dirty="0"/>
          </a:p>
          <a:p>
            <a:pPr indent="0" marL="0">
              <a:buNone/>
            </a:pPr>
            <a:r>
              <a:rPr lang="en-US" sz="5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Educacional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457200" y="28803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Clases 1 y 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38328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la Psicología de la Educación?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Psicología y Educación: relaciones posibles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663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Referencia: Coll (1997) · Wittrock (1992)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C2416"/>
          </a:solidFill>
          <a:ln w="12700">
            <a:solidFill>
              <a:srgbClr val="2C24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C8A96E"/>
          </a:solidFill>
          <a:ln w="12700">
            <a:solidFill>
              <a:srgbClr val="C8A9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CONTENIDOS DE HOY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Dos clases, un mismo horizonte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4114800" cy="1005840"/>
          </a:xfrm>
          <a:prstGeom prst="rect">
            <a:avLst/>
          </a:prstGeom>
          <a:solidFill>
            <a:srgbClr val="F5EDD8"/>
          </a:solidFill>
          <a:ln w="10160">
            <a:solidFill>
              <a:srgbClr val="C8A9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280160"/>
            <a:ext cx="502920" cy="1005840"/>
          </a:xfrm>
          <a:prstGeom prst="rect">
            <a:avLst/>
          </a:prstGeom>
          <a:solidFill>
            <a:srgbClr val="C8A96E"/>
          </a:solidFill>
          <a:ln w="12700">
            <a:solidFill>
              <a:srgbClr val="C8A9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28016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24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60120" y="135331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1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960120" y="160020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la Psicología de la Educación?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468880"/>
            <a:ext cx="4114800" cy="1005840"/>
          </a:xfrm>
          <a:prstGeom prst="rect">
            <a:avLst/>
          </a:prstGeom>
          <a:solidFill>
            <a:srgbClr val="F5EDD8"/>
          </a:solidFill>
          <a:ln w="10160">
            <a:solidFill>
              <a:srgbClr val="C8A9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solidFill>
            <a:srgbClr val="C8A96E"/>
          </a:solidFill>
          <a:ln w="12700">
            <a:solidFill>
              <a:srgbClr val="C8A9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24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60120" y="254203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1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960120" y="278892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 propia del campo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657600"/>
            <a:ext cx="4114800" cy="1005840"/>
          </a:xfrm>
          <a:prstGeom prst="rect">
            <a:avLst/>
          </a:prstGeom>
          <a:solidFill>
            <a:srgbClr val="F5EDD8"/>
          </a:solidFill>
          <a:ln w="10160">
            <a:solidFill>
              <a:srgbClr val="C8A9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657600"/>
            <a:ext cx="502920" cy="1005840"/>
          </a:xfrm>
          <a:prstGeom prst="rect">
            <a:avLst/>
          </a:prstGeom>
          <a:solidFill>
            <a:srgbClr val="C8A96E"/>
          </a:solidFill>
          <a:ln w="12700">
            <a:solidFill>
              <a:srgbClr val="C8A9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65760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24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60120" y="373075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1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960120" y="397764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triple finalidad (Coll)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54880" y="1280160"/>
            <a:ext cx="4114800" cy="1005840"/>
          </a:xfrm>
          <a:prstGeom prst="rect">
            <a:avLst/>
          </a:prstGeom>
          <a:solidFill>
            <a:srgbClr val="E4EFE8"/>
          </a:solidFill>
          <a:ln w="10160">
            <a:solidFill>
              <a:srgbClr val="7B9E8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1280160"/>
            <a:ext cx="502920" cy="1005840"/>
          </a:xfrm>
          <a:prstGeom prst="rect">
            <a:avLst/>
          </a:prstGeom>
          <a:solidFill>
            <a:srgbClr val="7B9E87"/>
          </a:solidFill>
          <a:ln w="12700">
            <a:solidFill>
              <a:srgbClr val="7B9E8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128016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24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349240" y="135331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7B9E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2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5349240" y="160020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objeto de estudio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754880" y="2468880"/>
            <a:ext cx="4114800" cy="1005840"/>
          </a:xfrm>
          <a:prstGeom prst="rect">
            <a:avLst/>
          </a:prstGeom>
          <a:solidFill>
            <a:srgbClr val="E4EFE8"/>
          </a:solidFill>
          <a:ln w="10160">
            <a:solidFill>
              <a:srgbClr val="7B9E8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54880" y="2468880"/>
            <a:ext cx="502920" cy="1005840"/>
          </a:xfrm>
          <a:prstGeom prst="rect">
            <a:avLst/>
          </a:prstGeom>
          <a:solidFill>
            <a:srgbClr val="7B9E87"/>
          </a:solidFill>
          <a:ln w="12700">
            <a:solidFill>
              <a:srgbClr val="7B9E8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24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5349240" y="254203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7B9E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2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5349240" y="278892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modos de relación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754880" y="3657600"/>
            <a:ext cx="4114800" cy="1005840"/>
          </a:xfrm>
          <a:prstGeom prst="rect">
            <a:avLst/>
          </a:prstGeom>
          <a:solidFill>
            <a:srgbClr val="E4EFE8"/>
          </a:solidFill>
          <a:ln w="10160">
            <a:solidFill>
              <a:srgbClr val="7B9E8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54880" y="3657600"/>
            <a:ext cx="502920" cy="1005840"/>
          </a:xfrm>
          <a:prstGeom prst="rect">
            <a:avLst/>
          </a:prstGeom>
          <a:solidFill>
            <a:srgbClr val="7B9E87"/>
          </a:solidFill>
          <a:ln w="12700">
            <a:solidFill>
              <a:srgbClr val="7B9E8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0" y="365760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24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5349240" y="373075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7B9E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2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5349240" y="397764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Teorías y decisiones docentes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37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2C2416"/>
          </a:solidFill>
          <a:ln w="12700">
            <a:solidFill>
              <a:srgbClr val="2C24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0" y="0"/>
            <a:ext cx="54864" cy="5143500"/>
          </a:xfrm>
          <a:prstGeom prst="rect">
            <a:avLst/>
          </a:prstGeom>
          <a:solidFill>
            <a:srgbClr val="C8A96E"/>
          </a:solidFill>
          <a:ln w="12700">
            <a:solidFill>
              <a:srgbClr val="C8A9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32918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¿Qué es la</a:t>
            </a:r>
            <a:endParaRPr lang="en-US" sz="3400" dirty="0"/>
          </a:p>
          <a:p>
            <a:pPr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Psicología de</a:t>
            </a:r>
            <a:endParaRPr lang="en-US" sz="3400" dirty="0"/>
          </a:p>
          <a:p>
            <a:pPr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Educación?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365760" y="374904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disciplina puente entre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psicología y educación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0" y="1371600"/>
            <a:ext cx="4754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700" i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"No es simplemente aplicar</a:t>
            </a:r>
            <a:endParaRPr lang="en-US" sz="17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700" i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conocimientos psicológicos</a:t>
            </a:r>
            <a:endParaRPr lang="en-US" sz="17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700" i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 ámbito educativo."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114800" y="3108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Coll, 1997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C2416"/>
          </a:solidFill>
          <a:ln w="12700">
            <a:solidFill>
              <a:srgbClr val="2C24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C8A96E"/>
          </a:solidFill>
          <a:ln w="12700">
            <a:solidFill>
              <a:srgbClr val="C8A9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1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campo con identidad propia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Psicología de la Educación no es una rama aplicada de la psicología</a:t>
            </a:r>
            <a:endParaRPr lang="en-US" sz="13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 una subdisciplina de la pedagogía.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57200" y="1920240"/>
            <a:ext cx="2606040" cy="2743200"/>
          </a:xfrm>
          <a:prstGeom prst="rect">
            <a:avLst/>
          </a:prstGeom>
          <a:solidFill>
            <a:srgbClr val="FBF0EE"/>
          </a:solidFill>
          <a:ln w="12700">
            <a:solidFill>
              <a:srgbClr val="B8504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920240"/>
            <a:ext cx="2606040" cy="43891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92024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66928" y="2450592"/>
            <a:ext cx="2377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2C24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Una aplicación</a:t>
            </a:r>
            <a:endParaRPr lang="en-US" sz="14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2C24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directa de la</a:t>
            </a:r>
            <a:endParaRPr lang="en-US" sz="14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2C24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psicología al aula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91840" y="1920240"/>
            <a:ext cx="2606040" cy="2743200"/>
          </a:xfrm>
          <a:prstGeom prst="rect">
            <a:avLst/>
          </a:prstGeom>
          <a:solidFill>
            <a:srgbClr val="FBF0EE"/>
          </a:solidFill>
          <a:ln w="12700">
            <a:solidFill>
              <a:srgbClr val="B8504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91840" y="1920240"/>
            <a:ext cx="2606040" cy="43891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192024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01568" y="2450592"/>
            <a:ext cx="2377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2C24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Una subdisciplina</a:t>
            </a:r>
            <a:endParaRPr lang="en-US" sz="14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2C24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la pedagogía</a:t>
            </a:r>
            <a:endParaRPr lang="en-US" sz="14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2C24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didáctica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126480" y="1920240"/>
            <a:ext cx="2606040" cy="2743200"/>
          </a:xfrm>
          <a:prstGeom prst="rect">
            <a:avLst/>
          </a:prstGeom>
          <a:solidFill>
            <a:srgbClr val="E4EFE8"/>
          </a:solidFill>
          <a:ln w="12700">
            <a:solidFill>
              <a:srgbClr val="4A7B6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1920240"/>
            <a:ext cx="2606040" cy="438912"/>
          </a:xfrm>
          <a:prstGeom prst="rect">
            <a:avLst/>
          </a:prstGeom>
          <a:solidFill>
            <a:srgbClr val="4A7B6F"/>
          </a:solidFill>
          <a:ln w="12700">
            <a:solidFill>
              <a:srgbClr val="4A7B6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192024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36208" y="2450592"/>
            <a:ext cx="2377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2C24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campo propio</a:t>
            </a:r>
            <a:endParaRPr lang="en-US" sz="14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2C24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 articula</a:t>
            </a:r>
            <a:endParaRPr lang="en-US" sz="14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2C24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teoría y práctica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C2416"/>
          </a:solidFill>
          <a:ln w="12700">
            <a:solidFill>
              <a:srgbClr val="2C24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C8A96E"/>
          </a:solidFill>
          <a:ln w="12700">
            <a:solidFill>
              <a:srgbClr val="C8A9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1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triple finalidad de la Psicología de la Educación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5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 (1997) le atribuye tres propósitos inseparables: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554480"/>
            <a:ext cx="8412480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C8A9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554480"/>
            <a:ext cx="594360" cy="960120"/>
          </a:xfrm>
          <a:prstGeom prst="rect">
            <a:avLst/>
          </a:prstGeom>
          <a:solidFill>
            <a:srgbClr val="C8A96E"/>
          </a:solidFill>
          <a:ln w="12700">
            <a:solidFill>
              <a:srgbClr val="C8A9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554480"/>
            <a:ext cx="594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97280" y="16459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24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Comprender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97280" y="2029968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procesos de cambio comportamental que resultan de participar en situaciones educativas.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65760" y="2633472"/>
            <a:ext cx="8412480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B886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633472"/>
            <a:ext cx="594360" cy="96012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594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097280" y="272491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24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Diseñar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97280" y="3108960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de intervención que optimicen esos procesos de aprendizaje y desarrollo.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65760" y="3712464"/>
            <a:ext cx="8412480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7B9E8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3712464"/>
            <a:ext cx="594360" cy="960120"/>
          </a:xfrm>
          <a:prstGeom prst="rect">
            <a:avLst/>
          </a:prstGeom>
          <a:solidFill>
            <a:srgbClr val="7B9E87"/>
          </a:solidFill>
          <a:ln w="12700">
            <a:solidFill>
              <a:srgbClr val="7B9E8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712464"/>
            <a:ext cx="594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097280" y="380390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24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Mejorar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097280" y="4187952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prácticas educativas concretas en las instituciones escolares.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65760" y="473659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Estas finalidades son inseparables: la teoría se convierte en instrumento de intervención, y la práctica retroalimenta la teoría.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C2416"/>
          </a:solidFill>
          <a:ln w="12700">
            <a:solidFill>
              <a:srgbClr val="2C24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C8A96E"/>
          </a:solidFill>
          <a:ln w="12700">
            <a:solidFill>
              <a:srgbClr val="C8A9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1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¿Disciplina aplicada o disciplina puente?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2606040" cy="2606040"/>
          </a:xfrm>
          <a:prstGeom prst="rect">
            <a:avLst/>
          </a:prstGeom>
          <a:solidFill>
            <a:srgbClr val="F5EDD8"/>
          </a:solidFill>
          <a:ln w="19050">
            <a:solidFill>
              <a:srgbClr val="C8A9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114300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PSICOLOGÍA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673352"/>
            <a:ext cx="2286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Leyes del aprendizaje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Teorías del desarrollo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Investigación empírica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Procesos cognitivos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63640" y="1143000"/>
            <a:ext cx="2606040" cy="2606040"/>
          </a:xfrm>
          <a:prstGeom prst="rect">
            <a:avLst/>
          </a:prstGeom>
          <a:solidFill>
            <a:srgbClr val="E4EFE8"/>
          </a:solidFill>
          <a:ln w="19050">
            <a:solidFill>
              <a:srgbClr val="7B9E8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263640" y="114300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7B9E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EDUCACIÓN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46520" y="1673352"/>
            <a:ext cx="2286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Prácticas de enseñanza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Interrogantes del aula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Saber profesional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Contextos singulares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73552" y="1600200"/>
            <a:ext cx="2596896" cy="1737360"/>
          </a:xfrm>
          <a:prstGeom prst="rect">
            <a:avLst/>
          </a:prstGeom>
          <a:solidFill>
            <a:srgbClr val="2C2416"/>
          </a:solidFill>
          <a:ln w="12700">
            <a:solidFill>
              <a:srgbClr val="2C241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73552" y="1645920"/>
            <a:ext cx="259689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8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DISCIPLINA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C8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PUENTE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273552" y="2395728"/>
            <a:ext cx="259689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Tránsito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ambas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direcciones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880360" y="2450592"/>
            <a:ext cx="402336" cy="0"/>
          </a:xfrm>
          <a:prstGeom prst="line">
            <a:avLst/>
          </a:prstGeom>
          <a:noFill/>
          <a:ln w="31750">
            <a:solidFill>
              <a:srgbClr val="C8A96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870448" y="2450592"/>
            <a:ext cx="402336" cy="0"/>
          </a:xfrm>
          <a:prstGeom prst="line">
            <a:avLst/>
          </a:prstGeom>
          <a:noFill/>
          <a:ln w="31750">
            <a:solidFill>
              <a:srgbClr val="C8A9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9776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B5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puente no es solo un instrumento: es una estructura que transforma el paisaje entre las dos orillas.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65760" y="464515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Wittrock (1992): orientación a problemas prácticos sin renunciar al rigor conceptual.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C24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7B9E87"/>
          </a:solidFill>
          <a:ln w="12700">
            <a:solidFill>
              <a:srgbClr val="7B9E8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03520" y="0"/>
            <a:ext cx="3840480" cy="5143500"/>
          </a:xfrm>
          <a:prstGeom prst="rect">
            <a:avLst/>
          </a:prstGeom>
          <a:solidFill>
            <a:srgbClr val="4A3728"/>
          </a:solidFill>
          <a:ln w="12700">
            <a:solidFill>
              <a:srgbClr val="4A372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0" y="3200400"/>
            <a:ext cx="2743200" cy="2743200"/>
          </a:xfrm>
          <a:prstGeom prst="ellipse">
            <a:avLst/>
          </a:prstGeom>
          <a:solidFill>
            <a:srgbClr val="7B9E87">
              <a:alpha val="12000"/>
            </a:srgbClr>
          </a:solidFill>
          <a:ln w="19050">
            <a:solidFill>
              <a:srgbClr val="7B9E8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7B9E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46634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Psicología y</a:t>
            </a:r>
            <a:endParaRPr lang="en-US" sz="3200" dirty="0"/>
          </a:p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Educación:</a:t>
            </a:r>
            <a:endParaRPr lang="en-US" sz="3200" dirty="0"/>
          </a:p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relaciones posibles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379476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objeto de estudio y sus implicancias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la práctica docente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577840" y="1097280"/>
            <a:ext cx="3291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00" i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"Toda práctica docente descansa</a:t>
            </a:r>
            <a:endParaRPr lang="en-US" sz="13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300" i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sobre supuestos acerca de cómo</a:t>
            </a:r>
            <a:endParaRPr lang="en-US" sz="13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300" i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aprenden los niños."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C2416"/>
          </a:solidFill>
          <a:ln w="12700">
            <a:solidFill>
              <a:srgbClr val="2C24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7B9E87"/>
          </a:solidFill>
          <a:ln w="12700">
            <a:solidFill>
              <a:srgbClr val="7B9E8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7B9E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2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30175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historia que nos trajo hasta aquí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265176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B8504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97280"/>
            <a:ext cx="2651760" cy="50292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0972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Fines S. XIX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5488" y="1719072"/>
            <a:ext cx="24323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2C24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Escolarización masiva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75488" y="2395728"/>
            <a:ext cx="243230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obligatoriedad escolar masifica la escuela. El fracaso escolar se convierte en problema político y técnico.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0" y="1097280"/>
            <a:ext cx="265176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B886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097280"/>
            <a:ext cx="2651760" cy="50292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10972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S. XX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10128" y="1719072"/>
            <a:ext cx="24323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2C24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Psicología clasificatoria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310128" y="2395728"/>
            <a:ext cx="243230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psicología es convocada para explicar —y gestionar— el fracaso. El modelo patológico individual pone al niño en el centro de la sospecha.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035040" y="1097280"/>
            <a:ext cx="265176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7B9E8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35040" y="1097280"/>
            <a:ext cx="2651760" cy="502920"/>
          </a:xfrm>
          <a:prstGeom prst="rect">
            <a:avLst/>
          </a:prstGeom>
          <a:solidFill>
            <a:srgbClr val="7B9E87"/>
          </a:solidFill>
          <a:ln w="12700">
            <a:solidFill>
              <a:srgbClr val="7B9E8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35040" y="10972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44768" y="1719072"/>
            <a:ext cx="24323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2C24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Transformación del campo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144768" y="2395728"/>
            <a:ext cx="243230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disciplina se aleja del aplicacionismo. Busca generar conocimiento propio sobre el aprendizaje escolar, interrogando también las condiciones institucionales.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65760" y="461772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898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"La educación apeló a la psicología porque lo que esta ofrecía era un modelo que ponía en el centro los déficits de los sujetos."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65760" y="491947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Baquero (2000) · Castorina (2005)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C2416"/>
          </a:solidFill>
          <a:ln w="12700">
            <a:solidFill>
              <a:srgbClr val="2C24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7B9E87"/>
          </a:solidFill>
          <a:ln w="12700">
            <a:solidFill>
              <a:srgbClr val="7B9E8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7B9E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2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30175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objeto de estudio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078992"/>
            <a:ext cx="8229600" cy="1143000"/>
          </a:xfrm>
          <a:prstGeom prst="rect">
            <a:avLst/>
          </a:prstGeom>
          <a:solidFill>
            <a:srgbClr val="2C2416"/>
          </a:solidFill>
          <a:ln w="19050">
            <a:solidFill>
              <a:srgbClr val="7B9E8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115568"/>
            <a:ext cx="786384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550" i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Los procesos de cambio comportamental que ocurren</a:t>
            </a:r>
            <a:endParaRPr lang="en-US" sz="15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550" i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como resultado de la participación en situaciones educativas.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457200" y="2377440"/>
            <a:ext cx="411480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A9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377440"/>
            <a:ext cx="4114800" cy="54864"/>
          </a:xfrm>
          <a:prstGeom prst="rect">
            <a:avLst/>
          </a:prstGeom>
          <a:solidFill>
            <a:srgbClr val="C8A96E"/>
          </a:solidFill>
          <a:ln w="12700">
            <a:solidFill>
              <a:srgbClr val="C8A9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48716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C24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Procesos de cambio comportamental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3090672"/>
            <a:ext cx="38404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solo conductas observables. Incluye cambios en representaciones, conocimientos, actitudes, habilidades y modos de relación con el mundo.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46320" y="2377440"/>
            <a:ext cx="411480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7B9E8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46320" y="2377440"/>
            <a:ext cx="4114800" cy="54864"/>
          </a:xfrm>
          <a:prstGeom prst="rect">
            <a:avLst/>
          </a:prstGeom>
          <a:solidFill>
            <a:srgbClr val="7B9E87"/>
          </a:solidFill>
          <a:ln w="12700">
            <a:solidFill>
              <a:srgbClr val="7B9E8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83480" y="248716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C24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Participación en situaciones educativas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83480" y="3090672"/>
            <a:ext cx="38404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Experiencias diseñadas con intencionalidad formativa. No todo cambio es aprendizaje, y no todo aprendizaje ocurre en la escuela.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C2416"/>
          </a:solidFill>
          <a:ln w="12700">
            <a:solidFill>
              <a:srgbClr val="2C24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7B9E87"/>
          </a:solidFill>
          <a:ln w="12700">
            <a:solidFill>
              <a:srgbClr val="7B9E8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7B9E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2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30175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Tres modos de relación entre psicología y educación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2651760" cy="3840480"/>
          </a:xfrm>
          <a:prstGeom prst="rect">
            <a:avLst/>
          </a:prstGeom>
          <a:solidFill>
            <a:srgbClr val="FBF0EE"/>
          </a:solidFill>
          <a:ln w="12700">
            <a:solidFill>
              <a:srgbClr val="B8504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371600" y="1188720"/>
            <a:ext cx="640080" cy="64008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0" y="1188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19659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24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Aplicación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2920" y="2496312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psicología produce leyes generales. La educación las aplica. El docente es un técnico ejecutor.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3621024"/>
            <a:ext cx="2286000" cy="0"/>
          </a:xfrm>
          <a:prstGeom prst="line">
            <a:avLst/>
          </a:prstGeom>
          <a:noFill/>
          <a:ln w="10160">
            <a:solidFill>
              <a:srgbClr val="B8504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70332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i="1" dirty="0">
                <a:solidFill>
                  <a:srgbClr val="6B5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Borra diferencias de contexto. Desconoce el saber profesional docente.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00400" y="1097280"/>
            <a:ext cx="2651760" cy="3840480"/>
          </a:xfrm>
          <a:prstGeom prst="rect">
            <a:avLst/>
          </a:prstGeom>
          <a:solidFill>
            <a:srgbClr val="F5EDD8"/>
          </a:solidFill>
          <a:ln w="12700">
            <a:solidFill>
              <a:srgbClr val="C8A9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206240" y="1188720"/>
            <a:ext cx="640080" cy="640080"/>
          </a:xfrm>
          <a:prstGeom prst="ellipse">
            <a:avLst/>
          </a:prstGeom>
          <a:solidFill>
            <a:srgbClr val="C8A96E"/>
          </a:solidFill>
          <a:ln w="12700">
            <a:solidFill>
              <a:srgbClr val="C8A9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06240" y="1188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291840" y="19659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24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Transferencia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337560" y="2496312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principios psicológicos se adecuan al contexto educativo con cierta interpretación y margen.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383280" y="3621024"/>
            <a:ext cx="2286000" cy="0"/>
          </a:xfrm>
          <a:prstGeom prst="line">
            <a:avLst/>
          </a:prstGeom>
          <a:noFill/>
          <a:ln w="10160">
            <a:solidFill>
              <a:srgbClr val="C8A9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37560" y="370332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i="1" dirty="0">
                <a:solidFill>
                  <a:srgbClr val="6B5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movimiento sigue siendo unidireccional: de la psicología hacia la educación.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035040" y="1097280"/>
            <a:ext cx="2651760" cy="3840480"/>
          </a:xfrm>
          <a:prstGeom prst="rect">
            <a:avLst/>
          </a:prstGeom>
          <a:solidFill>
            <a:srgbClr val="E4EFE8"/>
          </a:solidFill>
          <a:ln w="12700">
            <a:solidFill>
              <a:srgbClr val="7B9E8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040880" y="1188720"/>
            <a:ext cx="640080" cy="640080"/>
          </a:xfrm>
          <a:prstGeom prst="ellipse">
            <a:avLst/>
          </a:prstGeom>
          <a:solidFill>
            <a:srgbClr val="7B9E87"/>
          </a:solidFill>
          <a:ln w="12700">
            <a:solidFill>
              <a:srgbClr val="7B9E8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40880" y="1188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126480" y="19659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24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Co-construcción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172200" y="2496312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práctica educativa plantea problemas que desafían a la teoría psicológica, y viceversa.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217920" y="3621024"/>
            <a:ext cx="2286000" cy="0"/>
          </a:xfrm>
          <a:prstGeom prst="line">
            <a:avLst/>
          </a:prstGeom>
          <a:noFill/>
          <a:ln w="10160">
            <a:solidFill>
              <a:srgbClr val="7B9E8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72200" y="370332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i="1" dirty="0">
                <a:solidFill>
                  <a:srgbClr val="6B5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docente genera saber. El conocimiento fluye en ambas direcciones.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C2416"/>
          </a:solidFill>
          <a:ln w="12700">
            <a:solidFill>
              <a:srgbClr val="2C24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7B9E87"/>
          </a:solidFill>
          <a:ln w="12700">
            <a:solidFill>
              <a:srgbClr val="7B9E8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7B9E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2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30175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Las teorías psicológicas y las decisiones docentes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práctica docente descansa sobre supuestos acerca de cómo aprenden los niños.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627632"/>
            <a:ext cx="4023360" cy="3291840"/>
          </a:xfrm>
          <a:prstGeom prst="rect">
            <a:avLst/>
          </a:prstGeom>
          <a:solidFill>
            <a:srgbClr val="F5EDD8"/>
          </a:solidFill>
          <a:ln w="12700">
            <a:solidFill>
              <a:srgbClr val="C8A9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71907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SUPUESTOS TÁCITOS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208483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Operan sin estar formulados explícitamente.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487168"/>
            <a:ext cx="37490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50" b="1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Provienen de:</a:t>
            </a:r>
            <a:endParaRPr lang="en-US" sz="11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La propia experiencia como alumno</a:t>
            </a:r>
            <a:endParaRPr lang="en-US" sz="11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La cultura institucional</a:t>
            </a:r>
            <a:endParaRPr lang="en-US" sz="11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Modelos de enseñanza internalizados</a:t>
            </a:r>
            <a:endParaRPr lang="en-US" sz="11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El sentido común pedagógico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754880" y="1627632"/>
            <a:ext cx="4023360" cy="3291840"/>
          </a:xfrm>
          <a:prstGeom prst="rect">
            <a:avLst/>
          </a:prstGeom>
          <a:solidFill>
            <a:srgbClr val="E4EFE8"/>
          </a:solidFill>
          <a:ln w="12700">
            <a:solidFill>
              <a:srgbClr val="7B9E8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92040" y="171907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7B9E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QUÉ SIRVE ESTUDIARLA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892040" y="208483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Desarrollar una mirada más potente sobre el aula.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92040" y="2487168"/>
            <a:ext cx="37490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50" b="1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Permite:</a:t>
            </a:r>
            <a:endParaRPr lang="en-US" sz="11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Volver visibles los supuestos tácitos</a:t>
            </a:r>
            <a:endParaRPr lang="en-US" sz="11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Examinarlos y cuestionarlos</a:t>
            </a:r>
            <a:endParaRPr lang="en-US" sz="11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Tomar decisiones más fundamentadas</a:t>
            </a:r>
            <a:endParaRPr lang="en-US" sz="11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Desarrollar una mirada más justa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C24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C8A96E"/>
          </a:solidFill>
          <a:ln w="12700">
            <a:solidFill>
              <a:srgbClr val="C8A9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7B9E87"/>
          </a:solidFill>
          <a:ln w="12700">
            <a:solidFill>
              <a:srgbClr val="7B9E8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8404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SÍNTESIS Y CIERRE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80467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Ideas para llevarse de estas dos clases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1444752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1444752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Psicología de la Educación tiene identidad propia: no es pura aplicación de la psicología.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05740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205740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triple finalidad articula comprensión, diseño e intervención de modo inseparable.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670048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22960" y="267004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noción de disciplina puente supone un tránsito en ambas direcciones.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282696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9E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22960" y="3282696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práctica docente tiene supuestos psicológicos implícitos. La materia ayuda a hacerlos visibles.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3895344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9E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22960" y="3895344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de co-construcción reconoce al docente como productor de saber, no solo como ejecutor.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46177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la próxima clase: observar una situación de aprendizaje y describir qué ocurrió, quién aprendió y cómo se dieron cuenta.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Psicología Educacional - Clases 1 y 2</dc:title>
  <dc:subject>PptxGenJS Presentation</dc:subject>
  <dc:creator>PptxGenJS</dc:creator>
  <cp:lastModifiedBy>PptxGenJS</cp:lastModifiedBy>
  <cp:revision>1</cp:revision>
  <dcterms:created xsi:type="dcterms:W3CDTF">2026-03-25T14:41:21Z</dcterms:created>
  <dcterms:modified xsi:type="dcterms:W3CDTF">2026-03-25T14:41:21Z</dcterms:modified>
</cp:coreProperties>
</file>