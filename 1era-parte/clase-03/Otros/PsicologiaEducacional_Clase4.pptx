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s-A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</a:t>
            </a:r>
            <a:r>
              <a:rPr lang="es-A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desplazar la </a:t>
            </a:r>
            <a:r>
              <a:rPr lang="es-A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diapositiva</a:t>
            </a:r>
            <a:endParaRPr lang="es-A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las notas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5DE79CC-49E3-42A2-B752-3B0DBD247C2F}" type="slidenum"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D56C9C-ACF8-4330-ADAA-CCEB546902A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5FB3DB-1BCF-47B4-B416-955A9A840A4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DB06D7-1906-44C7-A4FE-AB7F02A316C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1BCF11-DEDA-4EDE-B10D-83149B72D62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56EDAA-B001-44C0-90F6-87AAE9C6DA9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8968C6-4C2A-4857-8B51-42265CF8229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4B07E3-6037-4E53-8B58-AA523812983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A1736B-8CEC-4ECE-8EFA-6395C7AEF87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FDFEAC-7F3A-4DAB-A1DF-D86066CEE8D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20E84A-CFE7-440E-B453-9813F59EACF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s-A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s-A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del texto de título</a:t>
            </a:r>
            <a:endParaRPr lang="es-A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A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A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C2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228240" cy="5143320"/>
          </a:xfrm>
          <a:prstGeom prst="rect">
            <a:avLst/>
          </a:prstGeom>
          <a:solidFill>
            <a:srgbClr val="D4745C"/>
          </a:solidFill>
          <a:ln w="12700">
            <a:solidFill>
              <a:srgbClr val="D474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6583680" y="3200400"/>
            <a:ext cx="2559960" cy="1942920"/>
          </a:xfrm>
          <a:prstGeom prst="rect">
            <a:avLst/>
          </a:prstGeom>
          <a:solidFill>
            <a:srgbClr val="4A3728"/>
          </a:solidFill>
          <a:ln w="12700">
            <a:solidFill>
              <a:srgbClr val="4A37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7223760" y="137160"/>
            <a:ext cx="1828440" cy="1828440"/>
          </a:xfrm>
          <a:prstGeom prst="ellipse">
            <a:avLst/>
          </a:prstGeom>
          <a:solidFill>
            <a:srgbClr val="D4745C">
              <a:alpha val="15000"/>
            </a:srgbClr>
          </a:solidFill>
          <a:ln w="19050">
            <a:solidFill>
              <a:srgbClr val="D474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457200" y="320040"/>
            <a:ext cx="777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300" strike="noStrike">
                <a:solidFill>
                  <a:srgbClr val="D4745C"/>
                </a:solidFill>
                <a:effectLst/>
                <a:uFillTx/>
                <a:latin typeface="Calibri"/>
                <a:ea typeface="Calibri"/>
              </a:rPr>
              <a:t>PROFESORADO DE EDUCACIÓN INICIAL · 2° AÑO</a:t>
            </a:r>
            <a:endParaRPr lang="es-A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457200" y="77724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A89880"/>
                </a:solidFill>
                <a:effectLst/>
                <a:uFillTx/>
                <a:latin typeface="Calibri"/>
                <a:ea typeface="Calibri"/>
              </a:rPr>
              <a:t>Clase 4</a:t>
            </a: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457200" y="1234440"/>
            <a:ext cx="64004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Teorías del</a:t>
            </a:r>
            <a:endParaRPr lang="es-AR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aprendizaje I</a:t>
            </a:r>
            <a:endParaRPr lang="es-AR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457200" y="2926080"/>
            <a:ext cx="5943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i="1" u="none" strike="noStrike">
                <a:solidFill>
                  <a:srgbClr val="D4745C"/>
                </a:solidFill>
                <a:effectLst/>
                <a:uFillTx/>
                <a:latin typeface="Georgia"/>
                <a:ea typeface="Georgia"/>
              </a:rPr>
              <a:t>Conductismo y Cognitivismo</a:t>
            </a:r>
            <a:endParaRPr lang="es-A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457200" y="3429000"/>
            <a:ext cx="5943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A89880"/>
                </a:solidFill>
                <a:effectLst/>
                <a:uFillTx/>
                <a:latin typeface="Calibri"/>
                <a:ea typeface="Calibri"/>
              </a:rPr>
              <a:t>De los reflejos a los procesos mentales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457200" y="466344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A89880"/>
                </a:solidFill>
                <a:effectLst/>
                <a:uFillTx/>
                <a:latin typeface="Calibri"/>
                <a:ea typeface="Calibri"/>
              </a:rPr>
              <a:t>Watson · Pavlov · Skinner · Pozo (1989) · Ausubel (1963)</a:t>
            </a:r>
            <a:endParaRPr lang="es-A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"/>
          <p:cNvSpPr/>
          <p:nvPr/>
        </p:nvSpPr>
        <p:spPr>
          <a:xfrm>
            <a:off x="0" y="914400"/>
            <a:ext cx="9143640" cy="54360"/>
          </a:xfrm>
          <a:prstGeom prst="rect">
            <a:avLst/>
          </a:prstGeom>
          <a:solidFill>
            <a:srgbClr val="D4745C"/>
          </a:solidFill>
          <a:ln w="12700">
            <a:solidFill>
              <a:srgbClr val="D474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2"/>
          <p:cNvSpPr/>
          <p:nvPr/>
        </p:nvSpPr>
        <p:spPr>
          <a:xfrm>
            <a:off x="457200" y="7308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pc="201" strike="noStrike">
                <a:solidFill>
                  <a:srgbClr val="D4745C"/>
                </a:solidFill>
                <a:effectLst/>
                <a:uFillTx/>
                <a:latin typeface="Calibri"/>
                <a:ea typeface="Calibri"/>
              </a:rPr>
              <a:t>CLASE 4</a:t>
            </a:r>
            <a:endParaRPr lang="es-A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3"/>
          <p:cNvSpPr/>
          <p:nvPr/>
        </p:nvSpPr>
        <p:spPr>
          <a:xfrm>
            <a:off x="457200" y="32004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¿Por qué estudiar teorías del aprendizaje?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4"/>
          <p:cNvSpPr/>
          <p:nvPr/>
        </p:nvSpPr>
        <p:spPr>
          <a:xfrm>
            <a:off x="457200" y="1078920"/>
            <a:ext cx="8229240" cy="959760"/>
          </a:xfrm>
          <a:prstGeom prst="rect">
            <a:avLst/>
          </a:prstGeom>
          <a:solidFill>
            <a:srgbClr val="2C2416"/>
          </a:solidFill>
          <a:ln w="19050">
            <a:solidFill>
              <a:srgbClr val="D4745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5"/>
          <p:cNvSpPr/>
          <p:nvPr/>
        </p:nvSpPr>
        <p:spPr>
          <a:xfrm>
            <a:off x="640080" y="1115640"/>
            <a:ext cx="78634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F5F0E8"/>
                </a:solidFill>
                <a:effectLst/>
                <a:uFillTx/>
                <a:latin typeface="Georgia"/>
                <a:ea typeface="Georgia"/>
              </a:rPr>
              <a:t>Toda decisión pedagógica descansa sobre supuestos acerca de cómo aprenden los seres humanos.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6"/>
          <p:cNvSpPr/>
          <p:nvPr/>
        </p:nvSpPr>
        <p:spPr>
          <a:xfrm>
            <a:off x="365760" y="2212920"/>
            <a:ext cx="4205880" cy="895680"/>
          </a:xfrm>
          <a:prstGeom prst="rect">
            <a:avLst/>
          </a:prstGeom>
          <a:solidFill>
            <a:srgbClr val="FAF0EE"/>
          </a:solidFill>
          <a:ln w="8890">
            <a:solidFill>
              <a:srgbClr val="D4745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7"/>
          <p:cNvSpPr/>
          <p:nvPr/>
        </p:nvSpPr>
        <p:spPr>
          <a:xfrm>
            <a:off x="502920" y="2286000"/>
            <a:ext cx="3931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C2416"/>
                </a:solidFill>
                <a:effectLst/>
                <a:uFillTx/>
                <a:latin typeface="Georgia"/>
                <a:ea typeface="Georgia"/>
              </a:rPr>
              <a:t>¿Cómo organizo el espacio?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8"/>
          <p:cNvSpPr/>
          <p:nvPr/>
        </p:nvSpPr>
        <p:spPr>
          <a:xfrm>
            <a:off x="502920" y="2688480"/>
            <a:ext cx="3931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6B5744"/>
                </a:solidFill>
                <a:effectLst/>
                <a:uFillTx/>
                <a:latin typeface="Calibri"/>
                <a:ea typeface="Calibri"/>
              </a:rPr>
              <a:t>Filas vs. rincones de exploración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9"/>
          <p:cNvSpPr/>
          <p:nvPr/>
        </p:nvSpPr>
        <p:spPr>
          <a:xfrm>
            <a:off x="4800600" y="2212920"/>
            <a:ext cx="4205880" cy="895680"/>
          </a:xfrm>
          <a:prstGeom prst="rect">
            <a:avLst/>
          </a:prstGeom>
          <a:solidFill>
            <a:srgbClr val="FAF0EE"/>
          </a:solidFill>
          <a:ln w="8890">
            <a:solidFill>
              <a:srgbClr val="D4745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0"/>
          <p:cNvSpPr/>
          <p:nvPr/>
        </p:nvSpPr>
        <p:spPr>
          <a:xfrm>
            <a:off x="4937760" y="2286000"/>
            <a:ext cx="3931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C2416"/>
                </a:solidFill>
                <a:effectLst/>
                <a:uFillTx/>
                <a:latin typeface="Georgia"/>
                <a:ea typeface="Georgia"/>
              </a:rPr>
              <a:t>¿Cómo respondo al error?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1"/>
          <p:cNvSpPr/>
          <p:nvPr/>
        </p:nvSpPr>
        <p:spPr>
          <a:xfrm>
            <a:off x="4937760" y="2688480"/>
            <a:ext cx="3931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6B5744"/>
                </a:solidFill>
                <a:effectLst/>
                <a:uFillTx/>
                <a:latin typeface="Calibri"/>
                <a:ea typeface="Calibri"/>
              </a:rPr>
              <a:t>Lo corrijo de inmediato vs. lo uso como oportunidad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2"/>
          <p:cNvSpPr/>
          <p:nvPr/>
        </p:nvSpPr>
        <p:spPr>
          <a:xfrm>
            <a:off x="365760" y="3310200"/>
            <a:ext cx="4205880" cy="895680"/>
          </a:xfrm>
          <a:prstGeom prst="rect">
            <a:avLst/>
          </a:prstGeom>
          <a:solidFill>
            <a:srgbClr val="FAF0EE"/>
          </a:solidFill>
          <a:ln w="8890">
            <a:solidFill>
              <a:srgbClr val="D4745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3"/>
          <p:cNvSpPr/>
          <p:nvPr/>
        </p:nvSpPr>
        <p:spPr>
          <a:xfrm>
            <a:off x="502920" y="3383280"/>
            <a:ext cx="3931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C2416"/>
                </a:solidFill>
                <a:effectLst/>
                <a:uFillTx/>
                <a:latin typeface="Georgia"/>
                <a:ea typeface="Georgia"/>
              </a:rPr>
              <a:t>¿Cómo evalúo?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4"/>
          <p:cNvSpPr/>
          <p:nvPr/>
        </p:nvSpPr>
        <p:spPr>
          <a:xfrm>
            <a:off x="502920" y="3785760"/>
            <a:ext cx="3931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6B5744"/>
                </a:solidFill>
                <a:effectLst/>
                <a:uFillTx/>
                <a:latin typeface="Calibri"/>
                <a:ea typeface="Calibri"/>
              </a:rPr>
              <a:t>Resultado vs. proceso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5"/>
          <p:cNvSpPr/>
          <p:nvPr/>
        </p:nvSpPr>
        <p:spPr>
          <a:xfrm>
            <a:off x="4800600" y="3310200"/>
            <a:ext cx="4205880" cy="895680"/>
          </a:xfrm>
          <a:prstGeom prst="rect">
            <a:avLst/>
          </a:prstGeom>
          <a:solidFill>
            <a:srgbClr val="FAF0EE"/>
          </a:solidFill>
          <a:ln w="8890">
            <a:solidFill>
              <a:srgbClr val="D4745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6"/>
          <p:cNvSpPr/>
          <p:nvPr/>
        </p:nvSpPr>
        <p:spPr>
          <a:xfrm>
            <a:off x="4937760" y="3383280"/>
            <a:ext cx="3931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2C2416"/>
                </a:solidFill>
                <a:effectLst/>
                <a:uFillTx/>
                <a:latin typeface="Georgia"/>
                <a:ea typeface="Georgia"/>
              </a:rPr>
              <a:t>¿Cómo motivo al grupo?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7"/>
          <p:cNvSpPr/>
          <p:nvPr/>
        </p:nvSpPr>
        <p:spPr>
          <a:xfrm>
            <a:off x="4937760" y="3785760"/>
            <a:ext cx="3931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6B5744"/>
                </a:solidFill>
                <a:effectLst/>
                <a:uFillTx/>
                <a:latin typeface="Calibri"/>
                <a:ea typeface="Calibri"/>
              </a:rPr>
              <a:t>Premios y castigos vs. desafíos cognitivos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8"/>
          <p:cNvSpPr/>
          <p:nvPr/>
        </p:nvSpPr>
        <p:spPr>
          <a:xfrm>
            <a:off x="365760" y="4343400"/>
            <a:ext cx="8412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Conocer las teorías no es un ejercicio académico: es una herramienta para fundamentar las propias decisiones de enseñanza.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A37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0"/>
          <p:cNvSpPr/>
          <p:nvPr/>
        </p:nvSpPr>
        <p:spPr>
          <a:xfrm>
            <a:off x="0" y="0"/>
            <a:ext cx="4114440" cy="514332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"/>
          <p:cNvSpPr/>
          <p:nvPr/>
        </p:nvSpPr>
        <p:spPr>
          <a:xfrm>
            <a:off x="4114800" y="0"/>
            <a:ext cx="54360" cy="5143320"/>
          </a:xfrm>
          <a:prstGeom prst="rect">
            <a:avLst/>
          </a:prstGeom>
          <a:solidFill>
            <a:srgbClr val="D4745C"/>
          </a:solidFill>
          <a:ln w="12700">
            <a:solidFill>
              <a:srgbClr val="D474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"/>
          <p:cNvSpPr/>
          <p:nvPr/>
        </p:nvSpPr>
        <p:spPr>
          <a:xfrm>
            <a:off x="365760" y="45720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400" strike="noStrike">
                <a:solidFill>
                  <a:srgbClr val="D4745C"/>
                </a:solidFill>
                <a:effectLst/>
                <a:uFillTx/>
                <a:latin typeface="Calibri"/>
                <a:ea typeface="Calibri"/>
              </a:rPr>
              <a:t>PARTE 1</a:t>
            </a:r>
            <a:endParaRPr lang="es-A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3"/>
          <p:cNvSpPr/>
          <p:nvPr/>
        </p:nvSpPr>
        <p:spPr>
          <a:xfrm>
            <a:off x="365760" y="960120"/>
            <a:ext cx="356580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El</a:t>
            </a:r>
            <a:endParaRPr lang="es-A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Conductismo</a:t>
            </a:r>
            <a:endParaRPr lang="es-A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4"/>
          <p:cNvSpPr/>
          <p:nvPr/>
        </p:nvSpPr>
        <p:spPr>
          <a:xfrm>
            <a:off x="365760" y="3108960"/>
            <a:ext cx="35658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A89880"/>
                </a:solidFill>
                <a:effectLst/>
                <a:uFillTx/>
                <a:latin typeface="Calibri"/>
                <a:ea typeface="Calibri"/>
              </a:rPr>
              <a:t>Solo cuenta lo que</a:t>
            </a:r>
            <a:endParaRPr lang="es-A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A89880"/>
                </a:solidFill>
                <a:effectLst/>
                <a:uFillTx/>
                <a:latin typeface="Calibri"/>
                <a:ea typeface="Calibri"/>
              </a:rPr>
              <a:t>se puede observar</a:t>
            </a:r>
            <a:endParaRPr lang="es-A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A89880"/>
                </a:solidFill>
                <a:effectLst/>
                <a:uFillTx/>
                <a:latin typeface="Calibri"/>
                <a:ea typeface="Calibri"/>
              </a:rPr>
              <a:t>y medir.</a:t>
            </a:r>
            <a:endParaRPr lang="es-A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5"/>
          <p:cNvSpPr/>
          <p:nvPr/>
        </p:nvSpPr>
        <p:spPr>
          <a:xfrm>
            <a:off x="4389120" y="1097280"/>
            <a:ext cx="457164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F5F0E8"/>
                </a:solidFill>
                <a:effectLst/>
                <a:uFillTx/>
                <a:latin typeface="Georgia"/>
                <a:ea typeface="Georgia"/>
              </a:rPr>
              <a:t>"Dénme una docena de niños sanos y haré de ellos médicos, abogados o ladrones, independientemente de sus talentos."</a:t>
            </a:r>
            <a:endParaRPr lang="es-A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6"/>
          <p:cNvSpPr/>
          <p:nvPr/>
        </p:nvSpPr>
        <p:spPr>
          <a:xfrm>
            <a:off x="4389120" y="338328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A89880"/>
                </a:solidFill>
                <a:effectLst/>
                <a:uFillTx/>
                <a:latin typeface="Calibri"/>
                <a:ea typeface="Calibri"/>
              </a:rPr>
              <a:t>Watson, 1913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"/>
          <p:cNvSpPr/>
          <p:nvPr/>
        </p:nvSpPr>
        <p:spPr>
          <a:xfrm>
            <a:off x="0" y="914400"/>
            <a:ext cx="9143640" cy="54360"/>
          </a:xfrm>
          <a:prstGeom prst="rect">
            <a:avLst/>
          </a:prstGeom>
          <a:solidFill>
            <a:srgbClr val="D4745C"/>
          </a:solidFill>
          <a:ln w="12700">
            <a:solidFill>
              <a:srgbClr val="D474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"/>
          <p:cNvSpPr/>
          <p:nvPr/>
        </p:nvSpPr>
        <p:spPr>
          <a:xfrm>
            <a:off x="457200" y="7308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pc="201" strike="noStrike">
                <a:solidFill>
                  <a:srgbClr val="D4745C"/>
                </a:solidFill>
                <a:effectLst/>
                <a:uFillTx/>
                <a:latin typeface="Calibri"/>
                <a:ea typeface="Calibri"/>
              </a:rPr>
              <a:t>CLASE 4</a:t>
            </a:r>
            <a:endParaRPr lang="es-A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3"/>
          <p:cNvSpPr/>
          <p:nvPr/>
        </p:nvSpPr>
        <p:spPr>
          <a:xfrm>
            <a:off x="457200" y="32004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Dos tipos de condicionamiento</a:t>
            </a: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4"/>
          <p:cNvSpPr/>
          <p:nvPr/>
        </p:nvSpPr>
        <p:spPr>
          <a:xfrm>
            <a:off x="365760" y="1051560"/>
            <a:ext cx="4023000" cy="3840120"/>
          </a:xfrm>
          <a:prstGeom prst="rect">
            <a:avLst/>
          </a:prstGeom>
          <a:solidFill>
            <a:srgbClr val="FAF0EE"/>
          </a:solidFill>
          <a:ln w="12700">
            <a:solidFill>
              <a:srgbClr val="D4745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5"/>
          <p:cNvSpPr/>
          <p:nvPr/>
        </p:nvSpPr>
        <p:spPr>
          <a:xfrm>
            <a:off x="365760" y="1051560"/>
            <a:ext cx="4023000" cy="438480"/>
          </a:xfrm>
          <a:prstGeom prst="rect">
            <a:avLst/>
          </a:prstGeom>
          <a:solidFill>
            <a:srgbClr val="D4745C"/>
          </a:solidFill>
          <a:ln w="12700">
            <a:solidFill>
              <a:srgbClr val="D474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6"/>
          <p:cNvSpPr/>
          <p:nvPr/>
        </p:nvSpPr>
        <p:spPr>
          <a:xfrm>
            <a:off x="365760" y="1051560"/>
            <a:ext cx="4023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CLÁSICO — Pavlov / Watson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7"/>
          <p:cNvSpPr/>
          <p:nvPr/>
        </p:nvSpPr>
        <p:spPr>
          <a:xfrm>
            <a:off x="502920" y="1572840"/>
            <a:ext cx="3748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Las respuestas involuntarias se asocian a estímulos originalmente neutros por repetición.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8"/>
          <p:cNvSpPr/>
          <p:nvPr/>
        </p:nvSpPr>
        <p:spPr>
          <a:xfrm>
            <a:off x="548640" y="2267640"/>
            <a:ext cx="3566160" cy="360"/>
          </a:xfrm>
          <a:prstGeom prst="line">
            <a:avLst/>
          </a:prstGeom>
          <a:ln w="10160">
            <a:solidFill>
              <a:srgbClr val="D474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9"/>
          <p:cNvSpPr/>
          <p:nvPr/>
        </p:nvSpPr>
        <p:spPr>
          <a:xfrm>
            <a:off x="502920" y="235908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D4745C"/>
                </a:solidFill>
                <a:effectLst/>
                <a:uFillTx/>
                <a:latin typeface="Calibri"/>
                <a:ea typeface="Calibri"/>
              </a:rPr>
              <a:t>En el jardín:</a:t>
            </a:r>
            <a:endParaRPr lang="es-A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0"/>
          <p:cNvSpPr/>
          <p:nvPr/>
        </p:nvSpPr>
        <p:spPr>
          <a:xfrm>
            <a:off x="502920" y="2670120"/>
            <a:ext cx="374868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Un niño que siente ansiedad ante las hojas de evaluación porque en experiencias previas estuvieron asociadas a consecuencias negativas. El ambiente emocional del aula condiciona las respuestas de los niños.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1"/>
          <p:cNvSpPr/>
          <p:nvPr/>
        </p:nvSpPr>
        <p:spPr>
          <a:xfrm>
            <a:off x="4754880" y="1051560"/>
            <a:ext cx="4023000" cy="3840120"/>
          </a:xfrm>
          <a:prstGeom prst="rect">
            <a:avLst/>
          </a:prstGeom>
          <a:solidFill>
            <a:srgbClr val="F5EDD8"/>
          </a:solidFill>
          <a:ln w="12700">
            <a:solidFill>
              <a:srgbClr val="C8A96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12"/>
          <p:cNvSpPr/>
          <p:nvPr/>
        </p:nvSpPr>
        <p:spPr>
          <a:xfrm>
            <a:off x="4754880" y="1051560"/>
            <a:ext cx="4023000" cy="43848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3"/>
          <p:cNvSpPr/>
          <p:nvPr/>
        </p:nvSpPr>
        <p:spPr>
          <a:xfrm>
            <a:off x="4754880" y="1051560"/>
            <a:ext cx="40230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OPERANTE — Skinner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4"/>
          <p:cNvSpPr/>
          <p:nvPr/>
        </p:nvSpPr>
        <p:spPr>
          <a:xfrm>
            <a:off x="4892040" y="1572840"/>
            <a:ext cx="3748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Las conductas voluntarias se modifican según sus consecuencias: refuerzo, castigo, extinción.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15"/>
          <p:cNvSpPr/>
          <p:nvPr/>
        </p:nvSpPr>
        <p:spPr>
          <a:xfrm>
            <a:off x="4937760" y="2267640"/>
            <a:ext cx="3566160" cy="360"/>
          </a:xfrm>
          <a:prstGeom prst="line">
            <a:avLst/>
          </a:prstGeom>
          <a:ln w="10160">
            <a:solidFill>
              <a:srgbClr val="B886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6"/>
          <p:cNvSpPr/>
          <p:nvPr/>
        </p:nvSpPr>
        <p:spPr>
          <a:xfrm>
            <a:off x="4892040" y="235908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B8860B"/>
                </a:solidFill>
                <a:effectLst/>
                <a:uFillTx/>
                <a:latin typeface="Calibri"/>
                <a:ea typeface="Calibri"/>
              </a:rPr>
              <a:t>En el jardín:</a:t>
            </a:r>
            <a:endParaRPr lang="es-A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7"/>
          <p:cNvSpPr/>
          <p:nvPr/>
        </p:nvSpPr>
        <p:spPr>
          <a:xfrm>
            <a:off x="4892040" y="2670120"/>
            <a:ext cx="374868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Los sistemas de estrellitas, caras felices y puntos de conducta son expresiones directas del condicionamiento operante. Muchas rutinas de premiación del nivel inicial tienen esta raíz teórica.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"/>
          <p:cNvSpPr/>
          <p:nvPr/>
        </p:nvSpPr>
        <p:spPr>
          <a:xfrm>
            <a:off x="0" y="914400"/>
            <a:ext cx="9143640" cy="54360"/>
          </a:xfrm>
          <a:prstGeom prst="rect">
            <a:avLst/>
          </a:prstGeom>
          <a:solidFill>
            <a:srgbClr val="D4745C"/>
          </a:solidFill>
          <a:ln w="12700">
            <a:solidFill>
              <a:srgbClr val="D474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2"/>
          <p:cNvSpPr/>
          <p:nvPr/>
        </p:nvSpPr>
        <p:spPr>
          <a:xfrm>
            <a:off x="457200" y="7308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pc="201" strike="noStrike">
                <a:solidFill>
                  <a:srgbClr val="D4745C"/>
                </a:solidFill>
                <a:effectLst/>
                <a:uFillTx/>
                <a:latin typeface="Calibri"/>
                <a:ea typeface="Calibri"/>
              </a:rPr>
              <a:t>CLASE 4</a:t>
            </a:r>
            <a:endParaRPr lang="es-A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3"/>
          <p:cNvSpPr/>
          <p:nvPr/>
        </p:nvSpPr>
        <p:spPr>
          <a:xfrm>
            <a:off x="457200" y="32004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Los mecanismos del condicionamiento operante</a:t>
            </a:r>
            <a:endParaRPr lang="es-A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4"/>
          <p:cNvSpPr/>
          <p:nvPr/>
        </p:nvSpPr>
        <p:spPr>
          <a:xfrm>
            <a:off x="365760" y="1051560"/>
            <a:ext cx="2285640" cy="438480"/>
          </a:xfrm>
          <a:prstGeom prst="rect">
            <a:avLst/>
          </a:prstGeom>
          <a:solidFill>
            <a:srgbClr val="4A3728"/>
          </a:solidFill>
          <a:ln w="12700">
            <a:solidFill>
              <a:srgbClr val="4A37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5"/>
          <p:cNvSpPr/>
          <p:nvPr/>
        </p:nvSpPr>
        <p:spPr>
          <a:xfrm>
            <a:off x="2697480" y="1051560"/>
            <a:ext cx="3108600" cy="438480"/>
          </a:xfrm>
          <a:prstGeom prst="rect">
            <a:avLst/>
          </a:prstGeom>
          <a:solidFill>
            <a:srgbClr val="4A3728"/>
          </a:solidFill>
          <a:ln w="12700">
            <a:solidFill>
              <a:srgbClr val="4A37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6"/>
          <p:cNvSpPr/>
          <p:nvPr/>
        </p:nvSpPr>
        <p:spPr>
          <a:xfrm>
            <a:off x="5852160" y="1051560"/>
            <a:ext cx="2925720" cy="438480"/>
          </a:xfrm>
          <a:prstGeom prst="rect">
            <a:avLst/>
          </a:prstGeom>
          <a:solidFill>
            <a:srgbClr val="4A3728"/>
          </a:solidFill>
          <a:ln w="12700">
            <a:solidFill>
              <a:srgbClr val="4A37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7"/>
          <p:cNvSpPr/>
          <p:nvPr/>
        </p:nvSpPr>
        <p:spPr>
          <a:xfrm>
            <a:off x="365760" y="1051560"/>
            <a:ext cx="22856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Mecanismo</a:t>
            </a:r>
            <a:endParaRPr lang="es-A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8"/>
          <p:cNvSpPr/>
          <p:nvPr/>
        </p:nvSpPr>
        <p:spPr>
          <a:xfrm>
            <a:off x="2697480" y="1051560"/>
            <a:ext cx="31086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Definición</a:t>
            </a:r>
            <a:endParaRPr lang="es-A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9"/>
          <p:cNvSpPr/>
          <p:nvPr/>
        </p:nvSpPr>
        <p:spPr>
          <a:xfrm>
            <a:off x="5852160" y="1051560"/>
            <a:ext cx="29257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Ejemplo en el jardín</a:t>
            </a:r>
            <a:endParaRPr lang="es-A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0"/>
          <p:cNvSpPr/>
          <p:nvPr/>
        </p:nvSpPr>
        <p:spPr>
          <a:xfrm>
            <a:off x="365760" y="1572840"/>
            <a:ext cx="2285640" cy="804240"/>
          </a:xfrm>
          <a:prstGeom prst="rect">
            <a:avLst/>
          </a:prstGeom>
          <a:solidFill>
            <a:srgbClr val="E4EFE8"/>
          </a:solidFill>
          <a:ln w="10160">
            <a:solidFill>
              <a:srgbClr val="7B9E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1"/>
          <p:cNvSpPr/>
          <p:nvPr/>
        </p:nvSpPr>
        <p:spPr>
          <a:xfrm>
            <a:off x="2697480" y="1572840"/>
            <a:ext cx="3108600" cy="804240"/>
          </a:xfrm>
          <a:prstGeom prst="rect">
            <a:avLst/>
          </a:prstGeom>
          <a:solidFill>
            <a:srgbClr val="FFFFFF"/>
          </a:solidFill>
          <a:ln w="6350">
            <a:solidFill>
              <a:srgbClr val="7B9E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2"/>
          <p:cNvSpPr/>
          <p:nvPr/>
        </p:nvSpPr>
        <p:spPr>
          <a:xfrm>
            <a:off x="5852160" y="1572840"/>
            <a:ext cx="2925720" cy="804240"/>
          </a:xfrm>
          <a:prstGeom prst="rect">
            <a:avLst/>
          </a:prstGeom>
          <a:solidFill>
            <a:srgbClr val="FFFFFF"/>
          </a:solidFill>
          <a:ln w="6350">
            <a:solidFill>
              <a:srgbClr val="7B9E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3"/>
          <p:cNvSpPr/>
          <p:nvPr/>
        </p:nvSpPr>
        <p:spPr>
          <a:xfrm>
            <a:off x="502920" y="1572840"/>
            <a:ext cx="201132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7B9E87"/>
                </a:solidFill>
                <a:effectLst/>
                <a:uFillTx/>
                <a:latin typeface="Georgia"/>
                <a:ea typeface="Georgia"/>
              </a:rPr>
              <a:t>Refuerzo positivo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4"/>
          <p:cNvSpPr/>
          <p:nvPr/>
        </p:nvSpPr>
        <p:spPr>
          <a:xfrm>
            <a:off x="2834640" y="1572840"/>
            <a:ext cx="283428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Se agrega algo agradable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5"/>
          <p:cNvSpPr/>
          <p:nvPr/>
        </p:nvSpPr>
        <p:spPr>
          <a:xfrm>
            <a:off x="5989320" y="1572840"/>
            <a:ext cx="265140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B5744"/>
                </a:solidFill>
                <a:effectLst/>
                <a:uFillTx/>
                <a:latin typeface="Calibri"/>
                <a:ea typeface="Calibri"/>
              </a:rPr>
              <a:t>Elogiar al niño que ordena los materiales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6"/>
          <p:cNvSpPr/>
          <p:nvPr/>
        </p:nvSpPr>
        <p:spPr>
          <a:xfrm>
            <a:off x="365760" y="2441520"/>
            <a:ext cx="2285640" cy="804240"/>
          </a:xfrm>
          <a:prstGeom prst="rect">
            <a:avLst/>
          </a:prstGeom>
          <a:solidFill>
            <a:srgbClr val="E8F2EA"/>
          </a:solidFill>
          <a:ln w="10160">
            <a:solidFill>
              <a:srgbClr val="5B80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7"/>
          <p:cNvSpPr/>
          <p:nvPr/>
        </p:nvSpPr>
        <p:spPr>
          <a:xfrm>
            <a:off x="2697480" y="2441520"/>
            <a:ext cx="3108600" cy="804240"/>
          </a:xfrm>
          <a:prstGeom prst="rect">
            <a:avLst/>
          </a:prstGeom>
          <a:solidFill>
            <a:srgbClr val="FFFFFF"/>
          </a:solidFill>
          <a:ln w="6350">
            <a:solidFill>
              <a:srgbClr val="5B80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8"/>
          <p:cNvSpPr/>
          <p:nvPr/>
        </p:nvSpPr>
        <p:spPr>
          <a:xfrm>
            <a:off x="5852160" y="2441520"/>
            <a:ext cx="2925720" cy="804240"/>
          </a:xfrm>
          <a:prstGeom prst="rect">
            <a:avLst/>
          </a:prstGeom>
          <a:solidFill>
            <a:srgbClr val="FFFFFF"/>
          </a:solidFill>
          <a:ln w="6350">
            <a:solidFill>
              <a:srgbClr val="5B80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9"/>
          <p:cNvSpPr/>
          <p:nvPr/>
        </p:nvSpPr>
        <p:spPr>
          <a:xfrm>
            <a:off x="502920" y="2441520"/>
            <a:ext cx="201132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5B8060"/>
                </a:solidFill>
                <a:effectLst/>
                <a:uFillTx/>
                <a:latin typeface="Georgia"/>
                <a:ea typeface="Georgia"/>
              </a:rPr>
              <a:t>Refuerzo negativo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0"/>
          <p:cNvSpPr/>
          <p:nvPr/>
        </p:nvSpPr>
        <p:spPr>
          <a:xfrm>
            <a:off x="2834640" y="2441520"/>
            <a:ext cx="283428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Se elimina algo desagradable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21"/>
          <p:cNvSpPr/>
          <p:nvPr/>
        </p:nvSpPr>
        <p:spPr>
          <a:xfrm>
            <a:off x="5989320" y="2441520"/>
            <a:ext cx="265140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B5744"/>
                </a:solidFill>
                <a:effectLst/>
                <a:uFillTx/>
                <a:latin typeface="Calibri"/>
                <a:ea typeface="Calibri"/>
              </a:rPr>
              <a:t>Dejar de pedir una tarea cuando el niño cumple otra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22"/>
          <p:cNvSpPr/>
          <p:nvPr/>
        </p:nvSpPr>
        <p:spPr>
          <a:xfrm>
            <a:off x="365760" y="3310200"/>
            <a:ext cx="2285640" cy="804240"/>
          </a:xfrm>
          <a:prstGeom prst="rect">
            <a:avLst/>
          </a:prstGeom>
          <a:solidFill>
            <a:srgbClr val="FAF0EE"/>
          </a:solidFill>
          <a:ln w="1016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23"/>
          <p:cNvSpPr/>
          <p:nvPr/>
        </p:nvSpPr>
        <p:spPr>
          <a:xfrm>
            <a:off x="2697480" y="3310200"/>
            <a:ext cx="3108600" cy="804240"/>
          </a:xfrm>
          <a:prstGeom prst="rect">
            <a:avLst/>
          </a:prstGeom>
          <a:solidFill>
            <a:srgbClr val="FFFFFF"/>
          </a:solidFill>
          <a:ln w="635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24"/>
          <p:cNvSpPr/>
          <p:nvPr/>
        </p:nvSpPr>
        <p:spPr>
          <a:xfrm>
            <a:off x="5852160" y="3310200"/>
            <a:ext cx="2925720" cy="804240"/>
          </a:xfrm>
          <a:prstGeom prst="rect">
            <a:avLst/>
          </a:prstGeom>
          <a:solidFill>
            <a:srgbClr val="FFFFFF"/>
          </a:solidFill>
          <a:ln w="635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5"/>
          <p:cNvSpPr/>
          <p:nvPr/>
        </p:nvSpPr>
        <p:spPr>
          <a:xfrm>
            <a:off x="502920" y="3310200"/>
            <a:ext cx="201132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B85042"/>
                </a:solidFill>
                <a:effectLst/>
                <a:uFillTx/>
                <a:latin typeface="Georgia"/>
                <a:ea typeface="Georgia"/>
              </a:rPr>
              <a:t>Castigo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26"/>
          <p:cNvSpPr/>
          <p:nvPr/>
        </p:nvSpPr>
        <p:spPr>
          <a:xfrm>
            <a:off x="2834640" y="3310200"/>
            <a:ext cx="283428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Se agrega algo desagradable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7"/>
          <p:cNvSpPr/>
          <p:nvPr/>
        </p:nvSpPr>
        <p:spPr>
          <a:xfrm>
            <a:off x="5989320" y="3310200"/>
            <a:ext cx="265140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B5744"/>
                </a:solidFill>
                <a:effectLst/>
                <a:uFillTx/>
                <a:latin typeface="Calibri"/>
                <a:ea typeface="Calibri"/>
              </a:rPr>
              <a:t>Hacer sentar al niño que interrumpe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28"/>
          <p:cNvSpPr/>
          <p:nvPr/>
        </p:nvSpPr>
        <p:spPr>
          <a:xfrm>
            <a:off x="365760" y="4178880"/>
            <a:ext cx="2285640" cy="804240"/>
          </a:xfrm>
          <a:prstGeom prst="rect">
            <a:avLst/>
          </a:prstGeom>
          <a:solidFill>
            <a:srgbClr val="F0ECE8"/>
          </a:solidFill>
          <a:ln w="10160">
            <a:solidFill>
              <a:srgbClr val="6B5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29"/>
          <p:cNvSpPr/>
          <p:nvPr/>
        </p:nvSpPr>
        <p:spPr>
          <a:xfrm>
            <a:off x="2697480" y="4178880"/>
            <a:ext cx="3108600" cy="804240"/>
          </a:xfrm>
          <a:prstGeom prst="rect">
            <a:avLst/>
          </a:prstGeom>
          <a:solidFill>
            <a:srgbClr val="FFFFFF"/>
          </a:solidFill>
          <a:ln w="6350">
            <a:solidFill>
              <a:srgbClr val="6B5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30"/>
          <p:cNvSpPr/>
          <p:nvPr/>
        </p:nvSpPr>
        <p:spPr>
          <a:xfrm>
            <a:off x="5852160" y="4178880"/>
            <a:ext cx="2925720" cy="804240"/>
          </a:xfrm>
          <a:prstGeom prst="rect">
            <a:avLst/>
          </a:prstGeom>
          <a:solidFill>
            <a:srgbClr val="FFFFFF"/>
          </a:solidFill>
          <a:ln w="6350">
            <a:solidFill>
              <a:srgbClr val="6B57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31"/>
          <p:cNvSpPr/>
          <p:nvPr/>
        </p:nvSpPr>
        <p:spPr>
          <a:xfrm>
            <a:off x="502920" y="4178880"/>
            <a:ext cx="201132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6B5744"/>
                </a:solidFill>
                <a:effectLst/>
                <a:uFillTx/>
                <a:latin typeface="Georgia"/>
                <a:ea typeface="Georgia"/>
              </a:rPr>
              <a:t>Extinción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32"/>
          <p:cNvSpPr/>
          <p:nvPr/>
        </p:nvSpPr>
        <p:spPr>
          <a:xfrm>
            <a:off x="2834640" y="4178880"/>
            <a:ext cx="283428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Se deja de reforzar una conducta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33"/>
          <p:cNvSpPr/>
          <p:nvPr/>
        </p:nvSpPr>
        <p:spPr>
          <a:xfrm>
            <a:off x="5989320" y="4178880"/>
            <a:ext cx="265140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B5744"/>
                </a:solidFill>
                <a:effectLst/>
                <a:uFillTx/>
                <a:latin typeface="Calibri"/>
                <a:ea typeface="Calibri"/>
              </a:rPr>
              <a:t>Ignorar la búsqueda de atención inapropiada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34"/>
          <p:cNvSpPr/>
          <p:nvPr/>
        </p:nvSpPr>
        <p:spPr>
          <a:xfrm>
            <a:off x="365760" y="4888080"/>
            <a:ext cx="8412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A89880"/>
                </a:solidFill>
                <a:effectLst/>
                <a:uFillTx/>
                <a:latin typeface="Calibri"/>
                <a:ea typeface="Calibri"/>
              </a:rPr>
              <a:t>El conductismo permite controlar conductas pero no garantiza comprensión. Un niño puede memorizar sin comprender.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C2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0"/>
          <p:cNvSpPr/>
          <p:nvPr/>
        </p:nvSpPr>
        <p:spPr>
          <a:xfrm>
            <a:off x="0" y="0"/>
            <a:ext cx="228240" cy="5143320"/>
          </a:xfrm>
          <a:prstGeom prst="rect">
            <a:avLst/>
          </a:prstGeom>
          <a:solidFill>
            <a:srgbClr val="D4745C"/>
          </a:solidFill>
          <a:ln w="12700">
            <a:solidFill>
              <a:srgbClr val="D474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"/>
          <p:cNvSpPr/>
          <p:nvPr/>
        </p:nvSpPr>
        <p:spPr>
          <a:xfrm>
            <a:off x="5029200" y="0"/>
            <a:ext cx="4114440" cy="5143320"/>
          </a:xfrm>
          <a:prstGeom prst="rect">
            <a:avLst/>
          </a:prstGeom>
          <a:solidFill>
            <a:srgbClr val="4A3728"/>
          </a:solidFill>
          <a:ln w="12700">
            <a:solidFill>
              <a:srgbClr val="4A37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2"/>
          <p:cNvSpPr/>
          <p:nvPr/>
        </p:nvSpPr>
        <p:spPr>
          <a:xfrm>
            <a:off x="5486400" y="2926080"/>
            <a:ext cx="2925720" cy="2925720"/>
          </a:xfrm>
          <a:prstGeom prst="ellipse">
            <a:avLst/>
          </a:prstGeom>
          <a:solidFill>
            <a:srgbClr val="D4745C">
              <a:alpha val="12000"/>
            </a:srgbClr>
          </a:solidFill>
          <a:ln w="19050">
            <a:solidFill>
              <a:srgbClr val="D474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3"/>
          <p:cNvSpPr/>
          <p:nvPr/>
        </p:nvSpPr>
        <p:spPr>
          <a:xfrm>
            <a:off x="457200" y="45720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400" strike="noStrike">
                <a:solidFill>
                  <a:srgbClr val="D4745C"/>
                </a:solidFill>
                <a:effectLst/>
                <a:uFillTx/>
                <a:latin typeface="Calibri"/>
                <a:ea typeface="Calibri"/>
              </a:rPr>
              <a:t>PARTE 2</a:t>
            </a:r>
            <a:endParaRPr lang="es-A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4"/>
          <p:cNvSpPr/>
          <p:nvPr/>
        </p:nvSpPr>
        <p:spPr>
          <a:xfrm>
            <a:off x="457200" y="960120"/>
            <a:ext cx="438876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El giro</a:t>
            </a:r>
            <a:endParaRPr lang="es-A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cognitivista</a:t>
            </a:r>
            <a:endParaRPr lang="es-A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5"/>
          <p:cNvSpPr/>
          <p:nvPr/>
        </p:nvSpPr>
        <p:spPr>
          <a:xfrm>
            <a:off x="457200" y="2834640"/>
            <a:ext cx="43887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A89880"/>
                </a:solidFill>
                <a:effectLst/>
                <a:uFillTx/>
                <a:latin typeface="Calibri"/>
                <a:ea typeface="Calibri"/>
              </a:rPr>
              <a:t>Lo que ocurre</a:t>
            </a:r>
            <a:endParaRPr lang="es-A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A89880"/>
                </a:solidFill>
                <a:effectLst/>
                <a:uFillTx/>
                <a:latin typeface="Calibri"/>
                <a:ea typeface="Calibri"/>
              </a:rPr>
              <a:t>'dentro de la cabeza'</a:t>
            </a:r>
            <a:endParaRPr lang="es-A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A89880"/>
                </a:solidFill>
                <a:effectLst/>
                <a:uFillTx/>
                <a:latin typeface="Calibri"/>
                <a:ea typeface="Calibri"/>
              </a:rPr>
              <a:t>vuelve a ser objeto</a:t>
            </a:r>
            <a:endParaRPr lang="es-A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A89880"/>
                </a:solidFill>
                <a:effectLst/>
                <a:uFillTx/>
                <a:latin typeface="Calibri"/>
                <a:ea typeface="Calibri"/>
              </a:rPr>
              <a:t>de estudio científico.</a:t>
            </a:r>
            <a:endParaRPr lang="es-A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6"/>
          <p:cNvSpPr/>
          <p:nvPr/>
        </p:nvSpPr>
        <p:spPr>
          <a:xfrm>
            <a:off x="5303520" y="1371600"/>
            <a:ext cx="3657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F5F0E8"/>
                </a:solidFill>
                <a:effectLst/>
                <a:uFillTx/>
                <a:latin typeface="Georgia"/>
                <a:ea typeface="Georgia"/>
              </a:rPr>
              <a:t>Años 50-60 del siglo XX: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F5F0E8"/>
                </a:solidFill>
                <a:effectLst/>
                <a:uFillTx/>
                <a:latin typeface="Georgia"/>
                <a:ea typeface="Georgia"/>
              </a:rPr>
              <a:t>la psicología cognitiva desafía el dominio conductista.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1"/>
          <p:cNvSpPr/>
          <p:nvPr/>
        </p:nvSpPr>
        <p:spPr>
          <a:xfrm>
            <a:off x="0" y="914400"/>
            <a:ext cx="9143640" cy="54360"/>
          </a:xfrm>
          <a:prstGeom prst="rect">
            <a:avLst/>
          </a:prstGeom>
          <a:solidFill>
            <a:srgbClr val="D4745C"/>
          </a:solidFill>
          <a:ln w="12700">
            <a:solidFill>
              <a:srgbClr val="D474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2"/>
          <p:cNvSpPr/>
          <p:nvPr/>
        </p:nvSpPr>
        <p:spPr>
          <a:xfrm>
            <a:off x="457200" y="7308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pc="201" strike="noStrike">
                <a:solidFill>
                  <a:srgbClr val="D4745C"/>
                </a:solidFill>
                <a:effectLst/>
                <a:uFillTx/>
                <a:latin typeface="Calibri"/>
                <a:ea typeface="Calibri"/>
              </a:rPr>
              <a:t>CLASE 4</a:t>
            </a:r>
            <a:endParaRPr lang="es-A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3"/>
          <p:cNvSpPr/>
          <p:nvPr/>
        </p:nvSpPr>
        <p:spPr>
          <a:xfrm>
            <a:off x="457200" y="32004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Memoria, atención y aprendizaje</a:t>
            </a: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4"/>
          <p:cNvSpPr/>
          <p:nvPr/>
        </p:nvSpPr>
        <p:spPr>
          <a:xfrm>
            <a:off x="365760" y="1078920"/>
            <a:ext cx="2651400" cy="2377080"/>
          </a:xfrm>
          <a:prstGeom prst="rect">
            <a:avLst/>
          </a:prstGeom>
          <a:solidFill>
            <a:srgbClr val="FAF0EE"/>
          </a:solidFill>
          <a:ln w="12700">
            <a:solidFill>
              <a:srgbClr val="D4745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5"/>
          <p:cNvSpPr/>
          <p:nvPr/>
        </p:nvSpPr>
        <p:spPr>
          <a:xfrm>
            <a:off x="365760" y="1078920"/>
            <a:ext cx="2651400" cy="420120"/>
          </a:xfrm>
          <a:prstGeom prst="rect">
            <a:avLst/>
          </a:prstGeom>
          <a:solidFill>
            <a:srgbClr val="D4745C"/>
          </a:solidFill>
          <a:ln w="12700">
            <a:solidFill>
              <a:srgbClr val="D474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6"/>
          <p:cNvSpPr/>
          <p:nvPr/>
        </p:nvSpPr>
        <p:spPr>
          <a:xfrm>
            <a:off x="365760" y="1078920"/>
            <a:ext cx="26514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Memoria sensorial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7"/>
          <p:cNvSpPr/>
          <p:nvPr/>
        </p:nvSpPr>
        <p:spPr>
          <a:xfrm>
            <a:off x="475560" y="1572840"/>
            <a:ext cx="2422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D4745C"/>
                </a:solidFill>
                <a:effectLst/>
                <a:uFillTx/>
                <a:latin typeface="Calibri"/>
                <a:ea typeface="Calibri"/>
              </a:rPr>
              <a:t>Duración: Milisegundos</a:t>
            </a:r>
            <a:endParaRPr lang="es-A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8"/>
          <p:cNvSpPr/>
          <p:nvPr/>
        </p:nvSpPr>
        <p:spPr>
          <a:xfrm>
            <a:off x="475560" y="1892880"/>
            <a:ext cx="24228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Retiene información por milisegundos. Filtra lo que merece atención.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9"/>
          <p:cNvSpPr/>
          <p:nvPr/>
        </p:nvSpPr>
        <p:spPr>
          <a:xfrm>
            <a:off x="3200400" y="1078920"/>
            <a:ext cx="2651400" cy="2377080"/>
          </a:xfrm>
          <a:prstGeom prst="rect">
            <a:avLst/>
          </a:prstGeom>
          <a:solidFill>
            <a:srgbClr val="F5EDD8"/>
          </a:solidFill>
          <a:ln w="12700">
            <a:solidFill>
              <a:srgbClr val="B8860B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0"/>
          <p:cNvSpPr/>
          <p:nvPr/>
        </p:nvSpPr>
        <p:spPr>
          <a:xfrm>
            <a:off x="3200400" y="1078920"/>
            <a:ext cx="2651400" cy="4201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1"/>
          <p:cNvSpPr/>
          <p:nvPr/>
        </p:nvSpPr>
        <p:spPr>
          <a:xfrm>
            <a:off x="3200400" y="1078920"/>
            <a:ext cx="26514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Memoria de trabajo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2"/>
          <p:cNvSpPr/>
          <p:nvPr/>
        </p:nvSpPr>
        <p:spPr>
          <a:xfrm>
            <a:off x="3310200" y="1572840"/>
            <a:ext cx="2422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B8860B"/>
                </a:solidFill>
                <a:effectLst/>
                <a:uFillTx/>
                <a:latin typeface="Calibri"/>
                <a:ea typeface="Calibri"/>
              </a:rPr>
              <a:t>Duración: Segundos</a:t>
            </a:r>
            <a:endParaRPr lang="es-A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3"/>
          <p:cNvSpPr/>
          <p:nvPr/>
        </p:nvSpPr>
        <p:spPr>
          <a:xfrm>
            <a:off x="3310200" y="1892880"/>
            <a:ext cx="24228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Procesa activamente la información disponible. Capacidad LIMITADA: 7±2 elementos.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14"/>
          <p:cNvSpPr/>
          <p:nvPr/>
        </p:nvSpPr>
        <p:spPr>
          <a:xfrm>
            <a:off x="6035040" y="1078920"/>
            <a:ext cx="2651400" cy="2377080"/>
          </a:xfrm>
          <a:prstGeom prst="rect">
            <a:avLst/>
          </a:prstGeom>
          <a:solidFill>
            <a:srgbClr val="E4EFE8"/>
          </a:solidFill>
          <a:ln w="12700">
            <a:solidFill>
              <a:srgbClr val="7B9E8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5"/>
          <p:cNvSpPr/>
          <p:nvPr/>
        </p:nvSpPr>
        <p:spPr>
          <a:xfrm>
            <a:off x="6035040" y="1078920"/>
            <a:ext cx="2651400" cy="420120"/>
          </a:xfrm>
          <a:prstGeom prst="rect">
            <a:avLst/>
          </a:prstGeom>
          <a:solidFill>
            <a:srgbClr val="7B9E87"/>
          </a:solidFill>
          <a:ln w="12700">
            <a:solidFill>
              <a:srgbClr val="7B9E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6"/>
          <p:cNvSpPr/>
          <p:nvPr/>
        </p:nvSpPr>
        <p:spPr>
          <a:xfrm>
            <a:off x="6035040" y="1078920"/>
            <a:ext cx="26514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Memoria a largo plazo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7"/>
          <p:cNvSpPr/>
          <p:nvPr/>
        </p:nvSpPr>
        <p:spPr>
          <a:xfrm>
            <a:off x="6144840" y="1572840"/>
            <a:ext cx="2422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7B9E87"/>
                </a:solidFill>
                <a:effectLst/>
                <a:uFillTx/>
                <a:latin typeface="Calibri"/>
                <a:ea typeface="Calibri"/>
              </a:rPr>
              <a:t>Duración: Años / toda la vida</a:t>
            </a:r>
            <a:endParaRPr lang="es-A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8"/>
          <p:cNvSpPr/>
          <p:nvPr/>
        </p:nvSpPr>
        <p:spPr>
          <a:xfrm>
            <a:off x="6144840" y="1892880"/>
            <a:ext cx="24228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Almacena conocimientos de manera duradera. Capacidad aparentemente ilimitada.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9"/>
          <p:cNvSpPr/>
          <p:nvPr/>
        </p:nvSpPr>
        <p:spPr>
          <a:xfrm>
            <a:off x="365760" y="3566160"/>
            <a:ext cx="8412120" cy="1325520"/>
          </a:xfrm>
          <a:prstGeom prst="rect">
            <a:avLst/>
          </a:prstGeom>
          <a:solidFill>
            <a:srgbClr val="FAF0EE"/>
          </a:solidFill>
          <a:ln w="10160">
            <a:solidFill>
              <a:srgbClr val="D474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0"/>
          <p:cNvSpPr/>
          <p:nvPr/>
        </p:nvSpPr>
        <p:spPr>
          <a:xfrm>
            <a:off x="548640" y="362088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D4745C"/>
                </a:solidFill>
                <a:effectLst/>
                <a:uFillTx/>
                <a:latin typeface="Calibri"/>
                <a:ea typeface="Calibri"/>
              </a:rPr>
              <a:t>Implicancia didáctica clave: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1"/>
          <p:cNvSpPr/>
          <p:nvPr/>
        </p:nvSpPr>
        <p:spPr>
          <a:xfrm>
            <a:off x="548640" y="3913560"/>
            <a:ext cx="80463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La memoria de trabajo tiene capacidad limitada. Presentar demasiada información nueva al mismo tiempo la satura y dificulta el aprendizaje. Activar conocimientos previos reduce esa carga y facilita la comprensión.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"/>
          <p:cNvSpPr/>
          <p:nvPr/>
        </p:nvSpPr>
        <p:spPr>
          <a:xfrm>
            <a:off x="0" y="914400"/>
            <a:ext cx="9143640" cy="54360"/>
          </a:xfrm>
          <a:prstGeom prst="rect">
            <a:avLst/>
          </a:prstGeom>
          <a:solidFill>
            <a:srgbClr val="D4745C"/>
          </a:solidFill>
          <a:ln w="12700">
            <a:solidFill>
              <a:srgbClr val="D474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"/>
          <p:cNvSpPr/>
          <p:nvPr/>
        </p:nvSpPr>
        <p:spPr>
          <a:xfrm>
            <a:off x="457200" y="7308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pc="201" strike="noStrike">
                <a:solidFill>
                  <a:srgbClr val="D4745C"/>
                </a:solidFill>
                <a:effectLst/>
                <a:uFillTx/>
                <a:latin typeface="Calibri"/>
                <a:ea typeface="Calibri"/>
              </a:rPr>
              <a:t>CLASE 4</a:t>
            </a:r>
            <a:endParaRPr lang="es-A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3"/>
          <p:cNvSpPr/>
          <p:nvPr/>
        </p:nvSpPr>
        <p:spPr>
          <a:xfrm>
            <a:off x="457200" y="32004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Ausubel y el aprendizaje significativo</a:t>
            </a: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4"/>
          <p:cNvSpPr/>
          <p:nvPr/>
        </p:nvSpPr>
        <p:spPr>
          <a:xfrm>
            <a:off x="457200" y="1078920"/>
            <a:ext cx="8229240" cy="959760"/>
          </a:xfrm>
          <a:prstGeom prst="rect">
            <a:avLst/>
          </a:prstGeom>
          <a:solidFill>
            <a:srgbClr val="2C2416"/>
          </a:solidFill>
          <a:ln w="19050">
            <a:solidFill>
              <a:srgbClr val="D4745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5"/>
          <p:cNvSpPr/>
          <p:nvPr/>
        </p:nvSpPr>
        <p:spPr>
          <a:xfrm>
            <a:off x="640080" y="1115640"/>
            <a:ext cx="7863480" cy="88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F5F0E8"/>
                </a:solidFill>
                <a:effectLst/>
                <a:uFillTx/>
                <a:latin typeface="Georgia"/>
                <a:ea typeface="Georgia"/>
              </a:rPr>
              <a:t>"Si tuviese que reducir toda la psicología educativa a un solo principio, diría que el factor más importante que influye en el aprendizaje es lo que el alumno ya sabe."</a:t>
            </a: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6"/>
          <p:cNvSpPr/>
          <p:nvPr/>
        </p:nvSpPr>
        <p:spPr>
          <a:xfrm>
            <a:off x="6675120" y="2057400"/>
            <a:ext cx="19198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i="1" u="none" strike="noStrike">
                <a:solidFill>
                  <a:srgbClr val="A89880"/>
                </a:solidFill>
                <a:effectLst/>
                <a:uFillTx/>
                <a:latin typeface="Calibri"/>
                <a:ea typeface="Calibri"/>
              </a:rPr>
              <a:t>Ausubel, 1963</a:t>
            </a:r>
            <a:endParaRPr lang="es-A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7"/>
          <p:cNvSpPr/>
          <p:nvPr/>
        </p:nvSpPr>
        <p:spPr>
          <a:xfrm>
            <a:off x="365760" y="2359080"/>
            <a:ext cx="4023000" cy="2514240"/>
          </a:xfrm>
          <a:prstGeom prst="rect">
            <a:avLst/>
          </a:prstGeom>
          <a:solidFill>
            <a:srgbClr val="E4EFE8"/>
          </a:solidFill>
          <a:ln w="12700">
            <a:solidFill>
              <a:srgbClr val="7B9E8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8"/>
          <p:cNvSpPr/>
          <p:nvPr/>
        </p:nvSpPr>
        <p:spPr>
          <a:xfrm>
            <a:off x="365760" y="2359080"/>
            <a:ext cx="4023000" cy="411120"/>
          </a:xfrm>
          <a:prstGeom prst="rect">
            <a:avLst/>
          </a:prstGeom>
          <a:solidFill>
            <a:srgbClr val="7B9E87"/>
          </a:solidFill>
          <a:ln w="12700">
            <a:solidFill>
              <a:srgbClr val="7B9E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9"/>
          <p:cNvSpPr/>
          <p:nvPr/>
        </p:nvSpPr>
        <p:spPr>
          <a:xfrm>
            <a:off x="365760" y="2359080"/>
            <a:ext cx="4023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SIGNIFICATIVO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0"/>
          <p:cNvSpPr/>
          <p:nvPr/>
        </p:nvSpPr>
        <p:spPr>
          <a:xfrm>
            <a:off x="502920" y="2834640"/>
            <a:ext cx="374868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r>
              <a:rPr lang="en-US" sz="110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· Nueva información relacionada sustantivamente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con lo que el aprendiz ya sabe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· El conocimiento se organiza y se comprende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· El aprendizaje es duradero y transferible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1"/>
          <p:cNvSpPr/>
          <p:nvPr/>
        </p:nvSpPr>
        <p:spPr>
          <a:xfrm>
            <a:off x="4754880" y="2359080"/>
            <a:ext cx="4023000" cy="2514240"/>
          </a:xfrm>
          <a:prstGeom prst="rect">
            <a:avLst/>
          </a:prstGeom>
          <a:solidFill>
            <a:srgbClr val="FAF0EE"/>
          </a:solidFill>
          <a:ln w="12700">
            <a:solidFill>
              <a:srgbClr val="D4745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2"/>
          <p:cNvSpPr/>
          <p:nvPr/>
        </p:nvSpPr>
        <p:spPr>
          <a:xfrm>
            <a:off x="4754880" y="2359080"/>
            <a:ext cx="4023000" cy="411120"/>
          </a:xfrm>
          <a:prstGeom prst="rect">
            <a:avLst/>
          </a:prstGeom>
          <a:solidFill>
            <a:srgbClr val="D4745C"/>
          </a:solidFill>
          <a:ln w="12700">
            <a:solidFill>
              <a:srgbClr val="D474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3"/>
          <p:cNvSpPr/>
          <p:nvPr/>
        </p:nvSpPr>
        <p:spPr>
          <a:xfrm>
            <a:off x="4754880" y="2359080"/>
            <a:ext cx="4023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MEMORÍSTICO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4"/>
          <p:cNvSpPr/>
          <p:nvPr/>
        </p:nvSpPr>
        <p:spPr>
          <a:xfrm>
            <a:off x="4892040" y="2834640"/>
            <a:ext cx="374868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r>
              <a:rPr lang="en-US" sz="110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· Nueva información incorporada de manera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arbitraria, sin anclaje en lo previo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· El conocimiento se repite pero no se comprende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· Aprendizaje frágil, difícil de transferir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1"/>
          <p:cNvSpPr/>
          <p:nvPr/>
        </p:nvSpPr>
        <p:spPr>
          <a:xfrm>
            <a:off x="0" y="914400"/>
            <a:ext cx="9143640" cy="54360"/>
          </a:xfrm>
          <a:prstGeom prst="rect">
            <a:avLst/>
          </a:prstGeom>
          <a:solidFill>
            <a:srgbClr val="D4745C"/>
          </a:solidFill>
          <a:ln w="12700">
            <a:solidFill>
              <a:srgbClr val="D474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2"/>
          <p:cNvSpPr/>
          <p:nvPr/>
        </p:nvSpPr>
        <p:spPr>
          <a:xfrm>
            <a:off x="457200" y="7308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pc="201" strike="noStrike">
                <a:solidFill>
                  <a:srgbClr val="D4745C"/>
                </a:solidFill>
                <a:effectLst/>
                <a:uFillTx/>
                <a:latin typeface="Calibri"/>
                <a:ea typeface="Calibri"/>
              </a:rPr>
              <a:t>CLASE 4</a:t>
            </a:r>
            <a:endParaRPr lang="es-A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3"/>
          <p:cNvSpPr/>
          <p:nvPr/>
        </p:nvSpPr>
        <p:spPr>
          <a:xfrm>
            <a:off x="457200" y="32004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Implicancias para el nivel inicial</a:t>
            </a: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4"/>
          <p:cNvSpPr/>
          <p:nvPr/>
        </p:nvSpPr>
        <p:spPr>
          <a:xfrm>
            <a:off x="457200" y="109728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La enseñanza no comienza con el nuevo contenido: comienza con lo que los niños ya saben.</a:t>
            </a:r>
            <a:endParaRPr lang="es-A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5"/>
          <p:cNvSpPr/>
          <p:nvPr/>
        </p:nvSpPr>
        <p:spPr>
          <a:xfrm>
            <a:off x="365760" y="1664280"/>
            <a:ext cx="4205880" cy="1298160"/>
          </a:xfrm>
          <a:prstGeom prst="rect">
            <a:avLst/>
          </a:prstGeom>
          <a:solidFill>
            <a:srgbClr val="FFFFFF"/>
          </a:solidFill>
          <a:ln w="10160">
            <a:solidFill>
              <a:srgbClr val="D4745C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6"/>
          <p:cNvSpPr/>
          <p:nvPr/>
        </p:nvSpPr>
        <p:spPr>
          <a:xfrm>
            <a:off x="365760" y="1664280"/>
            <a:ext cx="502560" cy="1298160"/>
          </a:xfrm>
          <a:prstGeom prst="rect">
            <a:avLst/>
          </a:prstGeom>
          <a:solidFill>
            <a:srgbClr val="D4745C"/>
          </a:solidFill>
          <a:ln w="12700">
            <a:solidFill>
              <a:srgbClr val="D474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7"/>
          <p:cNvSpPr/>
          <p:nvPr/>
        </p:nvSpPr>
        <p:spPr>
          <a:xfrm>
            <a:off x="365760" y="1664280"/>
            <a:ext cx="502560" cy="12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1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8"/>
          <p:cNvSpPr/>
          <p:nvPr/>
        </p:nvSpPr>
        <p:spPr>
          <a:xfrm>
            <a:off x="960120" y="177408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C2416"/>
                </a:solidFill>
                <a:effectLst/>
                <a:uFillTx/>
                <a:latin typeface="Georgia"/>
                <a:ea typeface="Georgia"/>
              </a:rPr>
              <a:t>Explorar saberes previos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9"/>
          <p:cNvSpPr/>
          <p:nvPr/>
        </p:nvSpPr>
        <p:spPr>
          <a:xfrm>
            <a:off x="960120" y="2194560"/>
            <a:ext cx="34743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Antes de comenzar una secuencia, preguntar, escuchar, registrar lo que los niños ya saben o creen saber sobre el tema.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10"/>
          <p:cNvSpPr/>
          <p:nvPr/>
        </p:nvSpPr>
        <p:spPr>
          <a:xfrm>
            <a:off x="4800600" y="1664280"/>
            <a:ext cx="4205880" cy="1298160"/>
          </a:xfrm>
          <a:prstGeom prst="rect">
            <a:avLst/>
          </a:prstGeom>
          <a:solidFill>
            <a:srgbClr val="FFFFFF"/>
          </a:solidFill>
          <a:ln w="10160">
            <a:solidFill>
              <a:srgbClr val="B8860B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11"/>
          <p:cNvSpPr/>
          <p:nvPr/>
        </p:nvSpPr>
        <p:spPr>
          <a:xfrm>
            <a:off x="4800600" y="1664280"/>
            <a:ext cx="502560" cy="129816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2"/>
          <p:cNvSpPr/>
          <p:nvPr/>
        </p:nvSpPr>
        <p:spPr>
          <a:xfrm>
            <a:off x="4800600" y="1664280"/>
            <a:ext cx="502560" cy="12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2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3"/>
          <p:cNvSpPr/>
          <p:nvPr/>
        </p:nvSpPr>
        <p:spPr>
          <a:xfrm>
            <a:off x="5394960" y="177408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C2416"/>
                </a:solidFill>
                <a:effectLst/>
                <a:uFillTx/>
                <a:latin typeface="Georgia"/>
                <a:ea typeface="Georgia"/>
              </a:rPr>
              <a:t>Usar organizadores previos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4"/>
          <p:cNvSpPr/>
          <p:nvPr/>
        </p:nvSpPr>
        <p:spPr>
          <a:xfrm>
            <a:off x="5394960" y="2194560"/>
            <a:ext cx="34743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Presentar un marco de referencia antes del contenido nuevo: una imagen, una pregunta provocadora, una situación conocida.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15"/>
          <p:cNvSpPr/>
          <p:nvPr/>
        </p:nvSpPr>
        <p:spPr>
          <a:xfrm>
            <a:off x="365760" y="3127320"/>
            <a:ext cx="4205880" cy="1298160"/>
          </a:xfrm>
          <a:prstGeom prst="rect">
            <a:avLst/>
          </a:prstGeom>
          <a:solidFill>
            <a:srgbClr val="FFFFFF"/>
          </a:solidFill>
          <a:ln w="10160">
            <a:solidFill>
              <a:srgbClr val="7B9E8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16"/>
          <p:cNvSpPr/>
          <p:nvPr/>
        </p:nvSpPr>
        <p:spPr>
          <a:xfrm>
            <a:off x="365760" y="3127320"/>
            <a:ext cx="502560" cy="1298160"/>
          </a:xfrm>
          <a:prstGeom prst="rect">
            <a:avLst/>
          </a:prstGeom>
          <a:solidFill>
            <a:srgbClr val="7B9E87"/>
          </a:solidFill>
          <a:ln w="12700">
            <a:solidFill>
              <a:srgbClr val="7B9E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7"/>
          <p:cNvSpPr/>
          <p:nvPr/>
        </p:nvSpPr>
        <p:spPr>
          <a:xfrm>
            <a:off x="365760" y="3127320"/>
            <a:ext cx="502560" cy="12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3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8"/>
          <p:cNvSpPr/>
          <p:nvPr/>
        </p:nvSpPr>
        <p:spPr>
          <a:xfrm>
            <a:off x="960120" y="323712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C2416"/>
                </a:solidFill>
                <a:effectLst/>
                <a:uFillTx/>
                <a:latin typeface="Georgia"/>
                <a:ea typeface="Georgia"/>
              </a:rPr>
              <a:t>Conectar lo nuevo con lo conocido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9"/>
          <p:cNvSpPr/>
          <p:nvPr/>
        </p:nvSpPr>
        <p:spPr>
          <a:xfrm>
            <a:off x="960120" y="3657600"/>
            <a:ext cx="34743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Diseñar actividades que explícitamente vinculen el nuevo conocimiento con experiencias o saberes previos de los niños.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20"/>
          <p:cNvSpPr/>
          <p:nvPr/>
        </p:nvSpPr>
        <p:spPr>
          <a:xfrm>
            <a:off x="4800600" y="3127320"/>
            <a:ext cx="4205880" cy="1298160"/>
          </a:xfrm>
          <a:prstGeom prst="rect">
            <a:avLst/>
          </a:prstGeom>
          <a:solidFill>
            <a:srgbClr val="FFFFFF"/>
          </a:solidFill>
          <a:ln w="10160">
            <a:solidFill>
              <a:srgbClr val="5B8060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21"/>
          <p:cNvSpPr/>
          <p:nvPr/>
        </p:nvSpPr>
        <p:spPr>
          <a:xfrm>
            <a:off x="4800600" y="3127320"/>
            <a:ext cx="502560" cy="1298160"/>
          </a:xfrm>
          <a:prstGeom prst="rect">
            <a:avLst/>
          </a:prstGeom>
          <a:solidFill>
            <a:srgbClr val="5B8060"/>
          </a:solidFill>
          <a:ln w="12700">
            <a:solidFill>
              <a:srgbClr val="5B80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22"/>
          <p:cNvSpPr/>
          <p:nvPr/>
        </p:nvSpPr>
        <p:spPr>
          <a:xfrm>
            <a:off x="4800600" y="3127320"/>
            <a:ext cx="502560" cy="12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4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23"/>
          <p:cNvSpPr/>
          <p:nvPr/>
        </p:nvSpPr>
        <p:spPr>
          <a:xfrm>
            <a:off x="5394960" y="323712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C2416"/>
                </a:solidFill>
                <a:effectLst/>
                <a:uFillTx/>
                <a:latin typeface="Georgia"/>
                <a:ea typeface="Georgia"/>
              </a:rPr>
              <a:t>Generar conflicto cognitivo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24"/>
          <p:cNvSpPr/>
          <p:nvPr/>
        </p:nvSpPr>
        <p:spPr>
          <a:xfrm>
            <a:off x="5394960" y="3657600"/>
            <a:ext cx="34743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Presentar situaciones que contradigan las ideas previas de los niños para movilizar la reorganización del conocimiento.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25"/>
          <p:cNvSpPr/>
          <p:nvPr/>
        </p:nvSpPr>
        <p:spPr>
          <a:xfrm>
            <a:off x="365760" y="4526280"/>
            <a:ext cx="8412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A89880"/>
                </a:solidFill>
                <a:effectLst/>
                <a:uFillTx/>
                <a:latin typeface="Calibri"/>
                <a:ea typeface="Calibri"/>
              </a:rPr>
              <a:t>Estas estrategias son directamente derivadas del concepto de aprendizaje significativo (Ausubel, 1963).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C2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0"/>
          <p:cNvSpPr/>
          <p:nvPr/>
        </p:nvSpPr>
        <p:spPr>
          <a:xfrm>
            <a:off x="0" y="0"/>
            <a:ext cx="9143640" cy="200880"/>
          </a:xfrm>
          <a:prstGeom prst="rect">
            <a:avLst/>
          </a:prstGeom>
          <a:solidFill>
            <a:srgbClr val="D4745C"/>
          </a:solidFill>
          <a:ln w="12700">
            <a:solidFill>
              <a:srgbClr val="D474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"/>
          <p:cNvSpPr/>
          <p:nvPr/>
        </p:nvSpPr>
        <p:spPr>
          <a:xfrm>
            <a:off x="0" y="4937760"/>
            <a:ext cx="9143640" cy="20556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2"/>
          <p:cNvSpPr/>
          <p:nvPr/>
        </p:nvSpPr>
        <p:spPr>
          <a:xfrm>
            <a:off x="457200" y="38412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400" strike="noStrike">
                <a:solidFill>
                  <a:srgbClr val="A89880"/>
                </a:solidFill>
                <a:effectLst/>
                <a:uFillTx/>
                <a:latin typeface="Calibri"/>
                <a:ea typeface="Calibri"/>
              </a:rPr>
              <a:t>SÍNTESIS · CLASE 4</a:t>
            </a:r>
            <a:endParaRPr lang="es-A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3"/>
          <p:cNvSpPr/>
          <p:nvPr/>
        </p:nvSpPr>
        <p:spPr>
          <a:xfrm>
            <a:off x="457200" y="804600"/>
            <a:ext cx="8229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Ideas para llevarse</a:t>
            </a:r>
            <a:endParaRPr lang="es-A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4"/>
          <p:cNvSpPr/>
          <p:nvPr/>
        </p:nvSpPr>
        <p:spPr>
          <a:xfrm>
            <a:off x="457200" y="1481400"/>
            <a:ext cx="319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745C"/>
                </a:solidFill>
                <a:effectLst/>
                <a:uFillTx/>
                <a:latin typeface="Calibri"/>
                <a:ea typeface="Calibri"/>
              </a:rPr>
              <a:t>◆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5"/>
          <p:cNvSpPr/>
          <p:nvPr/>
        </p:nvSpPr>
        <p:spPr>
          <a:xfrm>
            <a:off x="822960" y="1481400"/>
            <a:ext cx="7954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5F0E8"/>
                </a:solidFill>
                <a:effectLst/>
                <a:uFillTx/>
                <a:latin typeface="Calibri"/>
                <a:ea typeface="Calibri"/>
              </a:rPr>
              <a:t>Toda práctica docente tiene supuestos teóricos implícitos: conocerlos permite fundamentar mejor las decisiones.</a:t>
            </a:r>
            <a:endParaRPr lang="es-A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6"/>
          <p:cNvSpPr/>
          <p:nvPr/>
        </p:nvSpPr>
        <p:spPr>
          <a:xfrm>
            <a:off x="457200" y="2094120"/>
            <a:ext cx="319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745C"/>
                </a:solidFill>
                <a:effectLst/>
                <a:uFillTx/>
                <a:latin typeface="Calibri"/>
                <a:ea typeface="Calibri"/>
              </a:rPr>
              <a:t>◆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7"/>
          <p:cNvSpPr/>
          <p:nvPr/>
        </p:nvSpPr>
        <p:spPr>
          <a:xfrm>
            <a:off x="822960" y="2094120"/>
            <a:ext cx="7954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5F0E8"/>
                </a:solidFill>
                <a:effectLst/>
                <a:uFillTx/>
                <a:latin typeface="Calibri"/>
                <a:ea typeface="Calibri"/>
              </a:rPr>
              <a:t>El conductismo explica el aprendizaje como cambio de conducta por refuerzo o castigo. Permite controlar conductas pero no garantiza comprensión.</a:t>
            </a:r>
            <a:endParaRPr lang="es-A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8"/>
          <p:cNvSpPr/>
          <p:nvPr/>
        </p:nvSpPr>
        <p:spPr>
          <a:xfrm>
            <a:off x="457200" y="2706480"/>
            <a:ext cx="319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4745C"/>
                </a:solidFill>
                <a:effectLst/>
                <a:uFillTx/>
                <a:latin typeface="Calibri"/>
                <a:ea typeface="Calibri"/>
              </a:rPr>
              <a:t>◆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9"/>
          <p:cNvSpPr/>
          <p:nvPr/>
        </p:nvSpPr>
        <p:spPr>
          <a:xfrm>
            <a:off x="822960" y="2706480"/>
            <a:ext cx="7954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5F0E8"/>
                </a:solidFill>
                <a:effectLst/>
                <a:uFillTx/>
                <a:latin typeface="Calibri"/>
                <a:ea typeface="Calibri"/>
              </a:rPr>
              <a:t>El cognitivismo recuperó el estudio de los procesos mentales: percepción, atención, memoria, razonamiento.</a:t>
            </a:r>
            <a:endParaRPr lang="es-A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0"/>
          <p:cNvSpPr/>
          <p:nvPr/>
        </p:nvSpPr>
        <p:spPr>
          <a:xfrm>
            <a:off x="457200" y="3319200"/>
            <a:ext cx="319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8A96E"/>
                </a:solidFill>
                <a:effectLst/>
                <a:uFillTx/>
                <a:latin typeface="Calibri"/>
                <a:ea typeface="Calibri"/>
              </a:rPr>
              <a:t>◆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1"/>
          <p:cNvSpPr/>
          <p:nvPr/>
        </p:nvSpPr>
        <p:spPr>
          <a:xfrm>
            <a:off x="822960" y="3319200"/>
            <a:ext cx="7954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5F0E8"/>
                </a:solidFill>
                <a:effectLst/>
                <a:uFillTx/>
                <a:latin typeface="Calibri"/>
                <a:ea typeface="Calibri"/>
              </a:rPr>
              <a:t>Para Ausubel, el factor más importante del aprendizaje es lo que el alumno ya sabe: explorar saberes previos es condición del aprendizaje significativo.</a:t>
            </a:r>
            <a:endParaRPr lang="es-A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2"/>
          <p:cNvSpPr/>
          <p:nvPr/>
        </p:nvSpPr>
        <p:spPr>
          <a:xfrm>
            <a:off x="457200" y="3931920"/>
            <a:ext cx="319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8A96E"/>
                </a:solidFill>
                <a:effectLst/>
                <a:uFillTx/>
                <a:latin typeface="Calibri"/>
                <a:ea typeface="Calibri"/>
              </a:rPr>
              <a:t>◆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3"/>
          <p:cNvSpPr/>
          <p:nvPr/>
        </p:nvSpPr>
        <p:spPr>
          <a:xfrm>
            <a:off x="822960" y="3931920"/>
            <a:ext cx="7954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5F0E8"/>
                </a:solidFill>
                <a:effectLst/>
                <a:uFillTx/>
                <a:latin typeface="Calibri"/>
                <a:ea typeface="Calibri"/>
              </a:rPr>
              <a:t>Ambas teorías tienen aportes y límites. El aprendizaje ocurre en situación, con otros, en contextos culturales: algo que veremos con Piaget y Vygotski.</a:t>
            </a:r>
            <a:endParaRPr lang="es-AR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4"/>
          <p:cNvSpPr/>
          <p:nvPr/>
        </p:nvSpPr>
        <p:spPr>
          <a:xfrm>
            <a:off x="457200" y="4617720"/>
            <a:ext cx="8229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A89880"/>
                </a:solidFill>
                <a:effectLst/>
                <a:uFillTx/>
                <a:latin typeface="Calibri"/>
                <a:ea typeface="Calibri"/>
              </a:rPr>
              <a:t>Para la próxima clase: leer el texto introductorio sobre Piaget. Anotar qué es lo más novedoso de esta perspectiva para vos como futura docente.</a:t>
            </a:r>
            <a:endParaRPr lang="es-A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LibreOffice/26.2.2.2$Linux_X86_64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2026-03-31T21:31:17Z</dcterms:created>
  <dc:creator>PptxGenJS</dc:creator>
  <dc:description/>
  <dc:language>es-AR</dc:language>
  <cp:lastModifiedBy/>
  <dcterms:modified xsi:type="dcterms:W3CDTF">2026-04-24T11:29:31Z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