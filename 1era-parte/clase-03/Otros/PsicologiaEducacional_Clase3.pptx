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82880"/>
            <a:ext cx="1645920" cy="1645920"/>
          </a:xfrm>
          <a:prstGeom prst="ellipse">
            <a:avLst/>
          </a:prstGeom>
          <a:solidFill>
            <a:srgbClr val="9B7EA6">
              <a:alpha val="15000"/>
            </a:srgbClr>
          </a:solidFill>
          <a:ln w="19050">
            <a:solidFill>
              <a:srgbClr val="9B7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especificidad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aprendizaje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en la escuela: ¿igual o diferente?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Perrenoud (1990) · Jackson (1968) · Charlot (2000)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empezar...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1920240"/>
          </a:xfrm>
          <a:prstGeom prst="rect">
            <a:avLst/>
          </a:prstGeom>
          <a:solidFill>
            <a:srgbClr val="2C2416"/>
          </a:solidFill>
          <a:ln w="1905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70432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Recordá tu primer día de jardín o de escuela.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tuviste que aprender para estar ahí?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te lo enseñó?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 2 minutos. Después lo compartimos.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606040" cy="402336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rutinas de la sala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657600"/>
            <a:ext cx="2606040" cy="402336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 del grupo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606040" cy="402336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tiempos de espera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2606040" cy="402336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relacionarme con otros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4206240"/>
            <a:ext cx="2606040" cy="402336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2062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escuchar a la maestra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todo aprendizaje es lo mismo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384048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70432"/>
            <a:ext cx="640080" cy="64008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espontáneo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la vida cotidiana sin intención instructiva. Situado, implícito, sin esfuerzo deliberado.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aprender que el fuego quema.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51760" cy="3840480"/>
          </a:xfrm>
          <a:prstGeom prst="rect">
            <a:avLst/>
          </a:prstGeom>
          <a:solidFill>
            <a:srgbClr val="F5EDD8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170432"/>
            <a:ext cx="640080" cy="6400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9385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en crianza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adultos se proponen enseñar algo. Hay intencionalidad, pero el marco es vincular y afectivo, no institucional.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078992"/>
            <a:ext cx="2651760" cy="3840480"/>
          </a:xfrm>
          <a:prstGeom prst="rect">
            <a:avLst/>
          </a:prstGeom>
          <a:solidFill>
            <a:srgbClr val="F0EAF4"/>
          </a:solidFill>
          <a:ln w="1270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170432"/>
            <a:ext cx="640080" cy="640080"/>
          </a:xfrm>
          <a:prstGeom prst="ellipse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9385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escolar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606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instituciones con propósito formativo. Tiempos, espacios y evaluaciones organizados. El sujeto asume el rol de alumno.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demandas cognitivas específicas de la escuela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impone formas específicas de relacionarse con el conocimiento.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" cy="960120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530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Descontextualizado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756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se presenta separado de sus usos prácticos inmediatos. Se aprende 'para más adelante'.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79192"/>
            <a:ext cx="530352" cy="960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9192"/>
            <a:ext cx="530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2770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Simbólico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154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aprende a partir de representaciones abstractas: textos, números, gráficos, en lugar de objetos concretos.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5B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58184"/>
            <a:ext cx="530352" cy="960120"/>
          </a:xfrm>
          <a:prstGeom prst="rect">
            <a:avLst/>
          </a:prstGeom>
          <a:solidFill>
            <a:srgbClr val="5B4080"/>
          </a:solidFill>
          <a:ln w="12700">
            <a:solidFill>
              <a:srgbClr val="5B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58184"/>
            <a:ext cx="530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4128" y="3849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Diferido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42336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utilidad de lo aprendido no siempre es visible para quien aprende. El sentido es proyectivo.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estas demandas orienta el diseño de propuestas de enseñanza más apropiadas para el nivel inicial.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Aprender el oficio de alumno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960120"/>
          </a:xfrm>
          <a:prstGeom prst="rect">
            <a:avLst/>
          </a:prstGeom>
          <a:solidFill>
            <a:srgbClr val="2C2416"/>
          </a:solidFill>
          <a:ln w="1524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"Para tener éxito en la escuela no alcanza con aprender los contenidos del curriculum: hay que aprender a ser alumno."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057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Perrenoud, 1990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oficio de alumno incluye saber...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60520" cy="493776"/>
          </a:xfrm>
          <a:prstGeom prst="rect">
            <a:avLst/>
          </a:prstGeom>
          <a:solidFill>
            <a:srgbClr val="F0EAF4"/>
          </a:solidFill>
          <a:ln w="762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3464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Cuándo hablar y cuándo guardar silencio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4160520" cy="493776"/>
          </a:xfrm>
          <a:prstGeom prst="rect">
            <a:avLst/>
          </a:prstGeom>
          <a:solidFill>
            <a:srgbClr val="F0EAF4"/>
          </a:solidFill>
          <a:ln w="762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44728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Cómo interpretar qué espera la docente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059936"/>
            <a:ext cx="4160520" cy="493776"/>
          </a:xfrm>
          <a:prstGeom prst="rect">
            <a:avLst/>
          </a:prstGeom>
          <a:solidFill>
            <a:srgbClr val="F0EAF4"/>
          </a:solidFill>
          <a:ln w="762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05993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Cómo responder preguntas cuya respuesta ya es conocida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60520" cy="493776"/>
          </a:xfrm>
          <a:prstGeom prst="rect">
            <a:avLst/>
          </a:prstGeom>
          <a:solidFill>
            <a:srgbClr val="F0EAF4"/>
          </a:solidFill>
          <a:ln w="762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3464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Cómo manejar el aburrimiento y la frustración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447288"/>
            <a:ext cx="4160520" cy="493776"/>
          </a:xfrm>
          <a:prstGeom prst="rect">
            <a:avLst/>
          </a:prstGeom>
          <a:solidFill>
            <a:srgbClr val="F0EAF4"/>
          </a:solidFill>
          <a:ln w="762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44728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Cómo participar en las rutinas y rituales del aula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curriculum oculto (Jackson, 1968)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aprende en la escuela sin estar explícitamente planificado.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517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18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7E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multitudes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743200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es convivencia masiva. Exige aprender a esperar, a compartir, a tolerar la presencia de otros.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517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18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7E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elogios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10128" y="2743200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evalúa permanentemente con gestos, miradas y comentarios, no solo con calificaciones formales.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517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6184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447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7E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poder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44768" y="2743200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tiene una estructura jerárquica que el alumno aprende a reconocer y navegar.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8412480" cy="914400"/>
          </a:xfrm>
          <a:prstGeom prst="rect">
            <a:avLst/>
          </a:prstGeom>
          <a:solidFill>
            <a:srgbClr val="F0EAF4"/>
          </a:solidFill>
          <a:ln w="10160">
            <a:solidFill>
              <a:srgbClr val="9B7E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 (2000) agrega — La relación con el saber: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3525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en la escuela es construir una relación particular con el conocimiento, con la institución y con uno mismo como sujeto que aprende.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dimensión de equidad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oficio de alumno se aprende pero no se enseña... ¿quién está en mejores condiciones de aprenderlo?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206240" cy="2852928"/>
          </a:xfrm>
          <a:prstGeom prst="rect">
            <a:avLst/>
          </a:prstGeom>
          <a:solidFill>
            <a:srgbClr val="F0EAF4"/>
          </a:solidFill>
          <a:ln w="12700">
            <a:solidFill>
              <a:srgbClr val="9B7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4206240" cy="420624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capital cultural escolar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Llegan familiarizados con los códigos institucionales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626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Reconocen la conversación académica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Habituados al vínculo con textos escritos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 oficio se aprende con menos esfuerzo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4206240" cy="2852928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874520"/>
            <a:ext cx="420624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745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capital previo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3957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Doble aprendizaje: el oficio Y los contenidos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9626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Los códigos institucionales les son ajenos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5295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Mayor riesgo de ser leídos como 'problema'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4096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 brecha se amplía si el oficio no se enseña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Enseñar el oficio de alumno no es un prerrequisito al aprendizaje 'real': es, en sí misma, una tarea pedagógica de primer orden.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7EA6"/>
          </a:solidFill>
          <a:ln w="12700">
            <a:solidFill>
              <a:srgbClr val="9B7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CLASE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para llevarse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escolar tiene características que lo distinguen de otras formas de aprender.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93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impone demandas cognitivas específicas: conocimiento descontextualizado, simbólico y de horizonte diferido.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tener éxito escolar es necesario aprender el oficio de alumno (Perrenoud), no solo los contenidos.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92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curriculum oculto evalúa habilidades que nadie enseña de manera explícita (Jackson, Charlot).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Enseñar el oficio de alumno es una tarea pedagógica con dimensión de justicia educativa.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próxima: ¿qué saben hacer los chicos al terminar sala de 5 que no sabían al entrar? Listar: aprendizajes del curriculum / del oficio.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2026-03-31T21:29:05Z</dcterms:created>
  <dcterms:modified xsi:type="dcterms:W3CDTF">2026-03-31T21:29:05Z</dcterms:modified>
</cp:coreProperties>
</file>