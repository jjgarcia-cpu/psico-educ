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B85042">
              <a:alpha val="16000"/>
            </a:srgbClr>
          </a:solidFill>
          <a:ln w="12700">
            <a:solidFill>
              <a:srgbClr val="B85042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C8793A">
              <a:alpha val="14000"/>
            </a:srgbClr>
          </a:solidFill>
          <a:ln w="12700">
            <a:solidFill>
              <a:srgbClr val="C8793A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011680" cy="2011680"/>
          </a:xfrm>
          <a:prstGeom prst="ellipse">
            <a:avLst/>
          </a:prstGeom>
          <a:solidFill>
            <a:srgbClr val="5C8A70">
              <a:alpha val="12000"/>
            </a:srgbClr>
          </a:solidFill>
          <a:ln w="12700">
            <a:solidFill>
              <a:srgbClr val="5C8A70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PROFESORADO DE EDUCACIÓN INICIAL · 2° AÑO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2011680" cy="347472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· CLASE 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 I y teorías del aprendizaje I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conductismo a Piaget y Vygotski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364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activo · Trabajo en grupos · Actividades A–D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9 · REPASO 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hacemos hoy?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1005840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90472"/>
            <a:ext cx="822960" cy="8229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90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5087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856232"/>
            <a:ext cx="6035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conceptual colectivo en el pizarrón. ¿Qué recordamos de cada teoría?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618488"/>
            <a:ext cx="914400" cy="310896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6184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514600"/>
            <a:ext cx="8503920" cy="1005840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87752"/>
            <a:ext cx="822960" cy="8229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877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2606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A–D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2953512"/>
            <a:ext cx="6035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actividades grupales de repaso en rotación: línea del tiempo, juego de conceptos, análisis de viñetas y preguntas pendientes.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2715768"/>
            <a:ext cx="914400" cy="310896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7157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611880"/>
            <a:ext cx="8503920" cy="1005840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85032"/>
            <a:ext cx="822960" cy="8229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850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37033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050792"/>
            <a:ext cx="6035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del mapa, resolución de dudas y consigna de salida individual.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3813048"/>
            <a:ext cx="914400" cy="310896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38130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Educacional · Profesorado de Educación Inicial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9536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· MAPA CONCEPTUAL COLECTIVO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nos quedó de cada teoría?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560320" cy="1481328"/>
          </a:xfrm>
          <a:prstGeom prst="ellipse">
            <a:avLst/>
          </a:prstGeom>
          <a:solidFill>
            <a:srgbClr val="5C5C5C">
              <a:alpha val="12000"/>
            </a:srgbClr>
          </a:solidFill>
          <a:ln w="25400">
            <a:solidFill>
              <a:srgbClr val="5C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3619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Conductismo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Pavlov · Watson · Skinner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481328"/>
          </a:xfrm>
          <a:prstGeom prst="ellipse">
            <a:avLst/>
          </a:prstGeom>
          <a:solidFill>
            <a:srgbClr val="C8793A">
              <a:alpha val="12000"/>
            </a:srgbClr>
          </a:solidFill>
          <a:ln w="25400">
            <a:solidFill>
              <a:srgbClr val="C879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53619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7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Cognitivismo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87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Ausubel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significativo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560320" cy="1481328"/>
          </a:xfrm>
          <a:prstGeom prst="ellipse">
            <a:avLst/>
          </a:prstGeom>
          <a:solidFill>
            <a:srgbClr val="B85042">
              <a:alpha val="12000"/>
            </a:srgbClr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53619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Piaget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Psicogenética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2560320" cy="1481328"/>
          </a:xfrm>
          <a:prstGeom prst="ellipse">
            <a:avLst/>
          </a:prstGeom>
          <a:solidFill>
            <a:srgbClr val="B85042">
              <a:alpha val="12000"/>
            </a:srgbClr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2783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Vygotski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Sociocultural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3063240"/>
            <a:ext cx="2560320" cy="1481328"/>
          </a:xfrm>
          <a:prstGeom prst="ellipse">
            <a:avLst/>
          </a:prstGeom>
          <a:solidFill>
            <a:srgbClr val="C8793A">
              <a:alpha val="12000"/>
            </a:srgbClr>
          </a:solidFill>
          <a:ln w="25400">
            <a:solidFill>
              <a:srgbClr val="C879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22783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7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Bruner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063240"/>
            <a:ext cx="2560320" cy="1481328"/>
          </a:xfrm>
          <a:prstGeom prst="ellipse">
            <a:avLst/>
          </a:prstGeom>
          <a:solidFill>
            <a:srgbClr val="5C8A70">
              <a:alpha val="12000"/>
            </a:srgbClr>
          </a:solidFill>
          <a:ln w="25400">
            <a:solidFill>
              <a:srgbClr val="5C8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22783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8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Gardner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Inteligencias múltiples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¿con qué concepto, frase o imagen se quedan de cada una?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6460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Educacional · Profesorado de Educación Inicial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59536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A · LÍNEA DEL TIEMPO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658368"/>
            <a:ext cx="2286000" cy="42062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18120" y="658368"/>
            <a:ext cx="1005840" cy="42062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65836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línea del tiempo teórica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Completá en grupo la siguiente tabla: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1865376" cy="3840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" y="2121408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/ Autor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542032"/>
            <a:ext cx="1865376" cy="347472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257860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Conductismo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916936"/>
            <a:ext cx="186537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" y="29535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Cognitivismo / Ausubel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291840"/>
            <a:ext cx="1865376" cy="347472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3328416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Piaget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666744"/>
            <a:ext cx="186537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" y="370332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Vygotski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041648"/>
            <a:ext cx="1865376" cy="347472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" y="407822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416552"/>
            <a:ext cx="186537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" y="445312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Gardner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40280" y="2121408"/>
            <a:ext cx="2139696" cy="384048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95144" y="212140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240280" y="2542032"/>
            <a:ext cx="2139696" cy="347472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2916936"/>
            <a:ext cx="21396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3291840"/>
            <a:ext cx="2139696" cy="347472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3666744"/>
            <a:ext cx="21396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4041648"/>
            <a:ext cx="2139696" cy="347472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4416552"/>
            <a:ext cx="21396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2121408"/>
            <a:ext cx="2139696" cy="3840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9704" y="212140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del aprendizaje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434840" y="2542032"/>
            <a:ext cx="2139696" cy="347472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34840" y="2916936"/>
            <a:ext cx="21396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34840" y="3291840"/>
            <a:ext cx="2139696" cy="347472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34840" y="3666744"/>
            <a:ext cx="21396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4840" y="4041648"/>
            <a:ext cx="2139696" cy="347472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4416552"/>
            <a:ext cx="21396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9400" y="2121408"/>
            <a:ext cx="2322576" cy="384048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84264" y="2121408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NI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629400" y="2542032"/>
            <a:ext cx="2322576" cy="347472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29400" y="2916936"/>
            <a:ext cx="232257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29400" y="3291840"/>
            <a:ext cx="2322576" cy="347472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29400" y="3666744"/>
            <a:ext cx="232257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29400" y="4041648"/>
            <a:ext cx="2322576" cy="347472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29400" y="4416552"/>
            <a:ext cx="232257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86460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Educacional · Profesorado de Educación Inicial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59536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B · JUEGO DE CONCEPTOS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658368"/>
            <a:ext cx="2286000" cy="42062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18120" y="658368"/>
            <a:ext cx="1005840" cy="42062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65836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juego de los conceptos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toma una tarjeta. Explicá el concepto sin decir la palabra que figura en la tarjeta. El grupo adivina: ¿a qué teoría pertenece?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2359152"/>
            <a:ext cx="2011680" cy="804672"/>
          </a:xfrm>
          <a:prstGeom prst="rect">
            <a:avLst/>
          </a:prstGeom>
          <a:solidFill>
            <a:srgbClr val="F5F4F0"/>
          </a:solidFill>
          <a:ln w="19050">
            <a:solidFill>
              <a:srgbClr val="C879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359152"/>
            <a:ext cx="201168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505456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ZDP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50592" y="2359152"/>
            <a:ext cx="2011680" cy="804672"/>
          </a:xfrm>
          <a:prstGeom prst="rect">
            <a:avLst/>
          </a:prstGeom>
          <a:solidFill>
            <a:srgbClr val="F5F4F0"/>
          </a:solidFill>
          <a:ln w="19050">
            <a:solidFill>
              <a:srgbClr val="C879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2359152"/>
            <a:ext cx="201168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3744" y="2505456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Asimilación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53712" y="2359152"/>
            <a:ext cx="2011680" cy="804672"/>
          </a:xfrm>
          <a:prstGeom prst="rect">
            <a:avLst/>
          </a:prstGeom>
          <a:solidFill>
            <a:srgbClr val="F5F4F0"/>
          </a:solidFill>
          <a:ln w="19050">
            <a:solidFill>
              <a:srgbClr val="C879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53712" y="2359152"/>
            <a:ext cx="201168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505456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Refuerzo positivo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56832" y="2359152"/>
            <a:ext cx="2011680" cy="804672"/>
          </a:xfrm>
          <a:prstGeom prst="rect">
            <a:avLst/>
          </a:prstGeom>
          <a:solidFill>
            <a:srgbClr val="F5F4F0"/>
          </a:solidFill>
          <a:ln w="19050">
            <a:solidFill>
              <a:srgbClr val="C879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56832" y="2359152"/>
            <a:ext cx="201168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2505456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Subsumidores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" y="3255264"/>
            <a:ext cx="2011680" cy="804672"/>
          </a:xfrm>
          <a:prstGeom prst="rect">
            <a:avLst/>
          </a:prstGeom>
          <a:solidFill>
            <a:srgbClr val="F5F4F0"/>
          </a:solidFill>
          <a:ln w="19050">
            <a:solidFill>
              <a:srgbClr val="C879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3255264"/>
            <a:ext cx="201168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3401568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Andamiaje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450592" y="3255264"/>
            <a:ext cx="2011680" cy="804672"/>
          </a:xfrm>
          <a:prstGeom prst="rect">
            <a:avLst/>
          </a:prstGeom>
          <a:solidFill>
            <a:srgbClr val="F5F4F0"/>
          </a:solidFill>
          <a:ln w="19050">
            <a:solidFill>
              <a:srgbClr val="C879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50592" y="3255264"/>
            <a:ext cx="201168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3744" y="3401568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Conflicto cognitivo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53712" y="3255264"/>
            <a:ext cx="2011680" cy="804672"/>
          </a:xfrm>
          <a:prstGeom prst="rect">
            <a:avLst/>
          </a:prstGeom>
          <a:solidFill>
            <a:srgbClr val="F5F4F0"/>
          </a:solidFill>
          <a:ln w="19050">
            <a:solidFill>
              <a:srgbClr val="C879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53712" y="3255264"/>
            <a:ext cx="201168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3401568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Aprendizaje significativo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56832" y="3255264"/>
            <a:ext cx="2011680" cy="804672"/>
          </a:xfrm>
          <a:prstGeom prst="rect">
            <a:avLst/>
          </a:prstGeom>
          <a:solidFill>
            <a:srgbClr val="F5F4F0"/>
          </a:solidFill>
          <a:ln w="19050">
            <a:solidFill>
              <a:srgbClr val="C879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56832" y="3255264"/>
            <a:ext cx="201168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9984" y="3401568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Inteligencia naturalista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5760" y="486460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Educacional · Profesorado de Educación Inicial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59536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C · SITUACIONES DE SALA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658368"/>
            <a:ext cx="2286000" cy="42062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18120" y="658368"/>
            <a:ext cx="1005840" cy="42062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65836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teoría 'ves' en esta situación?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viñeta: (a) ¿qué teoría fundamenta la práctica? (b) ¿qué cambiarías desde otro enfoque? (c) ¿qué concepto clave está en juego?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8503920" cy="768096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377440"/>
            <a:ext cx="603504" cy="60350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2416" y="2395728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docente reparte fichas. Cuando un niño responde bien, le pone una estrella. Cuando se equivoca, le pide que lo intente de nuevo sin explicación.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172968"/>
            <a:ext cx="8503920" cy="768096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246120"/>
            <a:ext cx="603504" cy="60350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2461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42416" y="3264408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docente propone mezclar colores. No da consigna: solo observa y pregunta '¿qué pasó?', '¿por qué creés que cambió de color?'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4041648"/>
            <a:ext cx="8503920" cy="768096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4114800"/>
            <a:ext cx="603504" cy="60350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114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42416" y="4133088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unidad de transporte, la docente pregunta cómo llegaron hoy. Anota todo en un afiche. Al final de la unidad, vuelven a él.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Educacional · Profesorado de Educación Inicial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59536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D + CONSIGNA DE SALIDA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2286000"/>
          </a:xfrm>
          <a:prstGeom prst="rect">
            <a:avLst/>
          </a:prstGeom>
          <a:solidFill>
            <a:srgbClr val="F5F4F0"/>
          </a:solidFill>
          <a:ln w="12700">
            <a:solidFill>
              <a:srgbClr val="C879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11480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3210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7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83210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que me quedaron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84124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08176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 individualmente una duda, una pregunta o un concepto que todavía no terminaste de entender.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más concreta sea la pregunta, más útil para el repaso colectivo.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14800" cy="22860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8595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 de salida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280160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de la Unidad II que más me costó entender fue...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00600" y="19019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...y ahora la entiendo como: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241401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guardan. Se usan al inicio de la Clase 10.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291840"/>
            <a:ext cx="8503920" cy="1371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01568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evalúa el parcial es exactamente lo que estamos repasando: articular teoría y práctica, usar vocabulario preciso, y reflexionar sobre el rol docente.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486460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Educacional · Profesorado de Educación Inicial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59536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B85042">
              <a:alpha val="14000"/>
            </a:srgbClr>
          </a:solidFill>
          <a:ln w="12700">
            <a:solidFill>
              <a:srgbClr val="B85042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2926080" cy="2926080"/>
          </a:xfrm>
          <a:prstGeom prst="ellipse">
            <a:avLst/>
          </a:prstGeom>
          <a:solidFill>
            <a:srgbClr val="C8793A">
              <a:alpha val="14000"/>
            </a:srgbClr>
          </a:solidFill>
          <a:ln w="12700">
            <a:solidFill>
              <a:srgbClr val="C8793A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· CLASE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la Clase 9 repasó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54864" cy="42062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6187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Psicología de la Educación es una disciplina puente con triple finalidad (Coll, 1997).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54864" cy="42062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385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Conductismo: el aprendizaje como cambio de conducta por refuerzo. Cognitivismo: el rol de los procesos mentales y los conocimientos previos.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42062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1518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Piaget: el sujeto construye activamente el conocimiento. Asimilación → conflicto cognitivo → acomodación → equilibración.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54864" cy="42062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291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Vygotski: el aprendizaje ocurre primero en lo social. ZDP: la distancia entre lo que el niño puede solo y lo que puede con ayuda.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968496"/>
            <a:ext cx="54864" cy="42062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96849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viñetas de la Actividad C mostraron que toda práctica docente tiene una teoría detrás, visible o no.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C8793A">
              <a:alpha val="80000"/>
            </a:srgbClr>
          </a:solidFill>
          <a:ln w="12700">
            <a:solidFill>
              <a:srgbClr val="C879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Bruner, Ausubel y Gardner + simulacro de parcial.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2026-05-02T22:00:03Z</dcterms:created>
  <dcterms:modified xsi:type="dcterms:W3CDTF">2026-05-02T22:00:03Z</dcterms:modified>
</cp:coreProperties>
</file>