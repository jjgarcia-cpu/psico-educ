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2743200" cy="194310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37160"/>
            <a:ext cx="1828800" cy="1828800"/>
          </a:xfrm>
          <a:prstGeom prst="ellipse">
            <a:avLst/>
          </a:prstGeom>
          <a:solidFill>
            <a:srgbClr val="5B8DB8">
              <a:alpha val="15000"/>
            </a:srgbClr>
          </a:solidFill>
          <a:ln w="19050">
            <a:solidFill>
              <a:srgbClr val="5B8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PROFESORADO DE EDUCACIÓN INICIAL · 2° AÑO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Piaget y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Vygotski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construcción del conocimiento: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lo individual y lo social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Piaget (1954) · Vygotski (1978)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giro constructivista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868680"/>
          </a:xfrm>
          <a:prstGeom prst="rect">
            <a:avLst/>
          </a:prstGeom>
          <a:solidFill>
            <a:srgbClr val="2C2416"/>
          </a:solidFill>
          <a:ln w="19050">
            <a:solidFill>
              <a:srgbClr val="5B8D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15568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sujeto no recibe el conocimiento: lo construye.</a:t>
            </a:r>
            <a:endParaRPr lang="en-US" sz="13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mente no es un espejo que refleja la realidad: es una estructura activa que la transforma.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4206240" cy="2834640"/>
          </a:xfrm>
          <a:prstGeom prst="rect">
            <a:avLst/>
          </a:prstGeom>
          <a:solidFill>
            <a:srgbClr val="F0ECE8"/>
          </a:solidFill>
          <a:ln w="12700">
            <a:solidFill>
              <a:srgbClr val="6B57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84832"/>
            <a:ext cx="4206240" cy="274320"/>
          </a:xfrm>
          <a:prstGeom prst="rect">
            <a:avLst/>
          </a:prstGeom>
          <a:solidFill>
            <a:srgbClr val="6B5744"/>
          </a:solidFill>
          <a:ln w="12700">
            <a:solidFill>
              <a:srgbClr val="6B5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84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anterior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B5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CONDUCTISMO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B5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COGNITIVISMO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273552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sujeto recibe, registra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almacena el conocimiento.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ambiente moldea;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mente procesa.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92040" y="2084832"/>
            <a:ext cx="4206240" cy="2834640"/>
          </a:xfrm>
          <a:prstGeom prst="rect">
            <a:avLst/>
          </a:prstGeom>
          <a:solidFill>
            <a:srgbClr val="E8F0F8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2084832"/>
            <a:ext cx="4206240" cy="27432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084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copernicano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24231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CONSTRUCTIVISMO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(Piaget &amp; Vygotski)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273552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sujeto construye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activamente el conocimiento.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transferencia: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construcción.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3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Jean</a:t>
            </a:r>
            <a:endParaRPr lang="en-US" sz="4600" dirty="0"/>
          </a:p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Piaget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niño como constructor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de conocimiento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1896 – 1980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Biólogo, epistemólogo y psicólogo suizo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13716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"La inteligencia es la capacidad de adaptación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situaciones nuevas."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Piaget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mecanismos del aprendizaje en Piaget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51760" cy="3840480"/>
          </a:xfrm>
          <a:prstGeom prst="rect">
            <a:avLst/>
          </a:prstGeom>
          <a:solidFill>
            <a:srgbClr val="E8F0F8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170432"/>
            <a:ext cx="640080" cy="64008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Asimilación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248716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lo nuevo desde los esquemas existentes.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niño llama 'guau-guau' a todos los animales de cuatro patas.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3931920"/>
            <a:ext cx="2331720" cy="0"/>
          </a:xfrm>
          <a:prstGeom prst="line">
            <a:avLst/>
          </a:prstGeom>
          <a:noFill/>
          <a:ln w="10160">
            <a:solidFill>
              <a:srgbClr val="5B8D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400507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nuevo entra en lo conocido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078992"/>
            <a:ext cx="2651760" cy="3840480"/>
          </a:xfrm>
          <a:prstGeom prst="rect">
            <a:avLst/>
          </a:prstGeom>
          <a:solidFill>
            <a:srgbClr val="DCE8F2"/>
          </a:solidFill>
          <a:ln w="12700">
            <a:solidFill>
              <a:srgbClr val="3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170432"/>
            <a:ext cx="640080" cy="640080"/>
          </a:xfrm>
          <a:prstGeom prst="ellipse">
            <a:avLst/>
          </a:prstGeom>
          <a:solidFill>
            <a:srgbClr val="3A6B8A"/>
          </a:solidFill>
          <a:ln w="12700">
            <a:solidFill>
              <a:srgbClr val="3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19385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Acomodación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248716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los esquemas cuando la realidad los resiste.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niño aprende a distinguir perro de gato.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64992" y="3931920"/>
            <a:ext cx="2331720" cy="0"/>
          </a:xfrm>
          <a:prstGeom prst="line">
            <a:avLst/>
          </a:prstGeom>
          <a:noFill/>
          <a:ln w="10160">
            <a:solidFill>
              <a:srgbClr val="3A6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400507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3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conocido se transforma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1078992"/>
            <a:ext cx="2651760" cy="3840480"/>
          </a:xfrm>
          <a:prstGeom prst="rect">
            <a:avLst/>
          </a:prstGeom>
          <a:solidFill>
            <a:srgbClr val="D0DDE8"/>
          </a:solidFill>
          <a:ln w="12700">
            <a:solidFill>
              <a:srgbClr val="2A5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1170432"/>
            <a:ext cx="640080" cy="640080"/>
          </a:xfrm>
          <a:prstGeom prst="ellipse">
            <a:avLst/>
          </a:prstGeom>
          <a:solidFill>
            <a:srgbClr val="2A5070"/>
          </a:solidFill>
          <a:ln w="12700">
            <a:solidFill>
              <a:srgbClr val="2A5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19385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Equilibración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44768" y="248716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la interacción entre asimilación y acomodación. El desequilibrio es el motor del aprendizaje.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99632" y="3931920"/>
            <a:ext cx="2331720" cy="0"/>
          </a:xfrm>
          <a:prstGeom prst="line">
            <a:avLst/>
          </a:prstGeom>
          <a:noFill/>
          <a:ln w="10160">
            <a:solidFill>
              <a:srgbClr val="2A5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400507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2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conflicto cognitivo impulsa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estadios del desarrollo y el nivel inicial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6B5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Sensoriomotor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27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años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0" y="12070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por acción y sentidos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8412480" cy="804672"/>
          </a:xfrm>
          <a:prstGeom prst="rect">
            <a:avLst/>
          </a:prstGeom>
          <a:solidFill>
            <a:srgbClr val="E8F0F8"/>
          </a:solidFill>
          <a:ln w="19050">
            <a:solidFill>
              <a:srgbClr val="5B8D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Preoperatorio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441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2–7 años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simbólico · Egocentrismo · Centración · Juego simbólico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49640" y="2176272"/>
            <a:ext cx="685800" cy="47548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17627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8412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6B5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Operatorio concreto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355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7–11 años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0" y="30358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lógicas · Conservación · Reversibilidad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8412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6B5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Operatorio formal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2702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años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0" y="39502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hipotético-deductivo · Razonamiento abstracto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E8F0F8"/>
          </a:solidFill>
          <a:ln w="7620">
            <a:solidFill>
              <a:srgbClr val="5B8D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91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= Nivel Inicial · El período preoperatorio es el estadio central para las docentes jardineras.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2743200"/>
            <a:ext cx="2926080" cy="2926080"/>
          </a:xfrm>
          <a:prstGeom prst="ellipse">
            <a:avLst/>
          </a:prstGeom>
          <a:solidFill>
            <a:srgbClr val="5B8DB8">
              <a:alpha val="12000"/>
            </a:srgbClr>
          </a:solidFill>
          <a:ln w="19050">
            <a:solidFill>
              <a:srgbClr val="5B8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</a:t>
            </a:r>
            <a:endParaRPr lang="en-US" sz="4600" dirty="0"/>
          </a:p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Vygotski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nace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interacción social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 internaliza.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1896 – 1934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Psicólogo bielorruso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12801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"Todo lo que el niño puede hacer hoy</a:t>
            </a:r>
            <a:endParaRPr lang="en-US" sz="13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ayuda, podrá hacerlo mañana</a:t>
            </a:r>
            <a:endParaRPr lang="en-US" sz="13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manera autónoma."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0352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Vygotski, 1978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Zona de Desarrollo Próximo (ZDP)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1115568"/>
          </a:xfrm>
          <a:prstGeom prst="rect">
            <a:avLst/>
          </a:prstGeom>
          <a:solidFill>
            <a:srgbClr val="E8F0F8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33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DESARROLLO POTENCIAL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niño puede lograr con la guía de un adulto o en colaboración con un par más capaz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914400"/>
          </a:xfrm>
          <a:prstGeom prst="rect">
            <a:avLst/>
          </a:prstGeom>
          <a:solidFill>
            <a:srgbClr val="DCE8F2"/>
          </a:solidFill>
          <a:ln w="25400">
            <a:solidFill>
              <a:srgbClr val="5B8D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59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D P  —  ZONA DE DESARROLLO PRÓXIMO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entre lo que el niño puede hacer solo y lo que puede hacer con ayuda. Aquí opera la enseñanza genuina.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328416"/>
            <a:ext cx="841248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6B5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DESARROLLO REAL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36758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niño puede hacer de manera autónoma e independiente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437083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enseñanza que solo trabaja con lo que el niño ya puede hacer solo no enseña: confirma. La enseñanza genuina opera en la ZDP.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Andamiaje y mediación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60520" cy="3840480"/>
          </a:xfrm>
          <a:prstGeom prst="rect">
            <a:avLst/>
          </a:prstGeom>
          <a:solidFill>
            <a:srgbClr val="E8F0F8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4160520" cy="42062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ANDAMIAJE  (Bruner / Vygotski)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886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temporaria, ajustada y progresivamente retirada.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Temporario: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retira cuando ya no es necesario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Ajustado: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calibrado al nivel de dificultad del niño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Progresivo: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cediendo autonomía gradualmente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3749040" cy="0"/>
          </a:xfrm>
          <a:prstGeom prst="line">
            <a:avLst/>
          </a:prstGeom>
          <a:noFill/>
          <a:ln w="10160">
            <a:solidFill>
              <a:srgbClr val="5B8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05072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jardín: la docente que ayuda a Valentina a escribir la V, luego la M, y va retirando su mano a medida que la niña gana confianza.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4160520" cy="3840480"/>
          </a:xfrm>
          <a:prstGeom prst="rect">
            <a:avLst/>
          </a:prstGeom>
          <a:solidFill>
            <a:srgbClr val="DCE8F2"/>
          </a:solidFill>
          <a:ln w="12700">
            <a:solidFill>
              <a:srgbClr val="3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78992"/>
            <a:ext cx="4160520" cy="420624"/>
          </a:xfrm>
          <a:prstGeom prst="rect">
            <a:avLst/>
          </a:prstGeom>
          <a:solidFill>
            <a:srgbClr val="3A6B8A"/>
          </a:solidFill>
          <a:ln w="12700">
            <a:solidFill>
              <a:srgbClr val="3A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7899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MEDIACIÓN  (Vygotski)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15727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 humano siempre está mediado: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084832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3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Herramientas físicas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2359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lápiz, una regla, un ábaco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7432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3A6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761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Herramientas psicológicas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lenguaje, los signos, los números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3401568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3A6B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419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Otras personas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Docentes, pares, familiares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4133088"/>
            <a:ext cx="3749040" cy="0"/>
          </a:xfrm>
          <a:prstGeom prst="line">
            <a:avLst/>
          </a:prstGeom>
          <a:noFill/>
          <a:ln w="10160">
            <a:solidFill>
              <a:srgbClr val="3A6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420624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lenguaje: primero comunicación social, luego pensamiento internalizado.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Piaget y Vygotski: convergencias y tensiones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926080" cy="438912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37560" y="1051560"/>
            <a:ext cx="2715768" cy="438912"/>
          </a:xfrm>
          <a:prstGeom prst="rect">
            <a:avLst/>
          </a:prstGeom>
          <a:solidFill>
            <a:srgbClr val="3A6B8A"/>
          </a:solidFill>
          <a:ln w="12700">
            <a:solidFill>
              <a:srgbClr val="3A6B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9048" y="1051560"/>
            <a:ext cx="2715768" cy="438912"/>
          </a:xfrm>
          <a:prstGeom prst="rect">
            <a:avLst/>
          </a:prstGeom>
          <a:solidFill>
            <a:srgbClr val="3A6060"/>
          </a:solidFill>
          <a:ln w="12700">
            <a:solidFill>
              <a:srgbClr val="3A6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1051560"/>
            <a:ext cx="2715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PIAGET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9048" y="1051560"/>
            <a:ext cx="2715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VYGOTSKI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2926080" cy="621792"/>
          </a:xfrm>
          <a:prstGeom prst="rect">
            <a:avLst/>
          </a:prstGeom>
          <a:solidFill>
            <a:srgbClr val="E8F0F8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572768"/>
            <a:ext cx="2715768" cy="621792"/>
          </a:xfrm>
          <a:prstGeom prst="rect">
            <a:avLst/>
          </a:prstGeom>
          <a:solidFill>
            <a:srgbClr val="E8F0F8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9048" y="1572768"/>
            <a:ext cx="2715768" cy="621792"/>
          </a:xfrm>
          <a:prstGeom prst="rect">
            <a:avLst/>
          </a:prstGeom>
          <a:solidFill>
            <a:srgbClr val="E8F0F8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6184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del desarrollo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56432" y="16184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conflicto cognitivo interno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0" y="16184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interacción social y cultural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258568"/>
            <a:ext cx="292608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2258568"/>
            <a:ext cx="2715768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9048" y="2258568"/>
            <a:ext cx="2715768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3042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 del otro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56432" y="23042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Secundario (el niño construye solo)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0" y="23042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(aprendizaje co-construido)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944368"/>
            <a:ext cx="2926080" cy="621792"/>
          </a:xfrm>
          <a:prstGeom prst="rect">
            <a:avLst/>
          </a:prstGeom>
          <a:solidFill>
            <a:srgbClr val="E8F0F8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2944368"/>
            <a:ext cx="2715768" cy="621792"/>
          </a:xfrm>
          <a:prstGeom prst="rect">
            <a:avLst/>
          </a:prstGeom>
          <a:solidFill>
            <a:srgbClr val="E8F0F8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9048" y="2944368"/>
            <a:ext cx="2715768" cy="621792"/>
          </a:xfrm>
          <a:prstGeom prst="rect">
            <a:avLst/>
          </a:prstGeom>
          <a:solidFill>
            <a:srgbClr val="E8F0F8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9900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 del lenguaje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56432" y="29900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el desarrollo cognitivo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29900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Constituye y jalona el desarrollo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630168"/>
            <a:ext cx="292608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3630168"/>
            <a:ext cx="2715768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99048" y="3630168"/>
            <a:ext cx="2715768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6758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Enseñanza / desarrollo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56432" y="36758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Enseñanza sigue al desarrollo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36758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Enseñanza jala y produce desarrollo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315968"/>
            <a:ext cx="2926080" cy="621792"/>
          </a:xfrm>
          <a:prstGeom prst="rect">
            <a:avLst/>
          </a:prstGeom>
          <a:solidFill>
            <a:srgbClr val="E8F0F8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37560" y="4315968"/>
            <a:ext cx="2715768" cy="621792"/>
          </a:xfrm>
          <a:prstGeom prst="rect">
            <a:avLst/>
          </a:prstGeom>
          <a:solidFill>
            <a:srgbClr val="E8F0F8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9048" y="4315968"/>
            <a:ext cx="2715768" cy="621792"/>
          </a:xfrm>
          <a:prstGeom prst="rect">
            <a:avLst/>
          </a:prstGeom>
          <a:solidFill>
            <a:srgbClr val="E8F0F8"/>
          </a:solidFill>
          <a:ln w="5080">
            <a:solidFill>
              <a:srgbClr val="5B8D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3616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Implicancia docente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456432" y="43616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Provocar conflicto cognitivo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0" y="43616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Intervenir en la ZDP con andamiaje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4937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perspectivas complementarias. Un diseño de enseñanza puede simultáneamente generar conflictos cognitivos (Piaget) y organizar la colaboración en la ZDP (Vygotski).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· CLASE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Ideas para llevarse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constructivismo: el sujeto no recibe el conocimiento, lo construye activamente.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9397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Piaget: asimilación + acomodación + equilibración. El conflicto cognitivo es el motor del aprendizaje.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7066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70662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período preoperatorio (2-7 años) es el estadio central para las docentes del nivel inicial.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31927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Vygotski: el aprendizaje ocurre primero en lo social y luego se internaliza. ZDP y andamiaje.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perspectivas complementarias: ambas sirven para pensar y fundamentar las prácticas del jardín.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integradora: diseñar una actividad para sala de 4 años analizable desde Piaget Y desde Vygotski. Explicar el rol docente en cada caso. Una carilla.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2026-04-01T02:12:21Z</dcterms:created>
  <dcterms:modified xsi:type="dcterms:W3CDTF">2026-04-01T02:12:21Z</dcterms:modified>
</cp:coreProperties>
</file>