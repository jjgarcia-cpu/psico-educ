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3200400"/>
            <a:ext cx="2560320" cy="19431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137160"/>
            <a:ext cx="1828800" cy="1828800"/>
          </a:xfrm>
          <a:prstGeom prst="ellipse">
            <a:avLst/>
          </a:prstGeom>
          <a:solidFill>
            <a:srgbClr val="4A7B6F">
              <a:alpha val="15000"/>
            </a:srgbClr>
          </a:solidFill>
          <a:ln w="19050">
            <a:solidFill>
              <a:srgbClr val="4A7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PROFESORADO DE EDUCACIÓN INICIAL · 2° AÑO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Neurociencias,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integración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cierre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nos dice el cerebro sobre cómo aprendemos?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 (2013) · Immordino-Yang (2016)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¿Verdadero o falso?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Marcá V o F antes de debatir en plenario: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206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0" y="1463040"/>
            <a:ext cx="640080" cy="10789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1463040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1536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/ F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155448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usamos el 10% del cerebro.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00600" y="1463040"/>
            <a:ext cx="4206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66760" y="1463040"/>
            <a:ext cx="640080" cy="1078992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463040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10328" y="153619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/ F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605272" y="1554480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infantil es más plástico que el adulto.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33472"/>
            <a:ext cx="4206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2633472"/>
            <a:ext cx="640080" cy="10789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633472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" y="27066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/ F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70432" y="2724912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 no genera aprendizajes cognitivos reales.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00600" y="2633472"/>
            <a:ext cx="4206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366760" y="2633472"/>
            <a:ext cx="640080" cy="10789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633472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10328" y="270662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/ F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05272" y="2724912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emociones interfieren con el aprendizaje.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3803904"/>
            <a:ext cx="4206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31920" y="3803904"/>
            <a:ext cx="640080" cy="1078992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3803904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" y="38770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/ F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70432" y="3895344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bien consolida lo aprendido durante el día.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00600" y="3803904"/>
            <a:ext cx="420624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66760" y="3803904"/>
            <a:ext cx="640080" cy="10789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3803904"/>
            <a:ext cx="640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10328" y="387705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5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 / F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605272" y="3895344"/>
            <a:ext cx="2697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es fija: se nace inteligente o no.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Neurociencias y educación: un diálogo necesario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868680"/>
          </a:xfrm>
          <a:prstGeom prst="rect">
            <a:avLst/>
          </a:prstGeom>
          <a:solidFill>
            <a:srgbClr val="2C2416"/>
          </a:solidFill>
          <a:ln w="1905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Neuroeducación: zona de encuentro entre neurociencia, psicología y educación.</a:t>
            </a:r>
            <a:endParaRPr lang="en-US" sz="14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(Mora, 2013)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8412480" cy="896112"/>
          </a:xfrm>
          <a:prstGeom prst="rect">
            <a:avLst/>
          </a:prstGeom>
          <a:solidFill>
            <a:srgbClr val="E2EEEB"/>
          </a:solidFill>
          <a:ln w="1016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84832"/>
            <a:ext cx="502920" cy="896112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84832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21579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aportan las neurociencias?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52374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sobre cómo el cerebro aprende: plasticidad, emoción, memoria, sueño, movimiento.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72384"/>
            <a:ext cx="8412480" cy="896112"/>
          </a:xfrm>
          <a:prstGeom prst="rect">
            <a:avLst/>
          </a:prstGeom>
          <a:solidFill>
            <a:srgbClr val="E2EEEB"/>
          </a:solidFill>
          <a:ln w="10160">
            <a:solidFill>
              <a:srgbClr val="2A6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72384"/>
            <a:ext cx="502920" cy="896112"/>
          </a:xfrm>
          <a:prstGeom prst="rect">
            <a:avLst/>
          </a:prstGeom>
          <a:solidFill>
            <a:srgbClr val="2A6B5F"/>
          </a:solidFill>
          <a:ln w="12700">
            <a:solidFill>
              <a:srgbClr val="2A6B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072384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14553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¿Reemplazan a las teorías psicológicas?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Las complementan. En muchos casos las confirman desde otro nivel de análisis.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4059936"/>
            <a:ext cx="8412480" cy="896112"/>
          </a:xfrm>
          <a:prstGeom prst="rect">
            <a:avLst/>
          </a:prstGeom>
          <a:solidFill>
            <a:srgbClr val="E2EEEB"/>
          </a:solidFill>
          <a:ln w="10160">
            <a:solidFill>
              <a:srgbClr val="1A50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4059936"/>
            <a:ext cx="502920" cy="896112"/>
          </a:xfrm>
          <a:prstGeom prst="rect">
            <a:avLst/>
          </a:prstGeom>
          <a:solidFill>
            <a:srgbClr val="1A5048"/>
          </a:solidFill>
          <a:ln w="12700">
            <a:solidFill>
              <a:srgbClr val="1A50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059936"/>
            <a:ext cx="502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05840" y="4133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¿Determinan qué hacer en el aula?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498848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como prescripción técnica, sino como marco de comprensión que enriquece la reflexión pedagógica.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Plasticidad neuronal y ventanas de oportunidad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no es una estructura fija: se modifica estructuralmente en función de la experiencia.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solidFill>
            <a:srgbClr val="E2EEEB"/>
          </a:solidFill>
          <a:ln w="6350">
            <a:solidFill>
              <a:srgbClr val="4A7B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PLASTICIDAD CEREBRAL A LO LARGO DE LA VIDA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463040" cy="164592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05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años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4288" y="2606040"/>
            <a:ext cx="1463040" cy="1371600"/>
          </a:xfrm>
          <a:prstGeom prst="rect">
            <a:avLst/>
          </a:prstGeom>
          <a:solidFill>
            <a:srgbClr val="5A9B8A"/>
          </a:solidFill>
          <a:ln w="12700">
            <a:solidFill>
              <a:srgbClr val="5A9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04288" y="4005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3-6 años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77056" y="2990088"/>
            <a:ext cx="1463040" cy="987552"/>
          </a:xfrm>
          <a:prstGeom prst="rect">
            <a:avLst/>
          </a:prstGeom>
          <a:solidFill>
            <a:srgbClr val="6AABA0"/>
          </a:solidFill>
          <a:ln w="12700">
            <a:solidFill>
              <a:srgbClr val="6AAB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77056" y="4005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años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49824" y="3264408"/>
            <a:ext cx="1463040" cy="713232"/>
          </a:xfrm>
          <a:prstGeom prst="rect">
            <a:avLst/>
          </a:prstGeom>
          <a:solidFill>
            <a:srgbClr val="6B5744"/>
          </a:solidFill>
          <a:ln w="12700">
            <a:solidFill>
              <a:srgbClr val="6B5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9824" y="4005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Adolescencia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22592" y="3483864"/>
            <a:ext cx="1463040" cy="493776"/>
          </a:xfrm>
          <a:prstGeom prst="rect">
            <a:avLst/>
          </a:prstGeom>
          <a:solidFill>
            <a:srgbClr val="9AABA8"/>
          </a:solidFill>
          <a:ln w="12700">
            <a:solidFill>
              <a:srgbClr val="9AAB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22592" y="400507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Adultez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229600" cy="0"/>
          </a:xfrm>
          <a:prstGeom prst="line">
            <a:avLst/>
          </a:prstGeom>
          <a:noFill/>
          <a:ln w="12700">
            <a:solidFill>
              <a:srgbClr val="4A7B6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4480560"/>
            <a:ext cx="8412480" cy="566928"/>
          </a:xfrm>
          <a:prstGeom prst="rect">
            <a:avLst/>
          </a:prstGeom>
          <a:solidFill>
            <a:srgbClr val="E2EEEB"/>
          </a:solidFill>
          <a:ln w="10160">
            <a:solidFill>
              <a:srgbClr val="4A7B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517136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inicial (0-6 años) es el período de mayor plasticidad de toda la vida. Las experiencias en el jardín tienen consecuencias neuronales duraderas.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Emoción y aprendizaje (Immordino-Yang, 2016)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8229600" cy="804672"/>
          </a:xfrm>
          <a:prstGeom prst="rect">
            <a:avLst/>
          </a:prstGeom>
          <a:solidFill>
            <a:srgbClr val="2C2416"/>
          </a:solidFill>
          <a:ln w="1524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1556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"Las emociones son condición necesaria del aprendizaje: sin el marcador emocional que indica que algo importa, el cerebro no consolida la información."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9224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Immordino-Yang, 2016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841248"/>
          </a:xfrm>
          <a:prstGeom prst="rect">
            <a:avLst/>
          </a:prstGeom>
          <a:solidFill>
            <a:srgbClr val="E2EEEB"/>
          </a:solidFill>
          <a:ln w="1016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86000"/>
            <a:ext cx="502920" cy="841248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Emoción positiva — aprendemos lo que nos importa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7249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interés, la curiosidad, la sorpresa y el placer del descubrimiento no son condimentos: son parte del mecanismo del aprendizaje.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218688"/>
            <a:ext cx="8412480" cy="841248"/>
          </a:xfrm>
          <a:prstGeom prst="rect">
            <a:avLst/>
          </a:prstGeom>
          <a:solidFill>
            <a:srgbClr val="FBF0EE"/>
          </a:solidFill>
          <a:ln w="1016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218688"/>
            <a:ext cx="502920" cy="84124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18688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2826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Estrés crónico — enemigo del aprendizaje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6576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cortisol sostenido daña el hipocampo, estructura clave para la formación de memorias. Un niño con miedo tiene comprometida su capacidad de aprender.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151376"/>
            <a:ext cx="8412480" cy="841248"/>
          </a:xfrm>
          <a:prstGeom prst="rect">
            <a:avLst/>
          </a:prstGeom>
          <a:solidFill>
            <a:srgbClr val="E2EEEB"/>
          </a:solidFill>
          <a:ln w="10160">
            <a:solidFill>
              <a:srgbClr val="2A6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151376"/>
            <a:ext cx="502920" cy="841248"/>
          </a:xfrm>
          <a:prstGeom prst="rect">
            <a:avLst/>
          </a:prstGeom>
          <a:solidFill>
            <a:srgbClr val="2A6B5F"/>
          </a:solidFill>
          <a:ln w="12700">
            <a:solidFill>
              <a:srgbClr val="2A6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51376"/>
            <a:ext cx="502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421538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clima emocional del aula no es secundario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45902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sala donde el error es seguro, el vínculo es predecible y el niño se siente aceptado es una sala con condiciones neurológicas para aprender.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Sueño, movimiento y aprendizaje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60520" cy="3840480"/>
          </a:xfrm>
          <a:prstGeom prst="rect">
            <a:avLst/>
          </a:prstGeom>
          <a:solidFill>
            <a:srgbClr val="E2EEEB"/>
          </a:solidFill>
          <a:ln w="1270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160520" cy="438912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91056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sueño, el cerebro consolida lo aprendido durante la vigilia: las conexiones sinápticas formadas durante el día se estabilizan y organizan.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3749040" cy="0"/>
          </a:xfrm>
          <a:prstGeom prst="line">
            <a:avLst/>
          </a:prstGeom>
          <a:noFill/>
          <a:ln w="10160">
            <a:solidFill>
              <a:srgbClr val="4A7B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5351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niño que duerme poco no solo está cansado: su cerebro no terminó el proceso de consolidación del aprendizaje. Las rutinas de sueño en la infancia tienen consecuencias cognitivas directas.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078992"/>
            <a:ext cx="4160520" cy="384048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78992"/>
            <a:ext cx="4160520" cy="438912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078992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591056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movimiento activa el cerebelo y mejora el flujo sanguíneo cerebral, con efectos positivos sobre la atención y el aprendizaje.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0" y="2880360"/>
            <a:ext cx="3749040" cy="0"/>
          </a:xfrm>
          <a:prstGeom prst="line">
            <a:avLst/>
          </a:prstGeom>
          <a:noFill/>
          <a:ln w="10160">
            <a:solidFill>
              <a:srgbClr val="7B9E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5351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niños quietos y sentados para 'concentrarse mejor' contradice lo que sabemos sobre el cerebro en desarrollo. El juego motor no es tiempo perdido: es aprendizaje con base neurológica.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6 — INTEGRACIÓN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teorías y las neurociencias: puntos de encuentro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neurociencias no reemplazan a las teorías psicológicas: en muchos casos las confirman desde otro nivel de análisis.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2286000" cy="347472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572768"/>
            <a:ext cx="3200400" cy="347472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572768"/>
            <a:ext cx="2834640" cy="347472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5727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Teoría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97480" y="15727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contacto con neurociencias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943600" y="15727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Tensión o límite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1993392"/>
            <a:ext cx="2286000" cy="658368"/>
          </a:xfrm>
          <a:prstGeom prst="rect">
            <a:avLst/>
          </a:prstGeom>
          <a:solidFill>
            <a:srgbClr val="F5EDD8"/>
          </a:solidFill>
          <a:ln w="6350">
            <a:solidFill>
              <a:srgbClr val="B886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97480" y="1993392"/>
            <a:ext cx="3200400" cy="658368"/>
          </a:xfrm>
          <a:prstGeom prst="rect">
            <a:avLst/>
          </a:prstGeom>
          <a:solidFill>
            <a:srgbClr val="FAF7F2"/>
          </a:solidFill>
          <a:ln w="3810">
            <a:solidFill>
              <a:srgbClr val="B886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1993392"/>
            <a:ext cx="2834640" cy="658368"/>
          </a:xfrm>
          <a:prstGeom prst="rect">
            <a:avLst/>
          </a:prstGeom>
          <a:solidFill>
            <a:srgbClr val="FAF7F2"/>
          </a:solidFill>
          <a:ln w="381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03911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Conductismo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07208" y="203911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mecanismos de refuerzo tienen correlatos en los circuitos de recompensa (dopamina).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53328" y="203911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explica comprensión ni procesos mentales complejos.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2286000" cy="658368"/>
          </a:xfrm>
          <a:prstGeom prst="rect">
            <a:avLst/>
          </a:prstGeom>
          <a:solidFill>
            <a:srgbClr val="E8F0F8"/>
          </a:solidFill>
          <a:ln w="6350">
            <a:solidFill>
              <a:srgbClr val="5B8D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97480" y="2724912"/>
            <a:ext cx="32004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5B8D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2724912"/>
            <a:ext cx="28346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5B8D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7706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8D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Cognitivismo (Ausubel)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07208" y="277063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conocimientos previos reduce la carga en la memoria de trabajo y facilita la consolidación.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053328" y="277063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metáfora computacional subestima el rol de las emociones.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56432"/>
            <a:ext cx="2286000" cy="658368"/>
          </a:xfrm>
          <a:prstGeom prst="rect">
            <a:avLst/>
          </a:prstGeom>
          <a:solidFill>
            <a:srgbClr val="DCE8F2"/>
          </a:solidFill>
          <a:ln w="6350">
            <a:solidFill>
              <a:srgbClr val="3A6B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7480" y="3456432"/>
            <a:ext cx="3200400" cy="658368"/>
          </a:xfrm>
          <a:prstGeom prst="rect">
            <a:avLst/>
          </a:prstGeom>
          <a:solidFill>
            <a:srgbClr val="FAF7F2"/>
          </a:solidFill>
          <a:ln w="3810">
            <a:solidFill>
              <a:srgbClr val="3A6B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3456432"/>
            <a:ext cx="2834640" cy="658368"/>
          </a:xfrm>
          <a:prstGeom prst="rect">
            <a:avLst/>
          </a:prstGeom>
          <a:solidFill>
            <a:srgbClr val="FAF7F2"/>
          </a:solidFill>
          <a:ln w="3810">
            <a:solidFill>
              <a:srgbClr val="3A6B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350215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6B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07208" y="350215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plasticidad neuronal es la base biológica del constructivismo. El conflicto cognitivo activa nuevas conexiones.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53328" y="350215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estadios no son tan fijos ni universales como propuso.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187952"/>
            <a:ext cx="2286000" cy="658368"/>
          </a:xfrm>
          <a:prstGeom prst="rect">
            <a:avLst/>
          </a:prstGeom>
          <a:solidFill>
            <a:srgbClr val="E2EEEB"/>
          </a:solidFill>
          <a:ln w="6350">
            <a:solidFill>
              <a:srgbClr val="4A7B6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7480" y="4187952"/>
            <a:ext cx="320040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4A7B6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0" y="4187952"/>
            <a:ext cx="2834640" cy="658368"/>
          </a:xfrm>
          <a:prstGeom prst="rect">
            <a:avLst/>
          </a:prstGeom>
          <a:solidFill>
            <a:srgbClr val="FFFFFF"/>
          </a:solidFill>
          <a:ln w="3810">
            <a:solidFill>
              <a:srgbClr val="4A7B6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23367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Vygotski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807208" y="423367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4A37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interacción social activa sistemas cerebrales de aprendizaje vicario. El lenguaje estructura redes neurales.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53328" y="4233672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6B5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interacciones sociales varían según cultura y contexto.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3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DE CIERRE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Apertura de los sobres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4475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1: escribiste en un papel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'¿Qué espero de esta materia?' y '¿Qué me preocupa de ser docente?'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4160520" cy="804672"/>
          </a:xfrm>
          <a:prstGeom prst="rect">
            <a:avLst/>
          </a:prstGeom>
          <a:solidFill>
            <a:srgbClr val="2C2416"/>
          </a:solidFill>
          <a:ln w="1016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3317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¿Qué esperabas al comenzar? ¿Se cumplió?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331720"/>
            <a:ext cx="4160520" cy="804672"/>
          </a:xfrm>
          <a:prstGeom prst="rect">
            <a:avLst/>
          </a:prstGeom>
          <a:solidFill>
            <a:srgbClr val="2C2416"/>
          </a:solidFill>
          <a:ln w="1016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33172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¿Qué te preocupaba? ¿Cambió algo?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4160520" cy="804672"/>
          </a:xfrm>
          <a:prstGeom prst="rect">
            <a:avLst/>
          </a:prstGeom>
          <a:solidFill>
            <a:srgbClr val="2C2416"/>
          </a:solidFill>
          <a:ln w="1016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3756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¿Qué aprendiste sobre cómo aprendes?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3337560"/>
            <a:ext cx="4160520" cy="804672"/>
          </a:xfrm>
          <a:prstGeom prst="rect">
            <a:avLst/>
          </a:prstGeom>
          <a:solidFill>
            <a:srgbClr val="2C2416"/>
          </a:solidFill>
          <a:ln w="10160">
            <a:solidFill>
              <a:srgbClr val="4A7B6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33756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¿Qué pregunta te llevás para seguir pensando?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7B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 de seis clases, ¿cómo cambió tu mirada sobre el aprendizaje?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 · CLASE 6 Y CIERRE DE UNIDAD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Ideas para llevarse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plasticidad neuronal es mayor en los primeros años: el nivel inicial es el período más relevante desde la neurociencia.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93976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093976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emociones no interfieren con el aprendizaje: son condición necesaria del mismo (Immordino-Yang).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06624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70662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sueño consolida el aprendizaje. El movimiento mejora la atención. Ambos son pedagógicamente relevantes.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319272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31927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neurociencias complementan y en muchos casos confirman las teorías psicológicas estudiadas.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teoría que agote la complejidad del aprendizaje. El desafío docente es desarrollar una mirada integradora.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89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siguiente unidad: ¿alguna vez sentiste que 'no podías' aprender algo? Reflexión escrita de media carilla.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2026-04-01T02:14:32Z</dcterms:created>
  <dcterms:modified xsi:type="dcterms:W3CDTF">2026-04-01T02:14:32Z</dcterms:modified>
</cp:coreProperties>
</file>