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desplazar la diapositiva</a:t>
            </a:r>
            <a:endParaRPr lang="es-A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s-A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A1F8B49-A30B-4F13-93E2-701761A91980}" type="slidenum"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6B64E69-015A-4606-A340-C157E09F9B2B}" type="slidenum">
              <a: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2586C88-C146-463E-8EA1-C016EC2CE4F3}" type="slidenum">
              <a: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1F62DF-80A6-479B-B9A3-1189D70ABA68}" type="slidenum">
              <a: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1EE9D8-B822-48BC-9187-FE866703AFD1}" type="slidenum">
              <a: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868218-DFDD-48C8-AD4A-7FA364D94061}" type="slidenum">
              <a: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F906C78-EF55-41C5-9FC0-7F490EBB8FA5}" type="slidenum">
              <a: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96C1C1-06C5-41C3-A40B-6711CB00A8E9}" type="slidenum">
              <a: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C346AF-9740-47FF-9050-654BC3565E13}" type="slidenum">
              <a: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B4F2E9-F731-46CB-9D65-726B69537CB9}" type="slidenum">
              <a: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738BCB2-7D7E-4133-8694-27DABB49DF06}" type="slidenum">
              <a: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ECABB4-14D0-40AF-816B-5F41BB2E64AD}" type="slidenum">
              <a:rPr lang="es-AR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s-A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del texto de título</a:t>
            </a:r>
            <a:endParaRPr lang="es-A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A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228240" cy="514332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6858000" y="3474720"/>
            <a:ext cx="2285640" cy="1668600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7498080" y="274320"/>
            <a:ext cx="1462680" cy="1462680"/>
          </a:xfrm>
          <a:prstGeom prst="ellipse">
            <a:avLst/>
          </a:prstGeom>
          <a:solidFill>
            <a:srgbClr val="c8a96e">
              <a:alpha val="15000"/>
            </a:srgbClr>
          </a:solidFill>
          <a:ln w="19050">
            <a:solidFill>
              <a:srgbClr val="c8a9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320040"/>
            <a:ext cx="7772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00" b="1" u="none" spc="300" strike="noStrike">
                <a:solidFill>
                  <a:srgbClr val="c8a96e"/>
                </a:solidFill>
                <a:effectLst/>
                <a:uFillTx/>
                <a:latin typeface="Calibri"/>
                <a:ea typeface="Calibri"/>
              </a:rPr>
              <a:t>PROFESORADO DE EDUCACIÓN INICIAL · 2° AÑO</a:t>
            </a:r>
            <a:endParaRPr lang="es-AR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777240"/>
            <a:ext cx="68576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2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Psicología</a:t>
            </a:r>
            <a:endParaRPr lang="es-AR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2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Educacional</a:t>
            </a:r>
            <a:endParaRPr lang="es-AR" sz="5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57200" y="288036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Clases 1 y 2</a:t>
            </a:r>
            <a:endParaRPr lang="es-A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457200" y="3383280"/>
            <a:ext cx="6400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5f0e8"/>
                </a:solidFill>
                <a:effectLst/>
                <a:uFillTx/>
                <a:latin typeface="Calibri"/>
                <a:ea typeface="Calibri"/>
              </a:rPr>
              <a:t>¿Qué es la Psicología de la Educación?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5f0e8"/>
                </a:solidFill>
                <a:effectLst/>
                <a:uFillTx/>
                <a:latin typeface="Calibri"/>
                <a:ea typeface="Calibri"/>
              </a:rPr>
              <a:t>Psicología y Educación: relaciones posibles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457200" y="466344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Referencia: Coll (1997) · Wittrock (1992)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1"/>
          <p:cNvSpPr/>
          <p:nvPr/>
        </p:nvSpPr>
        <p:spPr>
          <a:xfrm>
            <a:off x="0" y="1005840"/>
            <a:ext cx="9143640" cy="5436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2"/>
          <p:cNvSpPr/>
          <p:nvPr/>
        </p:nvSpPr>
        <p:spPr>
          <a:xfrm>
            <a:off x="457200" y="914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300" strike="noStrike">
                <a:solidFill>
                  <a:srgbClr val="c8a96e"/>
                </a:solidFill>
                <a:effectLst/>
                <a:uFillTx/>
                <a:latin typeface="Calibri"/>
                <a:ea typeface="Calibri"/>
              </a:rPr>
              <a:t>CONTENIDOS DE HOY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3"/>
          <p:cNvSpPr/>
          <p:nvPr/>
        </p:nvSpPr>
        <p:spPr>
          <a:xfrm>
            <a:off x="457200" y="50292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Dos clases, un mismo horizonte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4"/>
          <p:cNvSpPr/>
          <p:nvPr/>
        </p:nvSpPr>
        <p:spPr>
          <a:xfrm>
            <a:off x="365760" y="1280160"/>
            <a:ext cx="4114440" cy="1005480"/>
          </a:xfrm>
          <a:prstGeom prst="rect">
            <a:avLst/>
          </a:prstGeom>
          <a:solidFill>
            <a:srgbClr val="f5edd8"/>
          </a:solidFill>
          <a:ln w="10160">
            <a:solidFill>
              <a:srgbClr val="c8a96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5"/>
          <p:cNvSpPr/>
          <p:nvPr/>
        </p:nvSpPr>
        <p:spPr>
          <a:xfrm>
            <a:off x="365760" y="1280160"/>
            <a:ext cx="502560" cy="100548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6"/>
          <p:cNvSpPr/>
          <p:nvPr/>
        </p:nvSpPr>
        <p:spPr>
          <a:xfrm>
            <a:off x="365760" y="1280160"/>
            <a:ext cx="502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7"/>
          <p:cNvSpPr/>
          <p:nvPr/>
        </p:nvSpPr>
        <p:spPr>
          <a:xfrm>
            <a:off x="960120" y="1353240"/>
            <a:ext cx="338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pc="150" strike="noStrike">
                <a:solidFill>
                  <a:srgbClr val="c8a96e"/>
                </a:solidFill>
                <a:effectLst/>
                <a:uFillTx/>
                <a:latin typeface="Calibri"/>
                <a:ea typeface="Calibri"/>
              </a:rPr>
              <a:t>CLASE 1</a:t>
            </a:r>
            <a:endParaRPr lang="es-A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8"/>
          <p:cNvSpPr/>
          <p:nvPr/>
        </p:nvSpPr>
        <p:spPr>
          <a:xfrm>
            <a:off x="960120" y="160020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¿Qué es la Psicología de la Educación?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9"/>
          <p:cNvSpPr/>
          <p:nvPr/>
        </p:nvSpPr>
        <p:spPr>
          <a:xfrm>
            <a:off x="365760" y="2468880"/>
            <a:ext cx="4114440" cy="1005480"/>
          </a:xfrm>
          <a:prstGeom prst="rect">
            <a:avLst/>
          </a:prstGeom>
          <a:solidFill>
            <a:srgbClr val="f5edd8"/>
          </a:solidFill>
          <a:ln w="10160">
            <a:solidFill>
              <a:srgbClr val="c8a96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0"/>
          <p:cNvSpPr/>
          <p:nvPr/>
        </p:nvSpPr>
        <p:spPr>
          <a:xfrm>
            <a:off x="365760" y="2468880"/>
            <a:ext cx="502560" cy="100548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365760" y="2468880"/>
            <a:ext cx="502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02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2"/>
          <p:cNvSpPr/>
          <p:nvPr/>
        </p:nvSpPr>
        <p:spPr>
          <a:xfrm>
            <a:off x="960120" y="2541960"/>
            <a:ext cx="338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pc="150" strike="noStrike">
                <a:solidFill>
                  <a:srgbClr val="c8a96e"/>
                </a:solidFill>
                <a:effectLst/>
                <a:uFillTx/>
                <a:latin typeface="Calibri"/>
                <a:ea typeface="Calibri"/>
              </a:rPr>
              <a:t>CLASE 1</a:t>
            </a:r>
            <a:endParaRPr lang="es-A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3"/>
          <p:cNvSpPr/>
          <p:nvPr/>
        </p:nvSpPr>
        <p:spPr>
          <a:xfrm>
            <a:off x="960120" y="278892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Identidad propia del campo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4"/>
          <p:cNvSpPr/>
          <p:nvPr/>
        </p:nvSpPr>
        <p:spPr>
          <a:xfrm>
            <a:off x="365760" y="3657600"/>
            <a:ext cx="4114440" cy="1005480"/>
          </a:xfrm>
          <a:prstGeom prst="rect">
            <a:avLst/>
          </a:prstGeom>
          <a:solidFill>
            <a:srgbClr val="f5edd8"/>
          </a:solidFill>
          <a:ln w="10160">
            <a:solidFill>
              <a:srgbClr val="c8a96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5"/>
          <p:cNvSpPr/>
          <p:nvPr/>
        </p:nvSpPr>
        <p:spPr>
          <a:xfrm>
            <a:off x="365760" y="3657600"/>
            <a:ext cx="502560" cy="100548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6"/>
          <p:cNvSpPr/>
          <p:nvPr/>
        </p:nvSpPr>
        <p:spPr>
          <a:xfrm>
            <a:off x="365760" y="3657600"/>
            <a:ext cx="502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03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7"/>
          <p:cNvSpPr/>
          <p:nvPr/>
        </p:nvSpPr>
        <p:spPr>
          <a:xfrm>
            <a:off x="960120" y="3730680"/>
            <a:ext cx="338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pc="150" strike="noStrike">
                <a:solidFill>
                  <a:srgbClr val="c8a96e"/>
                </a:solidFill>
                <a:effectLst/>
                <a:uFillTx/>
                <a:latin typeface="Calibri"/>
                <a:ea typeface="Calibri"/>
              </a:rPr>
              <a:t>CLASE 1</a:t>
            </a:r>
            <a:endParaRPr lang="es-A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8"/>
          <p:cNvSpPr/>
          <p:nvPr/>
        </p:nvSpPr>
        <p:spPr>
          <a:xfrm>
            <a:off x="960120" y="397764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La triple finalidad (Coll)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9"/>
          <p:cNvSpPr/>
          <p:nvPr/>
        </p:nvSpPr>
        <p:spPr>
          <a:xfrm>
            <a:off x="4754880" y="1280160"/>
            <a:ext cx="4114440" cy="1005480"/>
          </a:xfrm>
          <a:prstGeom prst="rect">
            <a:avLst/>
          </a:prstGeom>
          <a:solidFill>
            <a:srgbClr val="e4efe8"/>
          </a:solidFill>
          <a:ln w="10160">
            <a:solidFill>
              <a:srgbClr val="7b9e8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0"/>
          <p:cNvSpPr/>
          <p:nvPr/>
        </p:nvSpPr>
        <p:spPr>
          <a:xfrm>
            <a:off x="4754880" y="1280160"/>
            <a:ext cx="502560" cy="1005480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1"/>
          <p:cNvSpPr/>
          <p:nvPr/>
        </p:nvSpPr>
        <p:spPr>
          <a:xfrm>
            <a:off x="4754880" y="1280160"/>
            <a:ext cx="502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04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22"/>
          <p:cNvSpPr/>
          <p:nvPr/>
        </p:nvSpPr>
        <p:spPr>
          <a:xfrm>
            <a:off x="5349240" y="1353240"/>
            <a:ext cx="338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pc="150" strike="noStrike">
                <a:solidFill>
                  <a:srgbClr val="7b9e87"/>
                </a:solidFill>
                <a:effectLst/>
                <a:uFillTx/>
                <a:latin typeface="Calibri"/>
                <a:ea typeface="Calibri"/>
              </a:rPr>
              <a:t>CLASE 2</a:t>
            </a:r>
            <a:endParaRPr lang="es-A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3"/>
          <p:cNvSpPr/>
          <p:nvPr/>
        </p:nvSpPr>
        <p:spPr>
          <a:xfrm>
            <a:off x="5349240" y="160020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El objeto de estudio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4"/>
          <p:cNvSpPr/>
          <p:nvPr/>
        </p:nvSpPr>
        <p:spPr>
          <a:xfrm>
            <a:off x="4754880" y="2468880"/>
            <a:ext cx="4114440" cy="1005480"/>
          </a:xfrm>
          <a:prstGeom prst="rect">
            <a:avLst/>
          </a:prstGeom>
          <a:solidFill>
            <a:srgbClr val="e4efe8"/>
          </a:solidFill>
          <a:ln w="10160">
            <a:solidFill>
              <a:srgbClr val="7b9e8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5"/>
          <p:cNvSpPr/>
          <p:nvPr/>
        </p:nvSpPr>
        <p:spPr>
          <a:xfrm>
            <a:off x="4754880" y="2468880"/>
            <a:ext cx="502560" cy="1005480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6"/>
          <p:cNvSpPr/>
          <p:nvPr/>
        </p:nvSpPr>
        <p:spPr>
          <a:xfrm>
            <a:off x="4754880" y="2468880"/>
            <a:ext cx="502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05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7"/>
          <p:cNvSpPr/>
          <p:nvPr/>
        </p:nvSpPr>
        <p:spPr>
          <a:xfrm>
            <a:off x="5349240" y="2541960"/>
            <a:ext cx="338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pc="150" strike="noStrike">
                <a:solidFill>
                  <a:srgbClr val="7b9e87"/>
                </a:solidFill>
                <a:effectLst/>
                <a:uFillTx/>
                <a:latin typeface="Calibri"/>
                <a:ea typeface="Calibri"/>
              </a:rPr>
              <a:t>CLASE 2</a:t>
            </a:r>
            <a:endParaRPr lang="es-A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8"/>
          <p:cNvSpPr/>
          <p:nvPr/>
        </p:nvSpPr>
        <p:spPr>
          <a:xfrm>
            <a:off x="5349240" y="278892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Tres modos de relación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29"/>
          <p:cNvSpPr/>
          <p:nvPr/>
        </p:nvSpPr>
        <p:spPr>
          <a:xfrm>
            <a:off x="4754880" y="3657600"/>
            <a:ext cx="4114440" cy="1005480"/>
          </a:xfrm>
          <a:prstGeom prst="rect">
            <a:avLst/>
          </a:prstGeom>
          <a:solidFill>
            <a:srgbClr val="e4efe8"/>
          </a:solidFill>
          <a:ln w="10160">
            <a:solidFill>
              <a:srgbClr val="7b9e8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30"/>
          <p:cNvSpPr/>
          <p:nvPr/>
        </p:nvSpPr>
        <p:spPr>
          <a:xfrm>
            <a:off x="4754880" y="3657600"/>
            <a:ext cx="502560" cy="1005480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1"/>
          <p:cNvSpPr/>
          <p:nvPr/>
        </p:nvSpPr>
        <p:spPr>
          <a:xfrm>
            <a:off x="4754880" y="3657600"/>
            <a:ext cx="50256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06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32"/>
          <p:cNvSpPr/>
          <p:nvPr/>
        </p:nvSpPr>
        <p:spPr>
          <a:xfrm>
            <a:off x="5349240" y="3730680"/>
            <a:ext cx="33829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pc="150" strike="noStrike">
                <a:solidFill>
                  <a:srgbClr val="7b9e87"/>
                </a:solidFill>
                <a:effectLst/>
                <a:uFillTx/>
                <a:latin typeface="Calibri"/>
                <a:ea typeface="Calibri"/>
              </a:rPr>
              <a:t>CLASE 2</a:t>
            </a:r>
            <a:endParaRPr lang="es-A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33"/>
          <p:cNvSpPr/>
          <p:nvPr/>
        </p:nvSpPr>
        <p:spPr>
          <a:xfrm>
            <a:off x="5349240" y="3977640"/>
            <a:ext cx="33829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Teorías y decisiones docentes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a37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0"/>
          <p:cNvSpPr/>
          <p:nvPr/>
        </p:nvSpPr>
        <p:spPr>
          <a:xfrm>
            <a:off x="0" y="0"/>
            <a:ext cx="3840120" cy="514332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"/>
          <p:cNvSpPr/>
          <p:nvPr/>
        </p:nvSpPr>
        <p:spPr>
          <a:xfrm>
            <a:off x="3840480" y="0"/>
            <a:ext cx="54360" cy="514332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"/>
          <p:cNvSpPr/>
          <p:nvPr/>
        </p:nvSpPr>
        <p:spPr>
          <a:xfrm>
            <a:off x="365760" y="457200"/>
            <a:ext cx="31086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pc="400" strike="noStrike">
                <a:solidFill>
                  <a:srgbClr val="c8a96e"/>
                </a:solidFill>
                <a:effectLst/>
                <a:uFillTx/>
                <a:latin typeface="Calibri"/>
                <a:ea typeface="Calibri"/>
              </a:rPr>
              <a:t>CLASE 1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3"/>
          <p:cNvSpPr/>
          <p:nvPr/>
        </p:nvSpPr>
        <p:spPr>
          <a:xfrm>
            <a:off x="365760" y="1005840"/>
            <a:ext cx="329148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¿Qué es la</a:t>
            </a:r>
            <a:endParaRPr lang="es-A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Psicología de</a:t>
            </a:r>
            <a:endParaRPr lang="es-A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4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la Educación?</a:t>
            </a:r>
            <a:endParaRPr lang="es-AR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4"/>
          <p:cNvSpPr/>
          <p:nvPr/>
        </p:nvSpPr>
        <p:spPr>
          <a:xfrm>
            <a:off x="365760" y="3749040"/>
            <a:ext cx="32914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Una disciplina puente entre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psicología y educación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5"/>
          <p:cNvSpPr/>
          <p:nvPr/>
        </p:nvSpPr>
        <p:spPr>
          <a:xfrm>
            <a:off x="4114800" y="1371600"/>
            <a:ext cx="475452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lang="en-US" sz="1700" b="0" i="1" u="none" strike="noStrike">
                <a:solidFill>
                  <a:srgbClr val="f5f0e8"/>
                </a:solidFill>
                <a:effectLst/>
                <a:uFillTx/>
                <a:latin typeface="Georgia"/>
                <a:ea typeface="Georgia"/>
              </a:rPr>
              <a:t>"No es simplemente aplicar</a:t>
            </a:r>
            <a:endParaRPr lang="es-A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lang="en-US" sz="1700" b="0" i="1" u="none" strike="noStrike">
                <a:solidFill>
                  <a:srgbClr val="f5f0e8"/>
                </a:solidFill>
                <a:effectLst/>
                <a:uFillTx/>
                <a:latin typeface="Georgia"/>
                <a:ea typeface="Georgia"/>
              </a:rPr>
              <a:t>conocimientos psicológicos</a:t>
            </a:r>
            <a:endParaRPr lang="es-A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lang="en-US" sz="1700" b="0" i="1" u="none" strike="noStrike">
                <a:solidFill>
                  <a:srgbClr val="f5f0e8"/>
                </a:solidFill>
                <a:effectLst/>
                <a:uFillTx/>
                <a:latin typeface="Georgia"/>
                <a:ea typeface="Georgia"/>
              </a:rPr>
              <a:t>al ámbito educativo."</a:t>
            </a:r>
            <a:endParaRPr lang="es-A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6"/>
          <p:cNvSpPr/>
          <p:nvPr/>
        </p:nvSpPr>
        <p:spPr>
          <a:xfrm>
            <a:off x="4114800" y="3108960"/>
            <a:ext cx="45716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Coll, 1997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"/>
          <p:cNvSpPr/>
          <p:nvPr/>
        </p:nvSpPr>
        <p:spPr>
          <a:xfrm>
            <a:off x="457200" y="730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pc="201" strike="noStrike">
                <a:solidFill>
                  <a:srgbClr val="c8a96e"/>
                </a:solidFill>
                <a:effectLst/>
                <a:uFillTx/>
                <a:latin typeface="Calibri"/>
                <a:ea typeface="Calibri"/>
              </a:rPr>
              <a:t>CLASE 1</a:t>
            </a:r>
            <a:endParaRPr lang="es-A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"/>
          <p:cNvSpPr/>
          <p:nvPr/>
        </p:nvSpPr>
        <p:spPr>
          <a:xfrm>
            <a:off x="457200" y="3200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Un campo con identidad propia</a:t>
            </a: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4"/>
          <p:cNvSpPr/>
          <p:nvPr/>
        </p:nvSpPr>
        <p:spPr>
          <a:xfrm>
            <a:off x="457200" y="109728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La Psicología de la Educación no es una rama aplicada de la psicología</a:t>
            </a:r>
            <a:endParaRPr lang="es-A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lang="en-US" sz="13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ni una subdisciplina de la pedagogía.</a:t>
            </a:r>
            <a:endParaRPr lang="es-A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5"/>
          <p:cNvSpPr/>
          <p:nvPr/>
        </p:nvSpPr>
        <p:spPr>
          <a:xfrm>
            <a:off x="457200" y="1920240"/>
            <a:ext cx="2605680" cy="2742840"/>
          </a:xfrm>
          <a:prstGeom prst="rect">
            <a:avLst/>
          </a:prstGeom>
          <a:solidFill>
            <a:srgbClr val="fbf0ee"/>
          </a:solidFill>
          <a:ln w="12700">
            <a:solidFill>
              <a:srgbClr val="b85042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6"/>
          <p:cNvSpPr/>
          <p:nvPr/>
        </p:nvSpPr>
        <p:spPr>
          <a:xfrm>
            <a:off x="457200" y="1920240"/>
            <a:ext cx="2605680" cy="4384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7"/>
          <p:cNvSpPr/>
          <p:nvPr/>
        </p:nvSpPr>
        <p:spPr>
          <a:xfrm>
            <a:off x="457200" y="1920240"/>
            <a:ext cx="2605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 ES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8"/>
          <p:cNvSpPr/>
          <p:nvPr/>
        </p:nvSpPr>
        <p:spPr>
          <a:xfrm>
            <a:off x="567000" y="2450520"/>
            <a:ext cx="23770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Una aplicación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directa de la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psicología al aula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9"/>
          <p:cNvSpPr/>
          <p:nvPr/>
        </p:nvSpPr>
        <p:spPr>
          <a:xfrm>
            <a:off x="3291840" y="1920240"/>
            <a:ext cx="2605680" cy="2742840"/>
          </a:xfrm>
          <a:prstGeom prst="rect">
            <a:avLst/>
          </a:prstGeom>
          <a:solidFill>
            <a:srgbClr val="fbf0ee"/>
          </a:solidFill>
          <a:ln w="12700">
            <a:solidFill>
              <a:srgbClr val="b85042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0"/>
          <p:cNvSpPr/>
          <p:nvPr/>
        </p:nvSpPr>
        <p:spPr>
          <a:xfrm>
            <a:off x="3291840" y="1920240"/>
            <a:ext cx="2605680" cy="4384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1"/>
          <p:cNvSpPr/>
          <p:nvPr/>
        </p:nvSpPr>
        <p:spPr>
          <a:xfrm>
            <a:off x="3291840" y="1920240"/>
            <a:ext cx="2605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 ES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2"/>
          <p:cNvSpPr/>
          <p:nvPr/>
        </p:nvSpPr>
        <p:spPr>
          <a:xfrm>
            <a:off x="3401640" y="2450520"/>
            <a:ext cx="23770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Una subdisciplina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de la pedagogía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o didáctica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3"/>
          <p:cNvSpPr/>
          <p:nvPr/>
        </p:nvSpPr>
        <p:spPr>
          <a:xfrm>
            <a:off x="6126480" y="1920240"/>
            <a:ext cx="2605680" cy="2742840"/>
          </a:xfrm>
          <a:prstGeom prst="rect">
            <a:avLst/>
          </a:prstGeom>
          <a:solidFill>
            <a:srgbClr val="e4efe8"/>
          </a:solidFill>
          <a:ln w="12700">
            <a:solidFill>
              <a:srgbClr val="4a7b6f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4"/>
          <p:cNvSpPr/>
          <p:nvPr/>
        </p:nvSpPr>
        <p:spPr>
          <a:xfrm>
            <a:off x="6126480" y="1920240"/>
            <a:ext cx="2605680" cy="438480"/>
          </a:xfrm>
          <a:prstGeom prst="rect">
            <a:avLst/>
          </a:prstGeom>
          <a:solidFill>
            <a:srgbClr val="4a7b6f"/>
          </a:solidFill>
          <a:ln w="12700">
            <a:solidFill>
              <a:srgbClr val="4a7b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5"/>
          <p:cNvSpPr/>
          <p:nvPr/>
        </p:nvSpPr>
        <p:spPr>
          <a:xfrm>
            <a:off x="6126480" y="1920240"/>
            <a:ext cx="2605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ES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6"/>
          <p:cNvSpPr/>
          <p:nvPr/>
        </p:nvSpPr>
        <p:spPr>
          <a:xfrm>
            <a:off x="6236280" y="2450520"/>
            <a:ext cx="23770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Un campo propio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que articula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400" b="0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teoría y práctica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2"/>
          <p:cNvSpPr/>
          <p:nvPr/>
        </p:nvSpPr>
        <p:spPr>
          <a:xfrm>
            <a:off x="457200" y="730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pc="201" strike="noStrike">
                <a:solidFill>
                  <a:srgbClr val="c8a96e"/>
                </a:solidFill>
                <a:effectLst/>
                <a:uFillTx/>
                <a:latin typeface="Calibri"/>
                <a:ea typeface="Calibri"/>
              </a:rPr>
              <a:t>CLASE 1</a:t>
            </a:r>
            <a:endParaRPr lang="es-A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"/>
          <p:cNvSpPr/>
          <p:nvPr/>
        </p:nvSpPr>
        <p:spPr>
          <a:xfrm>
            <a:off x="457200" y="3200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La triple finalidad de la Psicología de la Educación</a:t>
            </a:r>
            <a:endParaRPr lang="es-A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4"/>
          <p:cNvSpPr/>
          <p:nvPr/>
        </p:nvSpPr>
        <p:spPr>
          <a:xfrm>
            <a:off x="457200" y="10972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6b5744"/>
                </a:solidFill>
                <a:effectLst/>
                <a:uFillTx/>
                <a:latin typeface="Calibri"/>
                <a:ea typeface="Calibri"/>
              </a:rPr>
              <a:t>Coll (1997) le atribuye tres propósitos inseparables: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5"/>
          <p:cNvSpPr/>
          <p:nvPr/>
        </p:nvSpPr>
        <p:spPr>
          <a:xfrm>
            <a:off x="365760" y="1554480"/>
            <a:ext cx="8412120" cy="959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8a96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6"/>
          <p:cNvSpPr/>
          <p:nvPr/>
        </p:nvSpPr>
        <p:spPr>
          <a:xfrm>
            <a:off x="365760" y="1554480"/>
            <a:ext cx="594000" cy="95976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7"/>
          <p:cNvSpPr/>
          <p:nvPr/>
        </p:nvSpPr>
        <p:spPr>
          <a:xfrm>
            <a:off x="365760" y="1554480"/>
            <a:ext cx="5940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1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8"/>
          <p:cNvSpPr/>
          <p:nvPr/>
        </p:nvSpPr>
        <p:spPr>
          <a:xfrm>
            <a:off x="1097280" y="164592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Comprender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9"/>
          <p:cNvSpPr/>
          <p:nvPr/>
        </p:nvSpPr>
        <p:spPr>
          <a:xfrm>
            <a:off x="1097280" y="2030040"/>
            <a:ext cx="7497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Los procesos de cambio comportamental que resultan de participar en situaciones educativas.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0"/>
          <p:cNvSpPr/>
          <p:nvPr/>
        </p:nvSpPr>
        <p:spPr>
          <a:xfrm>
            <a:off x="365760" y="2633400"/>
            <a:ext cx="8412120" cy="959760"/>
          </a:xfrm>
          <a:prstGeom prst="rect">
            <a:avLst/>
          </a:prstGeom>
          <a:solidFill>
            <a:srgbClr val="ffffff"/>
          </a:solidFill>
          <a:ln w="10160">
            <a:solidFill>
              <a:srgbClr val="b8860b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1"/>
          <p:cNvSpPr/>
          <p:nvPr/>
        </p:nvSpPr>
        <p:spPr>
          <a:xfrm>
            <a:off x="365760" y="2633400"/>
            <a:ext cx="594000" cy="9597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2"/>
          <p:cNvSpPr/>
          <p:nvPr/>
        </p:nvSpPr>
        <p:spPr>
          <a:xfrm>
            <a:off x="365760" y="2633400"/>
            <a:ext cx="5940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2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3"/>
          <p:cNvSpPr/>
          <p:nvPr/>
        </p:nvSpPr>
        <p:spPr>
          <a:xfrm>
            <a:off x="1097280" y="272484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Diseñar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4"/>
          <p:cNvSpPr/>
          <p:nvPr/>
        </p:nvSpPr>
        <p:spPr>
          <a:xfrm>
            <a:off x="1097280" y="3108960"/>
            <a:ext cx="7497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Modelos de intervención que optimicen esos procesos de aprendizaje y desarrollo.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15"/>
          <p:cNvSpPr/>
          <p:nvPr/>
        </p:nvSpPr>
        <p:spPr>
          <a:xfrm>
            <a:off x="365760" y="3712320"/>
            <a:ext cx="8412120" cy="959760"/>
          </a:xfrm>
          <a:prstGeom prst="rect">
            <a:avLst/>
          </a:prstGeom>
          <a:solidFill>
            <a:srgbClr val="ffffff"/>
          </a:solidFill>
          <a:ln w="10160">
            <a:solidFill>
              <a:srgbClr val="7b9e8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6"/>
          <p:cNvSpPr/>
          <p:nvPr/>
        </p:nvSpPr>
        <p:spPr>
          <a:xfrm>
            <a:off x="365760" y="3712320"/>
            <a:ext cx="594000" cy="959760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7"/>
          <p:cNvSpPr/>
          <p:nvPr/>
        </p:nvSpPr>
        <p:spPr>
          <a:xfrm>
            <a:off x="365760" y="3712320"/>
            <a:ext cx="5940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3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8"/>
          <p:cNvSpPr/>
          <p:nvPr/>
        </p:nvSpPr>
        <p:spPr>
          <a:xfrm>
            <a:off x="1097280" y="3803760"/>
            <a:ext cx="2285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Mejorar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9"/>
          <p:cNvSpPr/>
          <p:nvPr/>
        </p:nvSpPr>
        <p:spPr>
          <a:xfrm>
            <a:off x="1097280" y="4187880"/>
            <a:ext cx="74977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Las prácticas educativas concretas en las instituciones escolares.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0"/>
          <p:cNvSpPr/>
          <p:nvPr/>
        </p:nvSpPr>
        <p:spPr>
          <a:xfrm>
            <a:off x="365760" y="473652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Estas finalidades son inseparables: la teoría se convierte en instrumento de intervención, y la práctica retroalimenta la teoría.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457200" y="730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pc="201" strike="noStrike">
                <a:solidFill>
                  <a:srgbClr val="c8a96e"/>
                </a:solidFill>
                <a:effectLst/>
                <a:uFillTx/>
                <a:latin typeface="Calibri"/>
                <a:ea typeface="Calibri"/>
              </a:rPr>
              <a:t>CLASE 1</a:t>
            </a:r>
            <a:endParaRPr lang="es-A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457200" y="3200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¿Disciplina aplicada o disciplina puente?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4"/>
          <p:cNvSpPr/>
          <p:nvPr/>
        </p:nvSpPr>
        <p:spPr>
          <a:xfrm>
            <a:off x="274320" y="1143000"/>
            <a:ext cx="2605680" cy="2605680"/>
          </a:xfrm>
          <a:prstGeom prst="rect">
            <a:avLst/>
          </a:prstGeom>
          <a:solidFill>
            <a:srgbClr val="f5edd8"/>
          </a:solidFill>
          <a:ln w="19050">
            <a:solidFill>
              <a:srgbClr val="c8a96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5"/>
          <p:cNvSpPr/>
          <p:nvPr/>
        </p:nvSpPr>
        <p:spPr>
          <a:xfrm>
            <a:off x="274320" y="1143000"/>
            <a:ext cx="2605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50" strike="noStrike">
                <a:solidFill>
                  <a:srgbClr val="c8a96e"/>
                </a:solidFill>
                <a:effectLst/>
                <a:uFillTx/>
                <a:latin typeface="Calibri"/>
                <a:ea typeface="Calibri"/>
              </a:rPr>
              <a:t>PSICOLOGÍA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6"/>
          <p:cNvSpPr/>
          <p:nvPr/>
        </p:nvSpPr>
        <p:spPr>
          <a:xfrm>
            <a:off x="457200" y="1673280"/>
            <a:ext cx="22856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· Leyes del aprendizaje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· Teorías del desarrollo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· Investigación empírica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· Procesos cognitivos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7"/>
          <p:cNvSpPr/>
          <p:nvPr/>
        </p:nvSpPr>
        <p:spPr>
          <a:xfrm>
            <a:off x="6263640" y="1143000"/>
            <a:ext cx="2605680" cy="2605680"/>
          </a:xfrm>
          <a:prstGeom prst="rect">
            <a:avLst/>
          </a:prstGeom>
          <a:solidFill>
            <a:srgbClr val="e4efe8"/>
          </a:solidFill>
          <a:ln w="19050">
            <a:solidFill>
              <a:srgbClr val="7b9e8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8"/>
          <p:cNvSpPr/>
          <p:nvPr/>
        </p:nvSpPr>
        <p:spPr>
          <a:xfrm>
            <a:off x="6263640" y="1143000"/>
            <a:ext cx="260568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1" u="none" spc="150" strike="noStrike">
                <a:solidFill>
                  <a:srgbClr val="7b9e87"/>
                </a:solidFill>
                <a:effectLst/>
                <a:uFillTx/>
                <a:latin typeface="Calibri"/>
                <a:ea typeface="Calibri"/>
              </a:rPr>
              <a:t>EDUCACIÓN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9"/>
          <p:cNvSpPr/>
          <p:nvPr/>
        </p:nvSpPr>
        <p:spPr>
          <a:xfrm>
            <a:off x="6446520" y="1673280"/>
            <a:ext cx="228564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· Prácticas de enseñanza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· Interrogantes del aula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· Saber profesional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· Contextos singulares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0"/>
          <p:cNvSpPr/>
          <p:nvPr/>
        </p:nvSpPr>
        <p:spPr>
          <a:xfrm>
            <a:off x="3273480" y="1600200"/>
            <a:ext cx="2596680" cy="173700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1"/>
          <p:cNvSpPr/>
          <p:nvPr/>
        </p:nvSpPr>
        <p:spPr>
          <a:xfrm>
            <a:off x="3273480" y="1645920"/>
            <a:ext cx="2596680" cy="74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c8a96e"/>
                </a:solidFill>
                <a:effectLst/>
                <a:uFillTx/>
                <a:latin typeface="Georgia"/>
                <a:ea typeface="Georgia"/>
              </a:rPr>
              <a:t>DISCIPLINA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c8a96e"/>
                </a:solidFill>
                <a:effectLst/>
                <a:uFillTx/>
                <a:latin typeface="Georgia"/>
                <a:ea typeface="Georgia"/>
              </a:rPr>
              <a:t>PUENTE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2"/>
          <p:cNvSpPr/>
          <p:nvPr/>
        </p:nvSpPr>
        <p:spPr>
          <a:xfrm>
            <a:off x="3273480" y="2395800"/>
            <a:ext cx="25966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Tránsito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en ambas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direcciones</a:t>
            </a:r>
            <a:endParaRPr lang="es-A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3"/>
          <p:cNvSpPr/>
          <p:nvPr/>
        </p:nvSpPr>
        <p:spPr>
          <a:xfrm>
            <a:off x="2880360" y="2450520"/>
            <a:ext cx="402120" cy="360"/>
          </a:xfrm>
          <a:prstGeom prst="line">
            <a:avLst/>
          </a:prstGeom>
          <a:ln w="31750">
            <a:solidFill>
              <a:srgbClr val="c8a9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4"/>
          <p:cNvSpPr/>
          <p:nvPr/>
        </p:nvSpPr>
        <p:spPr>
          <a:xfrm>
            <a:off x="5870160" y="2450520"/>
            <a:ext cx="402480" cy="360"/>
          </a:xfrm>
          <a:prstGeom prst="line">
            <a:avLst/>
          </a:prstGeom>
          <a:ln w="31750">
            <a:solidFill>
              <a:srgbClr val="c8a9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5"/>
          <p:cNvSpPr/>
          <p:nvPr/>
        </p:nvSpPr>
        <p:spPr>
          <a:xfrm>
            <a:off x="365760" y="397764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50" b="0" i="1" u="none" strike="noStrike">
                <a:solidFill>
                  <a:srgbClr val="6b5744"/>
                </a:solidFill>
                <a:effectLst/>
                <a:uFillTx/>
                <a:latin typeface="Georgia"/>
                <a:ea typeface="Georgia"/>
              </a:rPr>
              <a:t>Un puente no es solo un instrumento: es una estructura que transforma el paisaje entre las dos orillas.</a:t>
            </a:r>
            <a:endParaRPr lang="es-A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6"/>
          <p:cNvSpPr/>
          <p:nvPr/>
        </p:nvSpPr>
        <p:spPr>
          <a:xfrm>
            <a:off x="365760" y="4645080"/>
            <a:ext cx="8412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Wittrock (1992): orientación a problemas prácticos sin renunciar al rigor conceptual.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0"/>
          <p:cNvSpPr/>
          <p:nvPr/>
        </p:nvSpPr>
        <p:spPr>
          <a:xfrm>
            <a:off x="0" y="0"/>
            <a:ext cx="228240" cy="5143320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"/>
          <p:cNvSpPr/>
          <p:nvPr/>
        </p:nvSpPr>
        <p:spPr>
          <a:xfrm>
            <a:off x="5303520" y="0"/>
            <a:ext cx="3840120" cy="5143320"/>
          </a:xfrm>
          <a:prstGeom prst="rect">
            <a:avLst/>
          </a:prstGeom>
          <a:solidFill>
            <a:srgbClr val="4a3728"/>
          </a:solidFill>
          <a:ln w="12700">
            <a:solidFill>
              <a:srgbClr val="4a37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2"/>
          <p:cNvSpPr/>
          <p:nvPr/>
        </p:nvSpPr>
        <p:spPr>
          <a:xfrm>
            <a:off x="5669280" y="3200400"/>
            <a:ext cx="2742840" cy="2742840"/>
          </a:xfrm>
          <a:prstGeom prst="ellipse">
            <a:avLst/>
          </a:prstGeom>
          <a:solidFill>
            <a:srgbClr val="7b9e87">
              <a:alpha val="12000"/>
            </a:srgbClr>
          </a:solidFill>
          <a:ln w="19050">
            <a:solidFill>
              <a:srgbClr val="7b9e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"/>
          <p:cNvSpPr/>
          <p:nvPr/>
        </p:nvSpPr>
        <p:spPr>
          <a:xfrm>
            <a:off x="457200" y="45720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pc="400" strike="noStrike">
                <a:solidFill>
                  <a:srgbClr val="7b9e87"/>
                </a:solidFill>
                <a:effectLst/>
                <a:uFillTx/>
                <a:latin typeface="Calibri"/>
                <a:ea typeface="Calibri"/>
              </a:rPr>
              <a:t>CLASE 2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4"/>
          <p:cNvSpPr/>
          <p:nvPr/>
        </p:nvSpPr>
        <p:spPr>
          <a:xfrm>
            <a:off x="457200" y="1005840"/>
            <a:ext cx="466308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Psicología y</a:t>
            </a:r>
            <a:endParaRPr lang="es-A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Educación:</a:t>
            </a:r>
            <a:endParaRPr lang="es-A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2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relaciones posibles</a:t>
            </a:r>
            <a:endParaRPr lang="es-AR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5"/>
          <p:cNvSpPr/>
          <p:nvPr/>
        </p:nvSpPr>
        <p:spPr>
          <a:xfrm>
            <a:off x="457200" y="3794760"/>
            <a:ext cx="45716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El objeto de estudio y sus implicancias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120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para la práctica docente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6"/>
          <p:cNvSpPr/>
          <p:nvPr/>
        </p:nvSpPr>
        <p:spPr>
          <a:xfrm>
            <a:off x="5577840" y="1097280"/>
            <a:ext cx="329148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4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f5f0e8"/>
                </a:solidFill>
                <a:effectLst/>
                <a:uFillTx/>
                <a:latin typeface="Georgia"/>
                <a:ea typeface="Georgia"/>
              </a:rPr>
              <a:t>"Toda práctica docente descansa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4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f5f0e8"/>
                </a:solidFill>
                <a:effectLst/>
                <a:uFillTx/>
                <a:latin typeface="Georgia"/>
                <a:ea typeface="Georgia"/>
              </a:rPr>
              <a:t>sobre supuestos acerca de cómo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40000"/>
              </a:lnSpc>
              <a:tabLst>
                <a:tab algn="l" pos="0"/>
              </a:tabLst>
            </a:pPr>
            <a:r>
              <a:rPr lang="en-US" sz="1300" b="0" i="1" u="none" strike="noStrike">
                <a:solidFill>
                  <a:srgbClr val="f5f0e8"/>
                </a:solidFill>
                <a:effectLst/>
                <a:uFillTx/>
                <a:latin typeface="Georgia"/>
                <a:ea typeface="Georgia"/>
              </a:rPr>
              <a:t>aprenden los niños."</a:t>
            </a:r>
            <a:endParaRPr lang="es-A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"/>
          <p:cNvSpPr/>
          <p:nvPr/>
        </p:nvSpPr>
        <p:spPr>
          <a:xfrm>
            <a:off x="457200" y="730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pc="201" strike="noStrike">
                <a:solidFill>
                  <a:srgbClr val="7b9e87"/>
                </a:solidFill>
                <a:effectLst/>
                <a:uFillTx/>
                <a:latin typeface="Calibri"/>
                <a:ea typeface="Calibri"/>
              </a:rPr>
              <a:t>CLASE 2</a:t>
            </a:r>
            <a:endParaRPr lang="es-A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3"/>
          <p:cNvSpPr/>
          <p:nvPr/>
        </p:nvSpPr>
        <p:spPr>
          <a:xfrm>
            <a:off x="457200" y="3016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El objeto de estudio</a:t>
            </a: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4"/>
          <p:cNvSpPr/>
          <p:nvPr/>
        </p:nvSpPr>
        <p:spPr>
          <a:xfrm>
            <a:off x="457200" y="1078920"/>
            <a:ext cx="8229240" cy="1142640"/>
          </a:xfrm>
          <a:prstGeom prst="rect">
            <a:avLst/>
          </a:prstGeom>
          <a:solidFill>
            <a:srgbClr val="2c2416"/>
          </a:solidFill>
          <a:ln w="19050">
            <a:solidFill>
              <a:srgbClr val="7b9e8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5"/>
          <p:cNvSpPr/>
          <p:nvPr/>
        </p:nvSpPr>
        <p:spPr>
          <a:xfrm>
            <a:off x="640080" y="1115640"/>
            <a:ext cx="7863480" cy="106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40000"/>
              </a:lnSpc>
              <a:tabLst>
                <a:tab algn="l" pos="0"/>
              </a:tabLst>
            </a:pPr>
            <a:r>
              <a:rPr lang="en-US" sz="1550" b="0" i="1" u="none" strike="noStrike">
                <a:solidFill>
                  <a:srgbClr val="f5f0e8"/>
                </a:solidFill>
                <a:effectLst/>
                <a:uFillTx/>
                <a:latin typeface="Georgia"/>
                <a:ea typeface="Georgia"/>
              </a:rPr>
              <a:t>Los procesos de cambio comportamental que ocurren</a:t>
            </a:r>
            <a:endParaRPr lang="es-A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40000"/>
              </a:lnSpc>
              <a:tabLst>
                <a:tab algn="l" pos="0"/>
              </a:tabLst>
            </a:pPr>
            <a:r>
              <a:rPr lang="en-US" sz="1550" b="0" i="1" u="none" strike="noStrike">
                <a:solidFill>
                  <a:srgbClr val="f5f0e8"/>
                </a:solidFill>
                <a:effectLst/>
                <a:uFillTx/>
                <a:latin typeface="Georgia"/>
                <a:ea typeface="Georgia"/>
              </a:rPr>
              <a:t>como resultado de la participación en situaciones educativas.</a:t>
            </a:r>
            <a:endParaRPr lang="es-AR" sz="1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6"/>
          <p:cNvSpPr/>
          <p:nvPr/>
        </p:nvSpPr>
        <p:spPr>
          <a:xfrm>
            <a:off x="457200" y="2377440"/>
            <a:ext cx="4114440" cy="2514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a96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7"/>
          <p:cNvSpPr/>
          <p:nvPr/>
        </p:nvSpPr>
        <p:spPr>
          <a:xfrm>
            <a:off x="457200" y="2377440"/>
            <a:ext cx="4114440" cy="5436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8"/>
          <p:cNvSpPr/>
          <p:nvPr/>
        </p:nvSpPr>
        <p:spPr>
          <a:xfrm>
            <a:off x="594360" y="2487240"/>
            <a:ext cx="3840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Procesos de cambio comportamental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9"/>
          <p:cNvSpPr/>
          <p:nvPr/>
        </p:nvSpPr>
        <p:spPr>
          <a:xfrm>
            <a:off x="594360" y="3090600"/>
            <a:ext cx="384012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No solo conductas observables. Incluye cambios en representaciones, conocimientos, actitudes, habilidades y modos de relación con el mundo.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0"/>
          <p:cNvSpPr/>
          <p:nvPr/>
        </p:nvSpPr>
        <p:spPr>
          <a:xfrm>
            <a:off x="4846320" y="2377440"/>
            <a:ext cx="4114440" cy="2514240"/>
          </a:xfrm>
          <a:prstGeom prst="rect">
            <a:avLst/>
          </a:prstGeom>
          <a:solidFill>
            <a:srgbClr val="ffffff"/>
          </a:solidFill>
          <a:ln w="12700">
            <a:solidFill>
              <a:srgbClr val="7b9e8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1"/>
          <p:cNvSpPr/>
          <p:nvPr/>
        </p:nvSpPr>
        <p:spPr>
          <a:xfrm>
            <a:off x="4846320" y="2377440"/>
            <a:ext cx="4114440" cy="54360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2"/>
          <p:cNvSpPr/>
          <p:nvPr/>
        </p:nvSpPr>
        <p:spPr>
          <a:xfrm>
            <a:off x="4983480" y="2487240"/>
            <a:ext cx="3840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Participación en situaciones educativas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3"/>
          <p:cNvSpPr/>
          <p:nvPr/>
        </p:nvSpPr>
        <p:spPr>
          <a:xfrm>
            <a:off x="4983480" y="3090600"/>
            <a:ext cx="384012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4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Experiencias diseñadas con intencionalidad formativa. No todo cambio es aprendizaje, y no todo aprendizaje ocurre en la escuela.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2"/>
          <p:cNvSpPr/>
          <p:nvPr/>
        </p:nvSpPr>
        <p:spPr>
          <a:xfrm>
            <a:off x="457200" y="730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pc="201" strike="noStrike">
                <a:solidFill>
                  <a:srgbClr val="7b9e87"/>
                </a:solidFill>
                <a:effectLst/>
                <a:uFillTx/>
                <a:latin typeface="Calibri"/>
                <a:ea typeface="Calibri"/>
              </a:rPr>
              <a:t>CLASE 2</a:t>
            </a:r>
            <a:endParaRPr lang="es-A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3"/>
          <p:cNvSpPr/>
          <p:nvPr/>
        </p:nvSpPr>
        <p:spPr>
          <a:xfrm>
            <a:off x="457200" y="3016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Tres modos de relación entre psicología y educación</a:t>
            </a:r>
            <a:endParaRPr lang="es-A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4"/>
          <p:cNvSpPr/>
          <p:nvPr/>
        </p:nvSpPr>
        <p:spPr>
          <a:xfrm>
            <a:off x="365760" y="1097280"/>
            <a:ext cx="2651400" cy="3840120"/>
          </a:xfrm>
          <a:prstGeom prst="rect">
            <a:avLst/>
          </a:prstGeom>
          <a:solidFill>
            <a:srgbClr val="fbf0ee"/>
          </a:solidFill>
          <a:ln w="12700">
            <a:solidFill>
              <a:srgbClr val="b85042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5"/>
          <p:cNvSpPr/>
          <p:nvPr/>
        </p:nvSpPr>
        <p:spPr>
          <a:xfrm>
            <a:off x="1371600" y="1188720"/>
            <a:ext cx="639720" cy="6397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6"/>
          <p:cNvSpPr/>
          <p:nvPr/>
        </p:nvSpPr>
        <p:spPr>
          <a:xfrm>
            <a:off x="1371600" y="11887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1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7"/>
          <p:cNvSpPr/>
          <p:nvPr/>
        </p:nvSpPr>
        <p:spPr>
          <a:xfrm>
            <a:off x="457200" y="196596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Aplicación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8"/>
          <p:cNvSpPr/>
          <p:nvPr/>
        </p:nvSpPr>
        <p:spPr>
          <a:xfrm>
            <a:off x="502920" y="2496240"/>
            <a:ext cx="23770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La psicología produce leyes generales. La educación las aplica. El docente es un técnico ejecutor.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9"/>
          <p:cNvSpPr/>
          <p:nvPr/>
        </p:nvSpPr>
        <p:spPr>
          <a:xfrm>
            <a:off x="548640" y="3620880"/>
            <a:ext cx="2286000" cy="360"/>
          </a:xfrm>
          <a:prstGeom prst="line">
            <a:avLst/>
          </a:prstGeom>
          <a:ln w="10160">
            <a:solidFill>
              <a:srgbClr val="b8504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0"/>
          <p:cNvSpPr/>
          <p:nvPr/>
        </p:nvSpPr>
        <p:spPr>
          <a:xfrm>
            <a:off x="502920" y="3703320"/>
            <a:ext cx="23770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950" b="0" i="1" u="none" strike="noStrike">
                <a:solidFill>
                  <a:srgbClr val="6b5744"/>
                </a:solidFill>
                <a:effectLst/>
                <a:uFillTx/>
                <a:latin typeface="Calibri"/>
                <a:ea typeface="Calibri"/>
              </a:rPr>
              <a:t>Borra diferencias de contexto. Desconoce el saber profesional docente.</a:t>
            </a:r>
            <a:endParaRPr lang="es-A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1"/>
          <p:cNvSpPr/>
          <p:nvPr/>
        </p:nvSpPr>
        <p:spPr>
          <a:xfrm>
            <a:off x="3200400" y="1097280"/>
            <a:ext cx="2651400" cy="3840120"/>
          </a:xfrm>
          <a:prstGeom prst="rect">
            <a:avLst/>
          </a:prstGeom>
          <a:solidFill>
            <a:srgbClr val="f5edd8"/>
          </a:solidFill>
          <a:ln w="12700">
            <a:solidFill>
              <a:srgbClr val="c8a96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2"/>
          <p:cNvSpPr/>
          <p:nvPr/>
        </p:nvSpPr>
        <p:spPr>
          <a:xfrm>
            <a:off x="4206240" y="1188720"/>
            <a:ext cx="639720" cy="639720"/>
          </a:xfrm>
          <a:prstGeom prst="ellipse">
            <a:avLst/>
          </a:prstGeom>
          <a:solidFill>
            <a:srgbClr val="c8a96e"/>
          </a:solidFill>
          <a:ln w="12700">
            <a:solidFill>
              <a:srgbClr val="c8a9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3"/>
          <p:cNvSpPr/>
          <p:nvPr/>
        </p:nvSpPr>
        <p:spPr>
          <a:xfrm>
            <a:off x="4206240" y="11887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2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4"/>
          <p:cNvSpPr/>
          <p:nvPr/>
        </p:nvSpPr>
        <p:spPr>
          <a:xfrm>
            <a:off x="3291840" y="196596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Transferencia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5"/>
          <p:cNvSpPr/>
          <p:nvPr/>
        </p:nvSpPr>
        <p:spPr>
          <a:xfrm>
            <a:off x="3337560" y="2496240"/>
            <a:ext cx="23770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Los principios psicológicos se adecuan al contexto educativo con cierta interpretación y margen.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6"/>
          <p:cNvSpPr/>
          <p:nvPr/>
        </p:nvSpPr>
        <p:spPr>
          <a:xfrm>
            <a:off x="3383280" y="3620880"/>
            <a:ext cx="2286000" cy="360"/>
          </a:xfrm>
          <a:prstGeom prst="line">
            <a:avLst/>
          </a:prstGeom>
          <a:ln w="10160">
            <a:solidFill>
              <a:srgbClr val="c8a9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7"/>
          <p:cNvSpPr/>
          <p:nvPr/>
        </p:nvSpPr>
        <p:spPr>
          <a:xfrm>
            <a:off x="3337560" y="3703320"/>
            <a:ext cx="23770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950" b="0" i="1" u="none" strike="noStrike">
                <a:solidFill>
                  <a:srgbClr val="6b5744"/>
                </a:solidFill>
                <a:effectLst/>
                <a:uFillTx/>
                <a:latin typeface="Calibri"/>
                <a:ea typeface="Calibri"/>
              </a:rPr>
              <a:t>El movimiento sigue siendo unidireccional: de la psicología hacia la educación.</a:t>
            </a:r>
            <a:endParaRPr lang="es-A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8"/>
          <p:cNvSpPr/>
          <p:nvPr/>
        </p:nvSpPr>
        <p:spPr>
          <a:xfrm>
            <a:off x="6035040" y="1097280"/>
            <a:ext cx="2651400" cy="3840120"/>
          </a:xfrm>
          <a:prstGeom prst="rect">
            <a:avLst/>
          </a:prstGeom>
          <a:solidFill>
            <a:srgbClr val="e4efe8"/>
          </a:solidFill>
          <a:ln w="12700">
            <a:solidFill>
              <a:srgbClr val="7b9e8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19"/>
          <p:cNvSpPr/>
          <p:nvPr/>
        </p:nvSpPr>
        <p:spPr>
          <a:xfrm>
            <a:off x="7040880" y="1188720"/>
            <a:ext cx="639720" cy="639720"/>
          </a:xfrm>
          <a:prstGeom prst="ellipse">
            <a:avLst/>
          </a:prstGeom>
          <a:solidFill>
            <a:srgbClr val="7b9e87"/>
          </a:solidFill>
          <a:ln w="12700">
            <a:solidFill>
              <a:srgbClr val="7b9e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0"/>
          <p:cNvSpPr/>
          <p:nvPr/>
        </p:nvSpPr>
        <p:spPr>
          <a:xfrm>
            <a:off x="7040880" y="11887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3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21"/>
          <p:cNvSpPr/>
          <p:nvPr/>
        </p:nvSpPr>
        <p:spPr>
          <a:xfrm>
            <a:off x="6126480" y="196596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2c2416"/>
                </a:solidFill>
                <a:effectLst/>
                <a:uFillTx/>
                <a:latin typeface="Georgia"/>
                <a:ea typeface="Georgia"/>
              </a:rPr>
              <a:t>Co-construcción</a:t>
            </a:r>
            <a:endParaRPr lang="es-A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22"/>
          <p:cNvSpPr/>
          <p:nvPr/>
        </p:nvSpPr>
        <p:spPr>
          <a:xfrm>
            <a:off x="6172200" y="2496240"/>
            <a:ext cx="23770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5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La práctica educativa plantea problemas que desafían a la teoría psicológica, y viceversa.</a:t>
            </a:r>
            <a:endParaRPr lang="es-A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3"/>
          <p:cNvSpPr/>
          <p:nvPr/>
        </p:nvSpPr>
        <p:spPr>
          <a:xfrm>
            <a:off x="6217920" y="3620880"/>
            <a:ext cx="2286000" cy="360"/>
          </a:xfrm>
          <a:prstGeom prst="line">
            <a:avLst/>
          </a:prstGeom>
          <a:ln w="10160">
            <a:solidFill>
              <a:srgbClr val="7b9e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24"/>
          <p:cNvSpPr/>
          <p:nvPr/>
        </p:nvSpPr>
        <p:spPr>
          <a:xfrm>
            <a:off x="6172200" y="3703320"/>
            <a:ext cx="23770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lang="en-US" sz="950" b="0" i="1" u="none" strike="noStrike">
                <a:solidFill>
                  <a:srgbClr val="6b5744"/>
                </a:solidFill>
                <a:effectLst/>
                <a:uFillTx/>
                <a:latin typeface="Calibri"/>
                <a:ea typeface="Calibri"/>
              </a:rPr>
              <a:t>El docente genera saber. El conocimiento fluye en ambas direcciones.</a:t>
            </a:r>
            <a:endParaRPr lang="es-A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Shape 0"/>
          <p:cNvSpPr/>
          <p:nvPr/>
        </p:nvSpPr>
        <p:spPr>
          <a:xfrm>
            <a:off x="0" y="0"/>
            <a:ext cx="9143640" cy="914040"/>
          </a:xfrm>
          <a:prstGeom prst="rect">
            <a:avLst/>
          </a:prstGeom>
          <a:solidFill>
            <a:srgbClr val="2c2416"/>
          </a:solidFill>
          <a:ln w="12700">
            <a:solidFill>
              <a:srgbClr val="2c24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"/>
          <p:cNvSpPr/>
          <p:nvPr/>
        </p:nvSpPr>
        <p:spPr>
          <a:xfrm>
            <a:off x="0" y="914400"/>
            <a:ext cx="9143640" cy="54360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720" bIns="972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"/>
          <p:cNvSpPr/>
          <p:nvPr/>
        </p:nvSpPr>
        <p:spPr>
          <a:xfrm>
            <a:off x="457200" y="7308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750" b="1" u="none" spc="201" strike="noStrike">
                <a:solidFill>
                  <a:srgbClr val="7b9e87"/>
                </a:solidFill>
                <a:effectLst/>
                <a:uFillTx/>
                <a:latin typeface="Calibri"/>
                <a:ea typeface="Calibri"/>
              </a:rPr>
              <a:t>CLASE 2</a:t>
            </a:r>
            <a:endParaRPr lang="es-AR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3"/>
          <p:cNvSpPr/>
          <p:nvPr/>
        </p:nvSpPr>
        <p:spPr>
          <a:xfrm>
            <a:off x="457200" y="301680"/>
            <a:ext cx="8229240" cy="52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9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Las teorías psicológicas y las decisiones docentes</a:t>
            </a:r>
            <a:endParaRPr lang="es-AR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"/>
          <p:cNvSpPr/>
          <p:nvPr/>
        </p:nvSpPr>
        <p:spPr>
          <a:xfrm>
            <a:off x="457200" y="1097280"/>
            <a:ext cx="82292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Toda práctica docente descansa sobre supuestos acerca de cómo aprenden los niños.</a:t>
            </a:r>
            <a:endParaRPr lang="es-A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5"/>
          <p:cNvSpPr/>
          <p:nvPr/>
        </p:nvSpPr>
        <p:spPr>
          <a:xfrm>
            <a:off x="365760" y="1627560"/>
            <a:ext cx="4023000" cy="3291480"/>
          </a:xfrm>
          <a:prstGeom prst="rect">
            <a:avLst/>
          </a:prstGeom>
          <a:solidFill>
            <a:srgbClr val="f5edd8"/>
          </a:solidFill>
          <a:ln w="12700">
            <a:solidFill>
              <a:srgbClr val="c8a96e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6"/>
          <p:cNvSpPr/>
          <p:nvPr/>
        </p:nvSpPr>
        <p:spPr>
          <a:xfrm>
            <a:off x="502920" y="171900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150" strike="noStrike">
                <a:solidFill>
                  <a:srgbClr val="c8a96e"/>
                </a:solidFill>
                <a:effectLst/>
                <a:uFillTx/>
                <a:latin typeface="Calibri"/>
                <a:ea typeface="Calibri"/>
              </a:rPr>
              <a:t>SUPUESTOS TÁCITOS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7"/>
          <p:cNvSpPr/>
          <p:nvPr/>
        </p:nvSpPr>
        <p:spPr>
          <a:xfrm>
            <a:off x="502920" y="208476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Operan sin estar formulados explícitamente.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8"/>
          <p:cNvSpPr/>
          <p:nvPr/>
        </p:nvSpPr>
        <p:spPr>
          <a:xfrm>
            <a:off x="502920" y="2487240"/>
            <a:ext cx="374868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Provienen de: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· La propia experiencia como alumno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· La cultura institucional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· Modelos de enseñanza internalizados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· El sentido común pedagógico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9"/>
          <p:cNvSpPr/>
          <p:nvPr/>
        </p:nvSpPr>
        <p:spPr>
          <a:xfrm>
            <a:off x="4754880" y="1627560"/>
            <a:ext cx="4023000" cy="3291480"/>
          </a:xfrm>
          <a:prstGeom prst="rect">
            <a:avLst/>
          </a:prstGeom>
          <a:solidFill>
            <a:srgbClr val="e4efe8"/>
          </a:solidFill>
          <a:ln w="12700">
            <a:solidFill>
              <a:srgbClr val="7b9e87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0"/>
          <p:cNvSpPr/>
          <p:nvPr/>
        </p:nvSpPr>
        <p:spPr>
          <a:xfrm>
            <a:off x="4892040" y="1719000"/>
            <a:ext cx="374868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150" strike="noStrike">
                <a:solidFill>
                  <a:srgbClr val="7b9e87"/>
                </a:solidFill>
                <a:effectLst/>
                <a:uFillTx/>
                <a:latin typeface="Calibri"/>
                <a:ea typeface="Calibri"/>
              </a:rPr>
              <a:t>PARA QUÉ SIRVE ESTUDIARLA</a:t>
            </a:r>
            <a:endParaRPr lang="es-A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1"/>
          <p:cNvSpPr/>
          <p:nvPr/>
        </p:nvSpPr>
        <p:spPr>
          <a:xfrm>
            <a:off x="4892040" y="2084760"/>
            <a:ext cx="3748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i="1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Desarrollar una mirada más potente sobre el aula.</a:t>
            </a:r>
            <a:endParaRPr lang="es-A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2"/>
          <p:cNvSpPr/>
          <p:nvPr/>
        </p:nvSpPr>
        <p:spPr>
          <a:xfrm>
            <a:off x="4892040" y="2487240"/>
            <a:ext cx="374868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Permite: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· Volver visibles los supuestos tácitos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· Examinarlos y cuestionarlos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· Tomar decisiones más fundamentadas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lang="en-US" sz="1150" b="0" u="none" strike="noStrike">
                <a:solidFill>
                  <a:srgbClr val="4a3728"/>
                </a:solidFill>
                <a:effectLst/>
                <a:uFillTx/>
                <a:latin typeface="Calibri"/>
                <a:ea typeface="Calibri"/>
              </a:rPr>
              <a:t>· Desarrollar una mirada más justa</a:t>
            </a:r>
            <a:endParaRPr lang="es-A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c24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0" y="0"/>
            <a:ext cx="9143640" cy="200880"/>
          </a:xfrm>
          <a:prstGeom prst="rect">
            <a:avLst/>
          </a:prstGeom>
          <a:solidFill>
            <a:srgbClr val="c8a96e"/>
          </a:solidFill>
          <a:ln w="12700">
            <a:solidFill>
              <a:srgbClr val="c8a96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"/>
          <p:cNvSpPr/>
          <p:nvPr/>
        </p:nvSpPr>
        <p:spPr>
          <a:xfrm>
            <a:off x="0" y="4937760"/>
            <a:ext cx="9143640" cy="205560"/>
          </a:xfrm>
          <a:prstGeom prst="rect">
            <a:avLst/>
          </a:prstGeom>
          <a:solidFill>
            <a:srgbClr val="7b9e87"/>
          </a:solidFill>
          <a:ln w="12700">
            <a:solidFill>
              <a:srgbClr val="7b9e8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"/>
          <p:cNvSpPr/>
          <p:nvPr/>
        </p:nvSpPr>
        <p:spPr>
          <a:xfrm>
            <a:off x="457200" y="38412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pc="400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SÍNTESIS Y CIERRE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"/>
          <p:cNvSpPr/>
          <p:nvPr/>
        </p:nvSpPr>
        <p:spPr>
          <a:xfrm>
            <a:off x="457200" y="804600"/>
            <a:ext cx="822924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Ideas para llevarse de estas dos clases</a:t>
            </a:r>
            <a:endParaRPr lang="es-AR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4"/>
          <p:cNvSpPr/>
          <p:nvPr/>
        </p:nvSpPr>
        <p:spPr>
          <a:xfrm>
            <a:off x="457200" y="144468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8a96e"/>
                </a:solidFill>
                <a:effectLst/>
                <a:uFillTx/>
                <a:latin typeface="Calibri"/>
                <a:ea typeface="Calibri"/>
              </a:rPr>
              <a:t>◆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5"/>
          <p:cNvSpPr/>
          <p:nvPr/>
        </p:nvSpPr>
        <p:spPr>
          <a:xfrm>
            <a:off x="822960" y="1444680"/>
            <a:ext cx="795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Calibri"/>
                <a:ea typeface="Calibri"/>
              </a:rPr>
              <a:t>La Psicología de la Educación tiene identidad propia: no es pura aplicación de la psicología.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6"/>
          <p:cNvSpPr/>
          <p:nvPr/>
        </p:nvSpPr>
        <p:spPr>
          <a:xfrm>
            <a:off x="457200" y="205740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8a96e"/>
                </a:solidFill>
                <a:effectLst/>
                <a:uFillTx/>
                <a:latin typeface="Calibri"/>
                <a:ea typeface="Calibri"/>
              </a:rPr>
              <a:t>◆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7"/>
          <p:cNvSpPr/>
          <p:nvPr/>
        </p:nvSpPr>
        <p:spPr>
          <a:xfrm>
            <a:off x="822960" y="2057400"/>
            <a:ext cx="795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Calibri"/>
                <a:ea typeface="Calibri"/>
              </a:rPr>
              <a:t>Su triple finalidad articula comprensión, diseño e intervención de modo inseparable.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8"/>
          <p:cNvSpPr/>
          <p:nvPr/>
        </p:nvSpPr>
        <p:spPr>
          <a:xfrm>
            <a:off x="457200" y="267012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c8a96e"/>
                </a:solidFill>
                <a:effectLst/>
                <a:uFillTx/>
                <a:latin typeface="Calibri"/>
                <a:ea typeface="Calibri"/>
              </a:rPr>
              <a:t>◆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9"/>
          <p:cNvSpPr/>
          <p:nvPr/>
        </p:nvSpPr>
        <p:spPr>
          <a:xfrm>
            <a:off x="822960" y="2670120"/>
            <a:ext cx="795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Calibri"/>
                <a:ea typeface="Calibri"/>
              </a:rPr>
              <a:t>La noción de disciplina puente supone un tránsito en ambas direcciones.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0"/>
          <p:cNvSpPr/>
          <p:nvPr/>
        </p:nvSpPr>
        <p:spPr>
          <a:xfrm>
            <a:off x="457200" y="328284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7b9e87"/>
                </a:solidFill>
                <a:effectLst/>
                <a:uFillTx/>
                <a:latin typeface="Calibri"/>
                <a:ea typeface="Calibri"/>
              </a:rPr>
              <a:t>◆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1"/>
          <p:cNvSpPr/>
          <p:nvPr/>
        </p:nvSpPr>
        <p:spPr>
          <a:xfrm>
            <a:off x="822960" y="3282840"/>
            <a:ext cx="795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Calibri"/>
                <a:ea typeface="Calibri"/>
              </a:rPr>
              <a:t>Toda práctica docente tiene supuestos psicológicos implícitos. La materia ayuda a hacerlos visibles.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2"/>
          <p:cNvSpPr/>
          <p:nvPr/>
        </p:nvSpPr>
        <p:spPr>
          <a:xfrm>
            <a:off x="457200" y="3895200"/>
            <a:ext cx="3196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7b9e87"/>
                </a:solidFill>
                <a:effectLst/>
                <a:uFillTx/>
                <a:latin typeface="Calibri"/>
                <a:ea typeface="Calibri"/>
              </a:rPr>
              <a:t>◆</a:t>
            </a:r>
            <a:endParaRPr lang="es-AR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3"/>
          <p:cNvSpPr/>
          <p:nvPr/>
        </p:nvSpPr>
        <p:spPr>
          <a:xfrm>
            <a:off x="822960" y="3895200"/>
            <a:ext cx="7954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f5f0e8"/>
                </a:solidFill>
                <a:effectLst/>
                <a:uFillTx/>
                <a:latin typeface="Calibri"/>
                <a:ea typeface="Calibri"/>
              </a:rPr>
              <a:t>El modelo de co-construcción reconoce al docente como productor de saber, no solo como ejecutor.</a:t>
            </a:r>
            <a:endParaRPr lang="es-A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4"/>
          <p:cNvSpPr/>
          <p:nvPr/>
        </p:nvSpPr>
        <p:spPr>
          <a:xfrm>
            <a:off x="457200" y="4617720"/>
            <a:ext cx="8229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0" i="1" u="none" strike="noStrike">
                <a:solidFill>
                  <a:srgbClr val="a89880"/>
                </a:solidFill>
                <a:effectLst/>
                <a:uFillTx/>
                <a:latin typeface="Calibri"/>
                <a:ea typeface="Calibri"/>
              </a:rPr>
              <a:t>Para la próxima clase: observar una situación de aprendizaje y describir qué ocurrió, quién aprendió y cómo se dieron cuenta.</a:t>
            </a:r>
            <a:endParaRPr lang="es-AR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LibreOffice/25.8.5.2$Linux_X86_64 LibreOffice_project/580$Build-2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2026-03-20T00:08:14Z</dcterms:created>
  <dc:creator>PptxGenJS</dc:creator>
  <dc:description/>
  <dc:language>es-AR</dc:language>
  <cp:lastModifiedBy/>
  <dcterms:modified xsi:type="dcterms:W3CDTF">2026-03-19T22:37:15Z</dcterms:modified>
  <cp:revision>2</cp:revision>
  <dc:subject>PptxGenJS Presentation</dc:subject>
  <dc:title>Psicología Educacional - Clases 1 y 2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</vt:i4>
  </property>
  <property fmtid="{D5CDD505-2E9C-101B-9397-08002B2CF9AE}" pid="3" name="PresentationFormat">
    <vt:lpwstr>On-screen Show (16:9)</vt:lpwstr>
  </property>
  <property fmtid="{D5CDD505-2E9C-101B-9397-08002B2CF9AE}" pid="4" name="Slides">
    <vt:i4>11</vt:i4>
  </property>
</Properties>
</file>