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0FB073-A67A-472D-B8FE-8F6F7F92A908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7A7C6-4F52-4AF7-B0F9-85CCAD0026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AA42C-54F0-406F-8E5D-B67D2DB4D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1AFF13-ED2D-4031-B703-6D7A5CCB98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CB0DED-578A-4E1B-88AE-36D70EEE11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4C925-F97E-4E58-B6C5-DAB2801799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34E46-C1C8-424E-AD85-B3DA4E8132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20471-CC11-4E59-8F49-0FB888C009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D5F91-16D7-410F-A7D0-B4C60C68CE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C5E7F2-E728-411B-B450-0B6797DC81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8A1D2E-4706-47EB-A45E-8984D2AAC9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A12D1-8168-47D5-B21D-C25ED95048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5159A-124E-4F8F-A77D-9F42C6326E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8C3A2E"/>
          </a:solidFill>
          <a:ln w="12700">
            <a:solidFill>
              <a:srgbClr val="8C3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457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PROFESORADO DE EDUCACIÓN INICIAL · 2° AÑO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57200" y="960120"/>
            <a:ext cx="1096920" cy="34704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96012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CLASE 7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4630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Bruner y Ausubel:</a:t>
            </a:r>
            <a:endParaRPr lang="es-A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0574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trike="noStrike">
                <a:solidFill>
                  <a:srgbClr val="E7E8D1"/>
                </a:solidFill>
                <a:effectLst/>
                <a:uFillTx/>
                <a:latin typeface="Georgia"/>
                <a:ea typeface="Georgia"/>
              </a:rPr>
              <a:t>aprender con sentido</a:t>
            </a:r>
            <a:endParaRPr lang="es-A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743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EDDCC"/>
                </a:solidFill>
                <a:effectLst/>
                <a:uFillTx/>
                <a:latin typeface="Calibri"/>
                <a:ea typeface="Calibri"/>
              </a:rPr>
              <a:t>Del aprendizaje por descubrimiento al aprendizaje significativo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480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DBBAA"/>
                </a:solidFill>
                <a:effectLst/>
                <a:uFillTx/>
                <a:latin typeface="Calibri"/>
                <a:ea typeface="Calibri"/>
              </a:rPr>
              <a:t>Bruner (1960, 1966)  ·  Ausubel (1963, 1968)  ·  Pozo (1989)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2320" y="182880"/>
            <a:ext cx="2559960" cy="2559960"/>
          </a:xfrm>
          <a:prstGeom prst="ellipse">
            <a:avLst/>
          </a:prstGeom>
          <a:solidFill>
            <a:srgbClr val="C8793A">
              <a:alpha val="25000"/>
            </a:srgbClr>
          </a:solidFill>
          <a:ln w="12700">
            <a:solidFill>
              <a:srgbClr val="C8793A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772400" y="2560320"/>
            <a:ext cx="1371240" cy="1371240"/>
          </a:xfrm>
          <a:prstGeom prst="ellipse">
            <a:avLst/>
          </a:prstGeom>
          <a:solidFill>
            <a:srgbClr val="E7E8D1">
              <a:alpha val="18000"/>
            </a:srgbClr>
          </a:solidFill>
          <a:ln w="12700">
            <a:solidFill>
              <a:srgbClr val="E7E8D1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PSICOLOGÍA EDUCACIONAL · CLASE 7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8686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¿Por qué Bruner y Ausubel?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1554480"/>
            <a:ext cx="3840120" cy="201132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02920" y="162756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Georgia"/>
                <a:ea typeface="Georgia"/>
              </a:rPr>
              <a:t>Piaget y Vygotski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Georgia"/>
                <a:ea typeface="Georgia"/>
              </a:rPr>
              <a:t>nos dicen cómo aprende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Georgia"/>
                <a:ea typeface="Georgia"/>
              </a:rPr>
              <a:t>el sujeto.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94360" y="2240280"/>
            <a:ext cx="3657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→ Mecanismos del desarrollo cognitivo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→ Papel del otro y el contexto social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→ Pero... ¿cómo enseña la docente?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389120" y="2514600"/>
            <a:ext cx="457200" cy="360"/>
          </a:xfrm>
          <a:prstGeom prst="line">
            <a:avLst/>
          </a:prstGeom>
          <a:ln w="317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572000" y="2377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846320" y="1554480"/>
            <a:ext cx="3840120" cy="2011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  <a:effectLst>
            <a:outerShdw algn="bl" blurRad="967740120" dir="0" dist="32258016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4919400" y="1627560"/>
            <a:ext cx="3702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Bruner y Ausubel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nos dicen cómo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enseñar.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4956120" y="2267640"/>
            <a:ext cx="3657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→ Cómo diseñar actividades de aprendizaje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→ Cómo partir de lo que el niño ya sabe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→ Qué tipo de intervención es más potente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5943600" y="-457200"/>
            <a:ext cx="4114440" cy="4114440"/>
          </a:xfrm>
          <a:prstGeom prst="ellipse">
            <a:avLst/>
          </a:prstGeom>
          <a:solidFill>
            <a:srgbClr val="C8793A">
              <a:alpha val="15000"/>
            </a:srgbClr>
          </a:solidFill>
          <a:ln w="12700">
            <a:solidFill>
              <a:srgbClr val="C8793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9144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PARTE 1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48640" y="1280160"/>
            <a:ext cx="5486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Jerome</a:t>
            </a:r>
            <a:endParaRPr lang="es-A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Bruner</a:t>
            </a:r>
            <a:endParaRPr lang="es-A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48640" y="288036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El aprendizaje por descubrimiento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48640" y="33832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77777"/>
                </a:solidFill>
                <a:effectLst/>
                <a:uFillTx/>
                <a:latin typeface="Calibri"/>
                <a:ea typeface="Calibri"/>
              </a:rPr>
              <a:t>1915 – 2016  ·  Psicólogo y pedagogo estadounidense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457200" y="3840480"/>
            <a:ext cx="8229240" cy="776880"/>
          </a:xfrm>
          <a:prstGeom prst="rect">
            <a:avLst/>
          </a:prstGeom>
          <a:solidFill>
            <a:srgbClr val="C8793A">
              <a:alpha val="12000"/>
            </a:srgbClr>
          </a:solidFill>
          <a:ln w="12700">
            <a:solidFill>
              <a:srgbClr val="C8793A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594360" y="3913560"/>
            <a:ext cx="7954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7E8D1"/>
                </a:solidFill>
                <a:effectLst/>
                <a:uFillTx/>
                <a:latin typeface="Georgia"/>
                <a:ea typeface="Georgia"/>
              </a:rPr>
              <a:t>"El acto del descubrimiento tiene en sí mismo una recompensa intrínseca."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BRUNER · EL APRENDIZAJE POR DESCUBRIMIENTO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86868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El sujeto construye el conocimiento, no lo recibe.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365760" y="1463040"/>
            <a:ext cx="2834280" cy="30171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1371600" y="1508760"/>
            <a:ext cx="822600" cy="822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371600" y="1508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475560" y="2450520"/>
            <a:ext cx="2633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Exploración activa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530280" y="2944440"/>
            <a:ext cx="2523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La docente no da la respuesta de entrada. Genera condiciones para que el niño la construya.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3337560" y="1463040"/>
            <a:ext cx="2834280" cy="30171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4343400" y="1508760"/>
            <a:ext cx="822600" cy="822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343400" y="1508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3447360" y="2450520"/>
            <a:ext cx="2633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El error como información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3502080" y="2944440"/>
            <a:ext cx="2523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No es un fracaso: es parte del proceso. Dice algo sobre cómo el niño está pensando.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3"/>
          <p:cNvSpPr/>
          <p:nvPr/>
        </p:nvSpPr>
        <p:spPr>
          <a:xfrm>
            <a:off x="6309360" y="1463040"/>
            <a:ext cx="2834280" cy="30171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7315200" y="1508760"/>
            <a:ext cx="822600" cy="822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7315200" y="1508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419160" y="2450520"/>
            <a:ext cx="2633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Ambiente rico y desafiante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6473880" y="2944440"/>
            <a:ext cx="2523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Materiales variados, posibilidades de exploración y preguntas abiertas son el andamio del descubrimiento.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BRUNER · MODOS DE REPRESENTACIÓN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457200" y="8686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¿Cómo representa el niño el conocimiento?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320040" y="1426320"/>
            <a:ext cx="2834280" cy="338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320040" y="1426320"/>
            <a:ext cx="2834280" cy="566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393120" y="1444680"/>
            <a:ext cx="268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ENACTIVO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393120" y="17006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 acción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84560" y="2084760"/>
            <a:ext cx="252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Conocimiento a través del cuerpo y el movimiento. Se aprende haciendo: amasando, trepando, armando, construyendo.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Predominante en los primeros años.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429840" y="3703320"/>
            <a:ext cx="2633040" cy="1005480"/>
          </a:xfrm>
          <a:prstGeom prst="rect">
            <a:avLst/>
          </a:prstGeom>
          <a:solidFill>
            <a:srgbClr val="B85042">
              <a:alpha val="12000"/>
            </a:srgbClr>
          </a:solidFill>
          <a:ln w="12700">
            <a:solidFill>
              <a:srgbClr val="B8504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502920" y="374904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Ejemplo NI: los niños mezclan pintura con las manos para descubrir los colores.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3291840" y="1426320"/>
            <a:ext cx="2834280" cy="338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3291840" y="1426320"/>
            <a:ext cx="2834280" cy="56664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3364920" y="1444680"/>
            <a:ext cx="268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ICÓNICO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3364920" y="17006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 imagen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3456360" y="2084760"/>
            <a:ext cx="252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Representación a través de imágenes y percepciones. El dibujo, el modelado y la observación son vías privilegiadas.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El niño puede pensar 'en imágenes' antes de simbolizar.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3401640" y="3703320"/>
            <a:ext cx="2633040" cy="1005480"/>
          </a:xfrm>
          <a:prstGeom prst="rect">
            <a:avLst/>
          </a:prstGeom>
          <a:solidFill>
            <a:srgbClr val="C8793A">
              <a:alpha val="12000"/>
            </a:srgbClr>
          </a:solidFill>
          <a:ln w="12700">
            <a:solidFill>
              <a:srgbClr val="C8793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3474720" y="374904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Ejemplo NI: representan el cuento con dibujos antes de poder escribirlo.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6263640" y="1426320"/>
            <a:ext cx="2834280" cy="338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AF9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6263640" y="1426320"/>
            <a:ext cx="2834280" cy="566640"/>
          </a:xfrm>
          <a:prstGeom prst="rect">
            <a:avLst/>
          </a:prstGeom>
          <a:solidFill>
            <a:srgbClr val="8BAF95"/>
          </a:solidFill>
          <a:ln w="12700">
            <a:solidFill>
              <a:srgbClr val="8BAF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6336720" y="1444680"/>
            <a:ext cx="268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SIMBÓLICO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6336720" y="17006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El lenguaje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6428160" y="2084760"/>
            <a:ext cx="252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Representación a través de símbolos abstractos: lenguaje, números, códigos. Emerge apoyándose en los modos anteriores.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No debe forzarse antes de consolidar los anteriores.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6373440" y="3703320"/>
            <a:ext cx="2633040" cy="1005480"/>
          </a:xfrm>
          <a:prstGeom prst="rect">
            <a:avLst/>
          </a:prstGeom>
          <a:solidFill>
            <a:srgbClr val="8BAF95">
              <a:alpha val="12000"/>
            </a:srgbClr>
          </a:solidFill>
          <a:ln w="12700">
            <a:solidFill>
              <a:srgbClr val="8BAF9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6446520" y="374904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Ejemplo NI: nombran los colores descubiertos y empiezan a escribir sus nombres.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457200" y="4846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En el nivel inicial, los modos enactivo e icónico son predominantes. Saltar al simbólico sin anclarlos pierde el andamio.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2743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BRUNER · EL CURRÍCULUM EN ESPIRAL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57200" y="64008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Los mismos contenidos, con mayor complejidad.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1371600" y="1234440"/>
            <a:ext cx="6400440" cy="2925720"/>
          </a:xfrm>
          <a:prstGeom prst="ellipse">
            <a:avLst/>
          </a:prstGeom>
          <a:solidFill>
            <a:srgbClr val="B85042">
              <a:alpha val="12000"/>
            </a:srgbClr>
          </a:solidFill>
          <a:ln w="12700">
            <a:solidFill>
              <a:srgbClr val="B85042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2011680" y="1554480"/>
            <a:ext cx="5120280" cy="2285640"/>
          </a:xfrm>
          <a:prstGeom prst="ellipse">
            <a:avLst/>
          </a:prstGeom>
          <a:solidFill>
            <a:srgbClr val="C8793A">
              <a:alpha val="18000"/>
            </a:srgbClr>
          </a:solidFill>
          <a:ln w="12700">
            <a:solidFill>
              <a:srgbClr val="C8793A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2834640" y="1828800"/>
            <a:ext cx="3474360" cy="1737000"/>
          </a:xfrm>
          <a:prstGeom prst="ellipse">
            <a:avLst/>
          </a:prstGeom>
          <a:solidFill>
            <a:srgbClr val="8BAF95">
              <a:alpha val="22000"/>
            </a:srgbClr>
          </a:solidFill>
          <a:ln w="12700">
            <a:solidFill>
              <a:srgbClr val="8BAF95">
                <a:alpha val="4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566160" y="2103120"/>
            <a:ext cx="2011320" cy="1234080"/>
          </a:xfrm>
          <a:prstGeom prst="ellipse">
            <a:avLst/>
          </a:prstGeom>
          <a:solidFill>
            <a:srgbClr val="2C2C2C">
              <a:alpha val="28000"/>
            </a:srgbClr>
          </a:solidFill>
          <a:ln w="12700">
            <a:solidFill>
              <a:srgbClr val="2C2C2C">
                <a:alpha val="4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228600" y="23317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Nivel Inicial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1325880" y="2486880"/>
            <a:ext cx="457200" cy="360"/>
          </a:xfrm>
          <a:prstGeom prst="line">
            <a:avLst/>
          </a:prstGeom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7818120" y="19202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Primaria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7132320" y="2075400"/>
            <a:ext cx="658080" cy="360"/>
          </a:xfrm>
          <a:prstGeom prst="line">
            <a:avLst/>
          </a:prstGeom>
          <a:ln w="1905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182880" y="1737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AF95"/>
                </a:solidFill>
                <a:effectLst/>
                <a:uFillTx/>
                <a:latin typeface="Calibri"/>
                <a:ea typeface="Calibri"/>
              </a:rPr>
              <a:t>Secundaria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365760" y="3931920"/>
            <a:ext cx="8412120" cy="895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502920" y="4005000"/>
            <a:ext cx="8229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Ningún contenido es demasiado difícil para los niños pequeños si se presenta de manera adecuada a su modo de representación.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87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-914400" y="2286000"/>
            <a:ext cx="4571640" cy="4571640"/>
          </a:xfrm>
          <a:prstGeom prst="ellipse">
            <a:avLst/>
          </a:prstGeom>
          <a:solidFill>
            <a:srgbClr val="B85042">
              <a:alpha val="20000"/>
            </a:srgbClr>
          </a:solidFill>
          <a:ln w="12700">
            <a:solidFill>
              <a:srgbClr val="B85042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6858000" y="-457200"/>
            <a:ext cx="2742840" cy="27428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548640" y="9144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PARTE 2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548640" y="1280160"/>
            <a:ext cx="6400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David</a:t>
            </a:r>
            <a:endParaRPr lang="es-A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Ausubel</a:t>
            </a:r>
            <a:endParaRPr lang="es-A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548640" y="288036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El aprendizaje significativo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548640" y="33832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EE0C0"/>
                </a:solidFill>
                <a:effectLst/>
                <a:uFillTx/>
                <a:latin typeface="Calibri"/>
                <a:ea typeface="Calibri"/>
              </a:rPr>
              <a:t>1918 – 2008  ·  Psicólogo educativo estadounidense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457200" y="3840480"/>
            <a:ext cx="8229240" cy="776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594360" y="3913560"/>
            <a:ext cx="7954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"Si tuviera que reducir toda la psicología educativa a un solo principio,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enunciaría este: el factor aislado más importante que influye en el aprendizaje es lo que el alumno ya sabe."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AUSUBEL · LA DISTINCIÓN CLAVE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457200" y="82296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No es si se descubre o se recibe.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Es si tiene sentido.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365760" y="1600200"/>
            <a:ext cx="3931560" cy="30171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365760" y="1600200"/>
            <a:ext cx="3931560" cy="5025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457200" y="162756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Aprendizaje mecánico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30280" y="2212920"/>
            <a:ext cx="365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✗  Se memoriza sin comprender.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530280" y="2670120"/>
            <a:ext cx="365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✗  El conocimiento queda aislado.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530280" y="3127320"/>
            <a:ext cx="365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✗  Se olvida fácilmente.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530280" y="3584520"/>
            <a:ext cx="365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✗  Repetición sin conexión.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530280" y="4041720"/>
            <a:ext cx="365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✗  Ej: repetir "5 es más que 3" sin entender por qué.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4846320" y="1600200"/>
            <a:ext cx="3931560" cy="3017160"/>
          </a:xfrm>
          <a:prstGeom prst="rect">
            <a:avLst/>
          </a:prstGeom>
          <a:solidFill>
            <a:srgbClr val="F5F4F0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4846320" y="1600200"/>
            <a:ext cx="3931560" cy="502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4937760" y="162756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Aprendizaje significativo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4956120" y="221292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Se comprende conectando con lo previo.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4956120" y="267012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El conocimiento se integra a la red.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4956120" y="312732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Es duradero y transferible.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4956120" y="358452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Relación no arbitraria con lo que sé.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4956120" y="404172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✓  Ej: la M de "mamá" para aprender la letra M.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AUSUBEL · CONDICIONES Y SUBSUMIDORES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822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¿Cuándo ocurre el aprendizaje significativo?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365760" y="1426320"/>
            <a:ext cx="4023000" cy="2011320"/>
          </a:xfrm>
          <a:prstGeom prst="rect">
            <a:avLst/>
          </a:prstGeom>
          <a:solidFill>
            <a:srgbClr val="F5F4F0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365760" y="1426320"/>
            <a:ext cx="4023000" cy="72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502920" y="153612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1. Material potencialmente significativo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02920" y="2066400"/>
            <a:ext cx="37486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La nueva información debe poder relacionarse de manera no arbitraria con la estructura cognitiva del sujeto.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No puede ser un cúmulo de datos inconexos.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4754880" y="1426320"/>
            <a:ext cx="4023000" cy="2011320"/>
          </a:xfrm>
          <a:prstGeom prst="rect">
            <a:avLst/>
          </a:prstGeom>
          <a:solidFill>
            <a:srgbClr val="F5F4F0"/>
          </a:solidFill>
          <a:ln w="1270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4754880" y="1426320"/>
            <a:ext cx="4023000" cy="72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4892040" y="153612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2. Disposición del sujeto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4892040" y="2066400"/>
            <a:ext cx="37486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El sujeto debe tener la intención de relacionar el nuevo conocimiento con lo que ya sabe.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El aprendizaje significativo no ocurre de manera automática: requiere actitud activa.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457200" y="3566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Subsumidores y organizadores previos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365760" y="3977640"/>
            <a:ext cx="4023000" cy="8956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457200" y="40050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Subsumidores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457200" y="426096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Ideas ya existentes en la mente del niño que sirven de ancla para el conocimiento nuevo.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4754880" y="3977640"/>
            <a:ext cx="4023000" cy="8956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4846320" y="40050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Organizadores previos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4846320" y="426096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Actividades que construyen o activan los subsumidores antes del contenido nuevo. En el jardín: "¿qué saben sobre...?"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6583680" y="3200400"/>
            <a:ext cx="3200040" cy="3200040"/>
          </a:xfrm>
          <a:prstGeom prst="ellipse">
            <a:avLst/>
          </a:prstGeom>
          <a:solidFill>
            <a:srgbClr val="C8793A">
              <a:alpha val="18000"/>
            </a:srgbClr>
          </a:solidFill>
          <a:ln w="12700">
            <a:solidFill>
              <a:srgbClr val="C8793A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548640" y="502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EN LA SALA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548640" y="8686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Ausubel en acción: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548640" y="129852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La unidad sobre medios de transporte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548640" y="1810440"/>
            <a:ext cx="438480" cy="43848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548640" y="18104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1115640" y="184716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docente pregunta: '¿En qué vinieron hoy? ¿Cuántos vinieron caminando? ¿Quién vino en colectivo?'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548640" y="2560320"/>
            <a:ext cx="438480" cy="43848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548640" y="256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1115640" y="259704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Anota todo en un afiche sin corregir ni evaluar. Eso es activar los subsumidores.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548640" y="3310200"/>
            <a:ext cx="438480" cy="43848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548640" y="33102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1115640" y="334656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Desarrolla la unidad conectando cada contenido nuevo con lo que los niños ya mencionaron.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548640" y="4060080"/>
            <a:ext cx="438480" cy="43848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548640" y="40600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1115640" y="409644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 final vuelven al afiche: '¿Qué aprendimos? ¿Qué cambió en lo que sabíamos?' Eso es aprendizaje significativo.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365760" y="4736520"/>
            <a:ext cx="8412120" cy="273960"/>
          </a:xfrm>
          <a:prstGeom prst="rect">
            <a:avLst/>
          </a:prstGeom>
          <a:solidFill>
            <a:srgbClr val="C8793A">
              <a:alpha val="20000"/>
            </a:srgbClr>
          </a:solidFill>
          <a:ln w="12700">
            <a:solidFill>
              <a:srgbClr val="C8793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457200" y="475488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El afiche inicial y el final: la evidencia visible del aprendizaje significativo.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45720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BRUNER Y AUSUBEL · CONVERGENCIAS Y DIFERENCIAS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457200" y="822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Son complementarios, no opuestos.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365760" y="1417320"/>
            <a:ext cx="2559960" cy="43848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457200" y="1454040"/>
            <a:ext cx="245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Dimensión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2999160" y="1417320"/>
            <a:ext cx="2742840" cy="438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3090600" y="1454040"/>
            <a:ext cx="263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BRUNER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5815440" y="1417320"/>
            <a:ext cx="274284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5906880" y="1454040"/>
            <a:ext cx="263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AUSUBEL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365760" y="1892880"/>
            <a:ext cx="255996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457200" y="1929240"/>
            <a:ext cx="2450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Concepción del aprendizaje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2999160" y="189288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3090600" y="192924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Construcción activa por descubrimiento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5815440" y="189288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5906880" y="192924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Recepción activa y significativa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365760" y="2487240"/>
            <a:ext cx="255996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457200" y="2523600"/>
            <a:ext cx="2450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Rol de la docente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"/>
          <p:cNvSpPr/>
          <p:nvPr/>
        </p:nvSpPr>
        <p:spPr>
          <a:xfrm>
            <a:off x="2999160" y="2487240"/>
            <a:ext cx="2742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3090600" y="252360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Facilitadora, no da la respuesta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9"/>
          <p:cNvSpPr/>
          <p:nvPr/>
        </p:nvSpPr>
        <p:spPr>
          <a:xfrm>
            <a:off x="5815440" y="2487240"/>
            <a:ext cx="2742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0"/>
          <p:cNvSpPr/>
          <p:nvPr/>
        </p:nvSpPr>
        <p:spPr>
          <a:xfrm>
            <a:off x="5906880" y="252360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Transmite, pero activando saberes previos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365760" y="3081600"/>
            <a:ext cx="255996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457200" y="3117960"/>
            <a:ext cx="2450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Rol del error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3"/>
          <p:cNvSpPr/>
          <p:nvPr/>
        </p:nvSpPr>
        <p:spPr>
          <a:xfrm>
            <a:off x="2999160" y="308160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4"/>
          <p:cNvSpPr/>
          <p:nvPr/>
        </p:nvSpPr>
        <p:spPr>
          <a:xfrm>
            <a:off x="3090600" y="311796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Información del proceso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5815440" y="308160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6"/>
          <p:cNvSpPr/>
          <p:nvPr/>
        </p:nvSpPr>
        <p:spPr>
          <a:xfrm>
            <a:off x="5906880" y="311796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Señal de falta de subsumidores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7"/>
          <p:cNvSpPr/>
          <p:nvPr/>
        </p:nvSpPr>
        <p:spPr>
          <a:xfrm>
            <a:off x="365760" y="3675960"/>
            <a:ext cx="255996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8"/>
          <p:cNvSpPr/>
          <p:nvPr/>
        </p:nvSpPr>
        <p:spPr>
          <a:xfrm>
            <a:off x="457200" y="3712320"/>
            <a:ext cx="2450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¿Qué activa antes de enseñar?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9"/>
          <p:cNvSpPr/>
          <p:nvPr/>
        </p:nvSpPr>
        <p:spPr>
          <a:xfrm>
            <a:off x="2999160" y="3675960"/>
            <a:ext cx="2742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3090600" y="371232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Exploración libre, preguntas abiertas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1"/>
          <p:cNvSpPr/>
          <p:nvPr/>
        </p:nvSpPr>
        <p:spPr>
          <a:xfrm>
            <a:off x="5815440" y="3675960"/>
            <a:ext cx="2742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2"/>
          <p:cNvSpPr/>
          <p:nvPr/>
        </p:nvSpPr>
        <p:spPr>
          <a:xfrm>
            <a:off x="5906880" y="371232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Organizadores previos (¿qué saben?)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3"/>
          <p:cNvSpPr/>
          <p:nvPr/>
        </p:nvSpPr>
        <p:spPr>
          <a:xfrm>
            <a:off x="365760" y="4270320"/>
            <a:ext cx="255996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4"/>
          <p:cNvSpPr/>
          <p:nvPr/>
        </p:nvSpPr>
        <p:spPr>
          <a:xfrm>
            <a:off x="457200" y="4306680"/>
            <a:ext cx="2450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Concepto clave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5"/>
          <p:cNvSpPr/>
          <p:nvPr/>
        </p:nvSpPr>
        <p:spPr>
          <a:xfrm>
            <a:off x="2999160" y="427032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6"/>
          <p:cNvSpPr/>
          <p:nvPr/>
        </p:nvSpPr>
        <p:spPr>
          <a:xfrm>
            <a:off x="3090600" y="430668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Aprendizaje por descubrimiento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7"/>
          <p:cNvSpPr/>
          <p:nvPr/>
        </p:nvSpPr>
        <p:spPr>
          <a:xfrm>
            <a:off x="5815440" y="4270320"/>
            <a:ext cx="2742840" cy="5666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8"/>
          <p:cNvSpPr/>
          <p:nvPr/>
        </p:nvSpPr>
        <p:spPr>
          <a:xfrm>
            <a:off x="5906880" y="430668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Aprendizaje significativo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9"/>
          <p:cNvSpPr/>
          <p:nvPr/>
        </p:nvSpPr>
        <p:spPr>
          <a:xfrm>
            <a:off x="274320" y="4741560"/>
            <a:ext cx="8412120" cy="402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0"/>
          <p:cNvSpPr/>
          <p:nvPr/>
        </p:nvSpPr>
        <p:spPr>
          <a:xfrm>
            <a:off x="457200" y="4846320"/>
            <a:ext cx="8229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Punto de contacto: el aprendizaje requiere actividad mental del sujeto y conexión con lo que ya sabe.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1"/>
          <p:cNvSpPr/>
          <p:nvPr/>
        </p:nvSpPr>
        <p:spPr>
          <a:xfrm>
            <a:off x="365760" y="468000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2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-731520" y="-731520"/>
            <a:ext cx="3657240" cy="3657240"/>
          </a:xfrm>
          <a:prstGeom prst="ellipse">
            <a:avLst/>
          </a:prstGeom>
          <a:solidFill>
            <a:srgbClr val="B85042">
              <a:alpha val="15000"/>
            </a:srgbClr>
          </a:solidFill>
          <a:ln w="12700">
            <a:solidFill>
              <a:srgbClr val="B85042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7315200" y="3200400"/>
            <a:ext cx="2742840" cy="2742840"/>
          </a:xfrm>
          <a:prstGeom prst="ellipse">
            <a:avLst/>
          </a:prstGeom>
          <a:solidFill>
            <a:srgbClr val="C8793A">
              <a:alpha val="15000"/>
            </a:srgbClr>
          </a:solidFill>
          <a:ln w="12700">
            <a:solidFill>
              <a:srgbClr val="C8793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548640" y="34740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SÍNTESIS · CLASE 7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548640" y="685800"/>
            <a:ext cx="7314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Ideas para llevarse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457200" y="1261800"/>
            <a:ext cx="5436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658440" y="12618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Bruner: el aprendizaje genuino es activo y exploratorio. La docente no da la respuesta: genera condiciones.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457200" y="1947600"/>
            <a:ext cx="5436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658440" y="19476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Los modos de representación (enactivo → icónico → simbólico) orientan cómo presentar los contenidos en el jardín.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457200" y="2633400"/>
            <a:ext cx="5436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658440" y="26334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currículum en espiral: ningún contenido es demasiado difícil si se presenta de la manera adecuada.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457200" y="3319200"/>
            <a:ext cx="5436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658440" y="33192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Ausubel: se puede aprender por recepción Y significativamente. La clave es conectar con los saberes previos.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457200" y="4005000"/>
            <a:ext cx="54360" cy="438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658440" y="40050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Subsumidores y organizadores previos: siempre empezar por '¿qué saben sobre...?' antes de enseñar algo nuevo.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4"/>
          <p:cNvSpPr/>
          <p:nvPr/>
        </p:nvSpPr>
        <p:spPr>
          <a:xfrm>
            <a:off x="365760" y="4626720"/>
            <a:ext cx="8412120" cy="411120"/>
          </a:xfrm>
          <a:prstGeom prst="rect">
            <a:avLst/>
          </a:prstGeom>
          <a:solidFill>
            <a:srgbClr val="C8793A">
              <a:alpha val="80000"/>
            </a:srgbClr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502920" y="46634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Tarea: analizá una actividad de sala desde Bruner Y desde Ausubel. Media carilla. Para la Clase 8.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2026-05-01T23:43:41Z</dcterms:created>
  <dc:creator>PptxGenJS</dc:creator>
  <dc:description/>
  <dc:language>es-AR</dc:language>
  <cp:lastModifiedBy/>
  <dcterms:modified xsi:type="dcterms:W3CDTF">2026-05-20T23:30:55Z</dcterms:modified>
  <cp:revision>2</cp:revision>
  <dc:subject>PptxGenJS Presentation</dc:subject>
  <dc:title>Psicología Educacional · Clase 7 · Bruner y Ausubel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